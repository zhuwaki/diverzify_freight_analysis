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4"/>
  </p:sldMasterIdLst>
  <p:notesMasterIdLst>
    <p:notesMasterId r:id="rId13"/>
  </p:notesMasterIdLst>
  <p:sldIdLst>
    <p:sldId id="6153" r:id="rId5"/>
    <p:sldId id="20793" r:id="rId6"/>
    <p:sldId id="20795" r:id="rId7"/>
    <p:sldId id="20794" r:id="rId8"/>
    <p:sldId id="20792" r:id="rId9"/>
    <p:sldId id="6135" r:id="rId10"/>
    <p:sldId id="6095" r:id="rId11"/>
    <p:sldId id="6155" r:id="rId12"/>
  </p:sldIdLst>
  <p:sldSz cx="1158875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6" userDrawn="1">
          <p15:clr>
            <a:srgbClr val="A4A3A4"/>
          </p15:clr>
        </p15:guide>
        <p15:guide id="2" pos="3627" userDrawn="1">
          <p15:clr>
            <a:srgbClr val="A4A3A4"/>
          </p15:clr>
        </p15:guide>
        <p15:guide id="5" orient="horz" pos="4201" userDrawn="1">
          <p15:clr>
            <a:srgbClr val="A4A3A4"/>
          </p15:clr>
        </p15:guide>
        <p15:guide id="7" pos="3674" userDrawn="1">
          <p15:clr>
            <a:srgbClr val="A4A3A4"/>
          </p15:clr>
        </p15:guide>
        <p15:guide id="9" orient="horz" pos="2184" userDrawn="1">
          <p15:clr>
            <a:srgbClr val="A4A3A4"/>
          </p15:clr>
        </p15:guide>
        <p15:guide id="10" orient="horz" pos="1056" userDrawn="1">
          <p15:clr>
            <a:srgbClr val="A4A3A4"/>
          </p15:clr>
        </p15:guide>
        <p15:guide id="11" orient="horz" pos="100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enry Gilfillan" initials="HG" lastIdx="1" clrIdx="0">
    <p:extLst>
      <p:ext uri="{19B8F6BF-5375-455C-9EA6-DF929625EA0E}">
        <p15:presenceInfo xmlns:p15="http://schemas.microsoft.com/office/powerpoint/2012/main" userId="Henry Gilfillan" providerId="None"/>
      </p:ext>
    </p:extLst>
  </p:cmAuthor>
  <p:cmAuthor id="2" name="Hasnayn" initials="H" lastIdx="3" clrIdx="1">
    <p:extLst>
      <p:ext uri="{19B8F6BF-5375-455C-9EA6-DF929625EA0E}">
        <p15:presenceInfo xmlns:p15="http://schemas.microsoft.com/office/powerpoint/2012/main" userId="Hasnay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D9A4"/>
    <a:srgbClr val="FEECD2"/>
    <a:srgbClr val="FCECD2"/>
    <a:srgbClr val="FCDAD5"/>
    <a:srgbClr val="FED9A4"/>
    <a:srgbClr val="18395A"/>
    <a:srgbClr val="103959"/>
    <a:srgbClr val="7F7F7F"/>
    <a:srgbClr val="E5F4D4"/>
    <a:srgbClr val="EF462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644" y="52"/>
      </p:cViewPr>
      <p:guideLst>
        <p:guide orient="horz" pos="2136"/>
        <p:guide pos="3627"/>
        <p:guide orient="horz" pos="4201"/>
        <p:guide pos="3674"/>
        <p:guide orient="horz" pos="2184"/>
        <p:guide orient="horz" pos="1056"/>
        <p:guide orient="horz" pos="100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47D6B1-D525-4628-ADA5-8E1FE74ADA4C}" type="datetimeFigureOut">
              <a:rPr lang="en-GB" smtClean="0"/>
              <a:t>26/10/2025</a:t>
            </a:fld>
            <a:endParaRPr lang="en-GB"/>
          </a:p>
        </p:txBody>
      </p:sp>
      <p:sp>
        <p:nvSpPr>
          <p:cNvPr id="4" name="Slide Image Placeholder 3"/>
          <p:cNvSpPr>
            <a:spLocks noGrp="1" noRot="1" noChangeAspect="1"/>
          </p:cNvSpPr>
          <p:nvPr>
            <p:ph type="sldImg" idx="2"/>
          </p:nvPr>
        </p:nvSpPr>
        <p:spPr>
          <a:xfrm>
            <a:off x="820738" y="1143000"/>
            <a:ext cx="52165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101EB5-DFDD-47C4-B7E0-8A018260211B}" type="slidenum">
              <a:rPr lang="en-GB" smtClean="0"/>
              <a:t>‹#›</a:t>
            </a:fld>
            <a:endParaRPr lang="en-GB"/>
          </a:p>
        </p:txBody>
      </p:sp>
    </p:spTree>
    <p:extLst>
      <p:ext uri="{BB962C8B-B14F-4D97-AF65-F5344CB8AC3E}">
        <p14:creationId xmlns:p14="http://schemas.microsoft.com/office/powerpoint/2010/main" val="1437944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74101EB5-DFDD-47C4-B7E0-8A018260211B}" type="slidenum">
              <a:rPr lang="en-GB" smtClean="0"/>
              <a:t>4</a:t>
            </a:fld>
            <a:endParaRPr lang="en-GB"/>
          </a:p>
        </p:txBody>
      </p:sp>
    </p:spTree>
    <p:extLst>
      <p:ext uri="{BB962C8B-B14F-4D97-AF65-F5344CB8AC3E}">
        <p14:creationId xmlns:p14="http://schemas.microsoft.com/office/powerpoint/2010/main" val="35598019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1">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E8EFAFC6-00F6-49BA-A5D0-4BE14EF35CD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51" y="0"/>
            <a:ext cx="11587799" cy="6858000"/>
          </a:xfrm>
          <a:prstGeom prst="rect">
            <a:avLst/>
          </a:prstGeom>
        </p:spPr>
      </p:pic>
      <p:sp>
        <p:nvSpPr>
          <p:cNvPr id="2" name="Title 1"/>
          <p:cNvSpPr>
            <a:spLocks noGrp="1"/>
          </p:cNvSpPr>
          <p:nvPr>
            <p:ph type="ctrTitle"/>
          </p:nvPr>
        </p:nvSpPr>
        <p:spPr>
          <a:xfrm>
            <a:off x="177800" y="4816800"/>
            <a:ext cx="7367801" cy="720000"/>
          </a:xfrm>
        </p:spPr>
        <p:txBody>
          <a:bodyPr anchor="ctr">
            <a:noAutofit/>
          </a:bodyPr>
          <a:lstStyle>
            <a:lvl1pPr algn="l">
              <a:defRPr sz="3200" cap="all" baseline="0">
                <a:solidFill>
                  <a:schemeClr val="bg1"/>
                </a:solidFill>
              </a:defRPr>
            </a:lvl1pPr>
          </a:lstStyle>
          <a:p>
            <a:r>
              <a:rPr lang="en-US"/>
              <a:t>Click to edit Master title style</a:t>
            </a:r>
          </a:p>
        </p:txBody>
      </p:sp>
      <p:sp>
        <p:nvSpPr>
          <p:cNvPr id="3" name="Subtitle 2"/>
          <p:cNvSpPr>
            <a:spLocks noGrp="1"/>
          </p:cNvSpPr>
          <p:nvPr>
            <p:ph type="subTitle" idx="1"/>
          </p:nvPr>
        </p:nvSpPr>
        <p:spPr>
          <a:xfrm>
            <a:off x="177800" y="5536800"/>
            <a:ext cx="7367801" cy="720000"/>
          </a:xfrm>
        </p:spPr>
        <p:txBody>
          <a:bodyPr anchor="ctr">
            <a:normAutofit/>
          </a:bodyPr>
          <a:lstStyle>
            <a:lvl1pPr marL="0" indent="0" algn="l">
              <a:buNone/>
              <a:defRPr sz="1800" cap="all" baseline="0">
                <a:solidFill>
                  <a:schemeClr val="bg1"/>
                </a:solidFill>
              </a:defRPr>
            </a:lvl1pPr>
            <a:lvl2pPr marL="434569" indent="0" algn="ctr">
              <a:buNone/>
              <a:defRPr sz="1901"/>
            </a:lvl2pPr>
            <a:lvl3pPr marL="869137" indent="0" algn="ctr">
              <a:buNone/>
              <a:defRPr sz="1711"/>
            </a:lvl3pPr>
            <a:lvl4pPr marL="1303706" indent="0" algn="ctr">
              <a:buNone/>
              <a:defRPr sz="1521"/>
            </a:lvl4pPr>
            <a:lvl5pPr marL="1738274" indent="0" algn="ctr">
              <a:buNone/>
              <a:defRPr sz="1521"/>
            </a:lvl5pPr>
            <a:lvl6pPr marL="2172843" indent="0" algn="ctr">
              <a:buNone/>
              <a:defRPr sz="1521"/>
            </a:lvl6pPr>
            <a:lvl7pPr marL="2607412" indent="0" algn="ctr">
              <a:buNone/>
              <a:defRPr sz="1521"/>
            </a:lvl7pPr>
            <a:lvl8pPr marL="3041980" indent="0" algn="ctr">
              <a:buNone/>
              <a:defRPr sz="1521"/>
            </a:lvl8pPr>
            <a:lvl9pPr marL="3476549" indent="0" algn="ctr">
              <a:buNone/>
              <a:defRPr sz="1521"/>
            </a:lvl9pPr>
          </a:lstStyle>
          <a:p>
            <a:r>
              <a:rPr lang="en-US"/>
              <a:t>Click to edit Master subtitle style</a:t>
            </a:r>
          </a:p>
        </p:txBody>
      </p:sp>
      <p:sp>
        <p:nvSpPr>
          <p:cNvPr id="13" name="Rectangle 12">
            <a:extLst>
              <a:ext uri="{FF2B5EF4-FFF2-40B4-BE49-F238E27FC236}">
                <a16:creationId xmlns:a16="http://schemas.microsoft.com/office/drawing/2014/main" id="{AE426D8F-6480-4557-9259-02017E82FDD1}"/>
              </a:ext>
            </a:extLst>
          </p:cNvPr>
          <p:cNvSpPr/>
          <p:nvPr userDrawn="1"/>
        </p:nvSpPr>
        <p:spPr>
          <a:xfrm>
            <a:off x="7772400" y="4935600"/>
            <a:ext cx="3220278" cy="1321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4" name="Picture 3">
            <a:extLst>
              <a:ext uri="{FF2B5EF4-FFF2-40B4-BE49-F238E27FC236}">
                <a16:creationId xmlns:a16="http://schemas.microsoft.com/office/drawing/2014/main" id="{38E6B4BF-0534-65C4-93BC-6821C869C2E0}"/>
              </a:ext>
            </a:extLst>
          </p:cNvPr>
          <p:cNvPicPr>
            <a:picLocks noChangeAspect="1"/>
          </p:cNvPicPr>
          <p:nvPr userDrawn="1"/>
        </p:nvPicPr>
        <p:blipFill>
          <a:blip r:embed="rId3"/>
          <a:stretch>
            <a:fillRect/>
          </a:stretch>
        </p:blipFill>
        <p:spPr>
          <a:xfrm>
            <a:off x="9213234" y="5170027"/>
            <a:ext cx="2197716" cy="945414"/>
          </a:xfrm>
          <a:prstGeom prst="rect">
            <a:avLst/>
          </a:prstGeom>
        </p:spPr>
      </p:pic>
    </p:spTree>
    <p:extLst>
      <p:ext uri="{BB962C8B-B14F-4D97-AF65-F5344CB8AC3E}">
        <p14:creationId xmlns:p14="http://schemas.microsoft.com/office/powerpoint/2010/main" val="385733564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65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162D61D-4029-465F-A617-B26A9FBB365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1587799" cy="6858000"/>
          </a:xfrm>
          <a:prstGeom prst="rect">
            <a:avLst/>
          </a:prstGeom>
        </p:spPr>
      </p:pic>
      <p:sp>
        <p:nvSpPr>
          <p:cNvPr id="2" name="Title 1"/>
          <p:cNvSpPr>
            <a:spLocks noGrp="1"/>
          </p:cNvSpPr>
          <p:nvPr>
            <p:ph type="ctrTitle"/>
          </p:nvPr>
        </p:nvSpPr>
        <p:spPr>
          <a:xfrm>
            <a:off x="7315200" y="1233487"/>
            <a:ext cx="4095750" cy="2276475"/>
          </a:xfrm>
        </p:spPr>
        <p:txBody>
          <a:bodyPr anchor="b">
            <a:noAutofit/>
          </a:bodyPr>
          <a:lstStyle>
            <a:lvl1pPr algn="ctr">
              <a:defRPr sz="4000" cap="all" baseline="0"/>
            </a:lvl1pPr>
          </a:lstStyle>
          <a:p>
            <a:r>
              <a:rPr lang="en-US"/>
              <a:t>Click to edit Master title style</a:t>
            </a:r>
          </a:p>
        </p:txBody>
      </p:sp>
      <p:sp>
        <p:nvSpPr>
          <p:cNvPr id="3" name="Subtitle 2"/>
          <p:cNvSpPr>
            <a:spLocks noGrp="1"/>
          </p:cNvSpPr>
          <p:nvPr>
            <p:ph type="subTitle" idx="1"/>
          </p:nvPr>
        </p:nvSpPr>
        <p:spPr>
          <a:xfrm>
            <a:off x="7315200" y="3602038"/>
            <a:ext cx="4095750" cy="1655762"/>
          </a:xfrm>
        </p:spPr>
        <p:txBody>
          <a:bodyPr/>
          <a:lstStyle>
            <a:lvl1pPr marL="0" indent="0" algn="ctr">
              <a:buNone/>
              <a:defRPr sz="2281" cap="all" baseline="0">
                <a:solidFill>
                  <a:schemeClr val="accent3">
                    <a:lumMod val="75000"/>
                  </a:schemeClr>
                </a:solidFill>
              </a:defRPr>
            </a:lvl1pPr>
            <a:lvl2pPr marL="434569" indent="0" algn="ctr">
              <a:buNone/>
              <a:defRPr sz="1901"/>
            </a:lvl2pPr>
            <a:lvl3pPr marL="869137" indent="0" algn="ctr">
              <a:buNone/>
              <a:defRPr sz="1711"/>
            </a:lvl3pPr>
            <a:lvl4pPr marL="1303706" indent="0" algn="ctr">
              <a:buNone/>
              <a:defRPr sz="1521"/>
            </a:lvl4pPr>
            <a:lvl5pPr marL="1738274" indent="0" algn="ctr">
              <a:buNone/>
              <a:defRPr sz="1521"/>
            </a:lvl5pPr>
            <a:lvl6pPr marL="2172843" indent="0" algn="ctr">
              <a:buNone/>
              <a:defRPr sz="1521"/>
            </a:lvl6pPr>
            <a:lvl7pPr marL="2607412" indent="0" algn="ctr">
              <a:buNone/>
              <a:defRPr sz="1521"/>
            </a:lvl7pPr>
            <a:lvl8pPr marL="3041980" indent="0" algn="ctr">
              <a:buNone/>
              <a:defRPr sz="1521"/>
            </a:lvl8pPr>
            <a:lvl9pPr marL="3476549" indent="0" algn="ctr">
              <a:buNone/>
              <a:defRPr sz="1521"/>
            </a:lvl9pPr>
          </a:lstStyle>
          <a:p>
            <a:r>
              <a:rPr lang="en-US"/>
              <a:t>Click to edit Master subtitle style</a:t>
            </a:r>
          </a:p>
        </p:txBody>
      </p:sp>
      <p:sp>
        <p:nvSpPr>
          <p:cNvPr id="7" name="Rectangle 6">
            <a:extLst>
              <a:ext uri="{FF2B5EF4-FFF2-40B4-BE49-F238E27FC236}">
                <a16:creationId xmlns:a16="http://schemas.microsoft.com/office/drawing/2014/main" id="{7FC4362B-915C-4E89-9FDD-BF4440292F09}"/>
              </a:ext>
            </a:extLst>
          </p:cNvPr>
          <p:cNvSpPr/>
          <p:nvPr userDrawn="1"/>
        </p:nvSpPr>
        <p:spPr>
          <a:xfrm>
            <a:off x="9079200" y="0"/>
            <a:ext cx="2509074" cy="10890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a:extLst>
              <a:ext uri="{FF2B5EF4-FFF2-40B4-BE49-F238E27FC236}">
                <a16:creationId xmlns:a16="http://schemas.microsoft.com/office/drawing/2014/main" id="{F3A27D03-AE6B-43B5-8B92-9D2BF9DC6B3E}"/>
              </a:ext>
            </a:extLst>
          </p:cNvPr>
          <p:cNvSpPr/>
          <p:nvPr userDrawn="1"/>
        </p:nvSpPr>
        <p:spPr>
          <a:xfrm>
            <a:off x="7752936" y="5397300"/>
            <a:ext cx="3220278" cy="1321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b="1"/>
          </a:p>
        </p:txBody>
      </p:sp>
    </p:spTree>
    <p:extLst>
      <p:ext uri="{BB962C8B-B14F-4D97-AF65-F5344CB8AC3E}">
        <p14:creationId xmlns:p14="http://schemas.microsoft.com/office/powerpoint/2010/main" val="26158249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200"/>
            </a:lvl1pPr>
          </a:lstStyle>
          <a:p>
            <a:fld id="{5E48029D-87D6-48C3-BA4B-1065A63511DF}" type="slidenum">
              <a:rPr lang="en-GB" smtClean="0"/>
              <a:pPr/>
              <a:t>‹#›</a:t>
            </a:fld>
            <a:endParaRPr lang="en-GB"/>
          </a:p>
        </p:txBody>
      </p:sp>
      <p:sp>
        <p:nvSpPr>
          <p:cNvPr id="5" name="Rectangle 4">
            <a:extLst>
              <a:ext uri="{FF2B5EF4-FFF2-40B4-BE49-F238E27FC236}">
                <a16:creationId xmlns:a16="http://schemas.microsoft.com/office/drawing/2014/main" id="{E257AD74-B80A-46C1-B508-BBF3FDEF0BB0}"/>
              </a:ext>
            </a:extLst>
          </p:cNvPr>
          <p:cNvSpPr/>
          <p:nvPr userDrawn="1"/>
        </p:nvSpPr>
        <p:spPr>
          <a:xfrm>
            <a:off x="0" y="0"/>
            <a:ext cx="3420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p>
          <a:p>
            <a:pPr algn="ctr"/>
            <a:endParaRPr lang="en-GB" sz="2800" b="1"/>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890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ext Placeholder 2">
            <a:extLst>
              <a:ext uri="{FF2B5EF4-FFF2-40B4-BE49-F238E27FC236}">
                <a16:creationId xmlns:a16="http://schemas.microsoft.com/office/drawing/2014/main" id="{10E3C38D-2678-4687-849A-17FF691CDE8F}"/>
              </a:ext>
            </a:extLst>
          </p:cNvPr>
          <p:cNvSpPr>
            <a:spLocks noGrp="1"/>
          </p:cNvSpPr>
          <p:nvPr>
            <p:ph idx="1"/>
          </p:nvPr>
        </p:nvSpPr>
        <p:spPr>
          <a:xfrm>
            <a:off x="3988800" y="762761"/>
            <a:ext cx="7422150" cy="5332478"/>
          </a:xfrm>
          <a:prstGeom prst="rect">
            <a:avLst/>
          </a:prstGeom>
        </p:spPr>
        <p:txBody>
          <a:bodyPr vert="horz" lIns="91440" tIns="45720" rIns="91440" bIns="45720" rtlCol="0" anchor="ctr">
            <a:normAutofit/>
          </a:bodyPr>
          <a:lstStyle>
            <a:lvl1pPr marL="0" indent="0">
              <a:lnSpc>
                <a:spcPct val="200000"/>
              </a:lnSpc>
              <a:buNone/>
              <a:defRPr b="1"/>
            </a:lvl1pPr>
          </a:lstStyle>
          <a:p>
            <a:pPr lvl="0"/>
            <a:endParaRPr lang="en-US"/>
          </a:p>
        </p:txBody>
      </p:sp>
    </p:spTree>
    <p:extLst>
      <p:ext uri="{BB962C8B-B14F-4D97-AF65-F5344CB8AC3E}">
        <p14:creationId xmlns:p14="http://schemas.microsoft.com/office/powerpoint/2010/main" val="13988801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Header &amp; Content">
    <p:spTree>
      <p:nvGrpSpPr>
        <p:cNvPr id="1" name=""/>
        <p:cNvGrpSpPr/>
        <p:nvPr/>
      </p:nvGrpSpPr>
      <p:grpSpPr>
        <a:xfrm>
          <a:off x="0" y="0"/>
          <a:ext cx="0" cy="0"/>
          <a:chOff x="0" y="0"/>
          <a:chExt cx="0" cy="0"/>
        </a:xfrm>
      </p:grpSpPr>
      <p:sp>
        <p:nvSpPr>
          <p:cNvPr id="2" name="Title 1"/>
          <p:cNvSpPr>
            <a:spLocks noGrp="1"/>
          </p:cNvSpPr>
          <p:nvPr>
            <p:ph type="title"/>
          </p:nvPr>
        </p:nvSpPr>
        <p:spPr>
          <a:xfrm>
            <a:off x="177801" y="44451"/>
            <a:ext cx="9059799" cy="1013950"/>
          </a:xfrm>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lvl1pPr>
              <a:defRPr sz="1200"/>
            </a:lvl1pPr>
          </a:lstStyle>
          <a:p>
            <a:fld id="{A65E4EDC-57F8-4D5C-B13E-A981C5F2F71A}" type="slidenum">
              <a:rPr lang="en-GB" smtClean="0"/>
              <a:pPr/>
              <a:t>‹#›</a:t>
            </a:fld>
            <a:endParaRPr lang="en-GB"/>
          </a:p>
        </p:txBody>
      </p:sp>
    </p:spTree>
    <p:extLst>
      <p:ext uri="{BB962C8B-B14F-4D97-AF65-F5344CB8AC3E}">
        <p14:creationId xmlns:p14="http://schemas.microsoft.com/office/powerpoint/2010/main" val="125679126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65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Content &amp; Kicker">
    <p:spTree>
      <p:nvGrpSpPr>
        <p:cNvPr id="1" name=""/>
        <p:cNvGrpSpPr/>
        <p:nvPr/>
      </p:nvGrpSpPr>
      <p:grpSpPr>
        <a:xfrm>
          <a:off x="0" y="0"/>
          <a:ext cx="0" cy="0"/>
          <a:chOff x="0" y="0"/>
          <a:chExt cx="0" cy="0"/>
        </a:xfrm>
      </p:grpSpPr>
      <p:sp>
        <p:nvSpPr>
          <p:cNvPr id="2" name="Title 1"/>
          <p:cNvSpPr>
            <a:spLocks noGrp="1"/>
          </p:cNvSpPr>
          <p:nvPr>
            <p:ph type="title"/>
          </p:nvPr>
        </p:nvSpPr>
        <p:spPr>
          <a:xfrm>
            <a:off x="177801" y="44451"/>
            <a:ext cx="9059799" cy="1013950"/>
          </a:xfrm>
        </p:spPr>
        <p:txBody>
          <a:bodyPr/>
          <a:lstStyle>
            <a:lvl1pPr>
              <a:defRPr/>
            </a:lvl1pPr>
          </a:lstStyle>
          <a:p>
            <a:r>
              <a:rPr lang="en-US"/>
              <a:t>Click to edit Master title style</a:t>
            </a:r>
          </a:p>
        </p:txBody>
      </p:sp>
      <p:sp>
        <p:nvSpPr>
          <p:cNvPr id="3" name="Content Placeholder 2"/>
          <p:cNvSpPr>
            <a:spLocks noGrp="1"/>
          </p:cNvSpPr>
          <p:nvPr>
            <p:ph idx="1"/>
          </p:nvPr>
        </p:nvSpPr>
        <p:spPr>
          <a:xfrm>
            <a:off x="177801" y="1233488"/>
            <a:ext cx="11233149" cy="441851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lvl1pPr>
              <a:defRPr sz="1200"/>
            </a:lvl1pPr>
          </a:lstStyle>
          <a:p>
            <a:fld id="{A65E4EDC-57F8-4D5C-B13E-A981C5F2F71A}" type="slidenum">
              <a:rPr lang="en-GB" smtClean="0"/>
              <a:pPr/>
              <a:t>‹#›</a:t>
            </a:fld>
            <a:endParaRPr lang="en-GB"/>
          </a:p>
        </p:txBody>
      </p:sp>
      <p:sp>
        <p:nvSpPr>
          <p:cNvPr id="5" name="Text Placeholder 4">
            <a:extLst>
              <a:ext uri="{FF2B5EF4-FFF2-40B4-BE49-F238E27FC236}">
                <a16:creationId xmlns:a16="http://schemas.microsoft.com/office/drawing/2014/main" id="{BD3D819F-558F-4D51-9F0E-210A74975D67}"/>
              </a:ext>
            </a:extLst>
          </p:cNvPr>
          <p:cNvSpPr>
            <a:spLocks noGrp="1"/>
          </p:cNvSpPr>
          <p:nvPr>
            <p:ph type="body" sz="quarter" idx="13"/>
          </p:nvPr>
        </p:nvSpPr>
        <p:spPr>
          <a:xfrm>
            <a:off x="0" y="5824800"/>
            <a:ext cx="11588750" cy="664900"/>
          </a:xfrm>
          <a:prstGeom prst="rect">
            <a:avLst/>
          </a:prstGeom>
          <a:solidFill>
            <a:schemeClr val="accent5"/>
          </a:solidFill>
          <a:ln>
            <a:noFill/>
          </a:ln>
        </p:spPr>
        <p:txBody>
          <a:bodyPr anchor="ctr">
            <a:normAutofit/>
          </a:bodyPr>
          <a:lstStyle>
            <a:lvl1pPr marL="0" indent="0" algn="ctr">
              <a:buNone/>
              <a:defRPr sz="1600" b="1">
                <a:solidFill>
                  <a:schemeClr val="bg1"/>
                </a:solidFill>
              </a:defRPr>
            </a:lvl1pPr>
          </a:lstStyle>
          <a:p>
            <a:pPr lvl="0"/>
            <a:endParaRPr lang="en-GB"/>
          </a:p>
        </p:txBody>
      </p:sp>
    </p:spTree>
    <p:extLst>
      <p:ext uri="{BB962C8B-B14F-4D97-AF65-F5344CB8AC3E}">
        <p14:creationId xmlns:p14="http://schemas.microsoft.com/office/powerpoint/2010/main" val="628742357"/>
      </p:ext>
    </p:extLst>
  </p:cSld>
  <p:clrMapOvr>
    <a:masterClrMapping/>
  </p:clrMapOvr>
  <p:extLst>
    <p:ext uri="{DCECCB84-F9BA-43D5-87BE-67443E8EF086}">
      <p15:sldGuideLst xmlns:p15="http://schemas.microsoft.com/office/powerpoint/2012/main">
        <p15:guide id="1" orient="horz" pos="2160">
          <p15:clr>
            <a:srgbClr val="FBAE40"/>
          </p15:clr>
        </p15:guide>
        <p15:guide id="2" pos="365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Content &amp; Note">
    <p:spTree>
      <p:nvGrpSpPr>
        <p:cNvPr id="1" name=""/>
        <p:cNvGrpSpPr/>
        <p:nvPr/>
      </p:nvGrpSpPr>
      <p:grpSpPr>
        <a:xfrm>
          <a:off x="0" y="0"/>
          <a:ext cx="0" cy="0"/>
          <a:chOff x="0" y="0"/>
          <a:chExt cx="0" cy="0"/>
        </a:xfrm>
      </p:grpSpPr>
      <p:sp>
        <p:nvSpPr>
          <p:cNvPr id="2" name="Title 1"/>
          <p:cNvSpPr>
            <a:spLocks noGrp="1"/>
          </p:cNvSpPr>
          <p:nvPr>
            <p:ph type="title"/>
          </p:nvPr>
        </p:nvSpPr>
        <p:spPr>
          <a:xfrm>
            <a:off x="177801" y="44451"/>
            <a:ext cx="9059799" cy="1013950"/>
          </a:xfrm>
        </p:spPr>
        <p:txBody>
          <a:bodyPr/>
          <a:lstStyle/>
          <a:p>
            <a:r>
              <a:rPr lang="en-US"/>
              <a:t>Click to edit Master title style</a:t>
            </a:r>
          </a:p>
        </p:txBody>
      </p:sp>
      <p:sp>
        <p:nvSpPr>
          <p:cNvPr id="3" name="Content Placeholder 2"/>
          <p:cNvSpPr>
            <a:spLocks noGrp="1"/>
          </p:cNvSpPr>
          <p:nvPr>
            <p:ph idx="1"/>
          </p:nvPr>
        </p:nvSpPr>
        <p:spPr>
          <a:xfrm>
            <a:off x="177801" y="1233488"/>
            <a:ext cx="11233149" cy="525621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lvl1pPr>
              <a:defRPr sz="1200"/>
            </a:lvl1pPr>
          </a:lstStyle>
          <a:p>
            <a:fld id="{A65E4EDC-57F8-4D5C-B13E-A981C5F2F71A}" type="slidenum">
              <a:rPr lang="en-GB" smtClean="0"/>
              <a:pPr/>
              <a:t>‹#›</a:t>
            </a:fld>
            <a:endParaRPr lang="en-GB"/>
          </a:p>
        </p:txBody>
      </p:sp>
      <p:sp>
        <p:nvSpPr>
          <p:cNvPr id="8" name="Text Placeholder 7">
            <a:extLst>
              <a:ext uri="{FF2B5EF4-FFF2-40B4-BE49-F238E27FC236}">
                <a16:creationId xmlns:a16="http://schemas.microsoft.com/office/drawing/2014/main" id="{D25184CD-A2F1-4EC8-A326-3D39AFC0BC76}"/>
              </a:ext>
            </a:extLst>
          </p:cNvPr>
          <p:cNvSpPr>
            <a:spLocks noGrp="1"/>
          </p:cNvSpPr>
          <p:nvPr>
            <p:ph type="body" sz="quarter" idx="13"/>
          </p:nvPr>
        </p:nvSpPr>
        <p:spPr>
          <a:xfrm>
            <a:off x="177800" y="6489700"/>
            <a:ext cx="10427800" cy="278630"/>
          </a:xfrm>
        </p:spPr>
        <p:txBody>
          <a:bodyPr>
            <a:normAutofit/>
          </a:bodyPr>
          <a:lstStyle>
            <a:lvl1pPr marL="0" indent="0">
              <a:buNone/>
              <a:defRPr sz="1200">
                <a:solidFill>
                  <a:schemeClr val="bg1">
                    <a:lumMod val="50000"/>
                  </a:schemeClr>
                </a:solidFill>
              </a:defRPr>
            </a:lvl1pPr>
          </a:lstStyle>
          <a:p>
            <a:pPr lvl="0"/>
            <a:endParaRPr lang="en-GB"/>
          </a:p>
        </p:txBody>
      </p:sp>
    </p:spTree>
    <p:extLst>
      <p:ext uri="{BB962C8B-B14F-4D97-AF65-F5344CB8AC3E}">
        <p14:creationId xmlns:p14="http://schemas.microsoft.com/office/powerpoint/2010/main" val="485322034"/>
      </p:ext>
    </p:extLst>
  </p:cSld>
  <p:clrMapOvr>
    <a:masterClrMapping/>
  </p:clrMapOvr>
  <p:extLst>
    <p:ext uri="{DCECCB84-F9BA-43D5-87BE-67443E8EF086}">
      <p15:sldGuideLst xmlns:p15="http://schemas.microsoft.com/office/powerpoint/2012/main">
        <p15:guide id="1" orient="horz" pos="2160">
          <p15:clr>
            <a:srgbClr val="FBAE40"/>
          </p15:clr>
        </p15:guide>
        <p15:guide id="2" pos="365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Header, Content, Kicker &amp; Note">
    <p:spTree>
      <p:nvGrpSpPr>
        <p:cNvPr id="1" name=""/>
        <p:cNvGrpSpPr/>
        <p:nvPr/>
      </p:nvGrpSpPr>
      <p:grpSpPr>
        <a:xfrm>
          <a:off x="0" y="0"/>
          <a:ext cx="0" cy="0"/>
          <a:chOff x="0" y="0"/>
          <a:chExt cx="0" cy="0"/>
        </a:xfrm>
      </p:grpSpPr>
      <p:sp>
        <p:nvSpPr>
          <p:cNvPr id="2" name="Title 1"/>
          <p:cNvSpPr>
            <a:spLocks noGrp="1"/>
          </p:cNvSpPr>
          <p:nvPr>
            <p:ph type="title"/>
          </p:nvPr>
        </p:nvSpPr>
        <p:spPr>
          <a:xfrm>
            <a:off x="177801" y="44451"/>
            <a:ext cx="9059799" cy="1013950"/>
          </a:xfrm>
        </p:spPr>
        <p:txBody>
          <a:bodyPr/>
          <a:lstStyle>
            <a:lvl1pPr>
              <a:defRPr/>
            </a:lvl1pPr>
          </a:lstStyle>
          <a:p>
            <a:r>
              <a:rPr lang="en-US"/>
              <a:t>Click to edit Master title style</a:t>
            </a:r>
          </a:p>
        </p:txBody>
      </p:sp>
      <p:sp>
        <p:nvSpPr>
          <p:cNvPr id="3" name="Content Placeholder 2"/>
          <p:cNvSpPr>
            <a:spLocks noGrp="1"/>
          </p:cNvSpPr>
          <p:nvPr>
            <p:ph idx="1"/>
          </p:nvPr>
        </p:nvSpPr>
        <p:spPr>
          <a:xfrm>
            <a:off x="177801" y="1233488"/>
            <a:ext cx="11233149" cy="441851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a:xfrm>
            <a:off x="10605600" y="6489700"/>
            <a:ext cx="805350" cy="287338"/>
          </a:xfrm>
        </p:spPr>
        <p:txBody>
          <a:bodyPr/>
          <a:lstStyle>
            <a:lvl1pPr>
              <a:defRPr sz="1200"/>
            </a:lvl1pPr>
          </a:lstStyle>
          <a:p>
            <a:fld id="{A65E4EDC-57F8-4D5C-B13E-A981C5F2F71A}" type="slidenum">
              <a:rPr lang="en-GB" smtClean="0"/>
              <a:pPr/>
              <a:t>‹#›</a:t>
            </a:fld>
            <a:endParaRPr lang="en-GB"/>
          </a:p>
        </p:txBody>
      </p:sp>
      <p:sp>
        <p:nvSpPr>
          <p:cNvPr id="5" name="Text Placeholder 4">
            <a:extLst>
              <a:ext uri="{FF2B5EF4-FFF2-40B4-BE49-F238E27FC236}">
                <a16:creationId xmlns:a16="http://schemas.microsoft.com/office/drawing/2014/main" id="{BD3D819F-558F-4D51-9F0E-210A74975D67}"/>
              </a:ext>
            </a:extLst>
          </p:cNvPr>
          <p:cNvSpPr>
            <a:spLocks noGrp="1"/>
          </p:cNvSpPr>
          <p:nvPr>
            <p:ph type="body" sz="quarter" idx="13"/>
          </p:nvPr>
        </p:nvSpPr>
        <p:spPr>
          <a:xfrm>
            <a:off x="0" y="5824800"/>
            <a:ext cx="11588750" cy="664900"/>
          </a:xfrm>
          <a:prstGeom prst="rect">
            <a:avLst/>
          </a:prstGeom>
          <a:solidFill>
            <a:schemeClr val="accent5"/>
          </a:solidFill>
          <a:ln>
            <a:noFill/>
          </a:ln>
        </p:spPr>
        <p:txBody>
          <a:bodyPr anchor="ctr">
            <a:normAutofit/>
          </a:bodyPr>
          <a:lstStyle>
            <a:lvl1pPr marL="0" indent="0" algn="ctr">
              <a:buNone/>
              <a:defRPr sz="1600" b="1">
                <a:solidFill>
                  <a:schemeClr val="bg1"/>
                </a:solidFill>
              </a:defRPr>
            </a:lvl1pPr>
          </a:lstStyle>
          <a:p>
            <a:pPr lvl="0"/>
            <a:endParaRPr lang="en-GB"/>
          </a:p>
        </p:txBody>
      </p:sp>
      <p:sp>
        <p:nvSpPr>
          <p:cNvPr id="7" name="Text Placeholder 7">
            <a:extLst>
              <a:ext uri="{FF2B5EF4-FFF2-40B4-BE49-F238E27FC236}">
                <a16:creationId xmlns:a16="http://schemas.microsoft.com/office/drawing/2014/main" id="{29497904-88CE-46F9-A887-67689400F79D}"/>
              </a:ext>
            </a:extLst>
          </p:cNvPr>
          <p:cNvSpPr>
            <a:spLocks noGrp="1"/>
          </p:cNvSpPr>
          <p:nvPr>
            <p:ph type="body" sz="quarter" idx="14"/>
          </p:nvPr>
        </p:nvSpPr>
        <p:spPr>
          <a:xfrm>
            <a:off x="177800" y="6489700"/>
            <a:ext cx="10427800" cy="287338"/>
          </a:xfrm>
        </p:spPr>
        <p:txBody>
          <a:bodyPr>
            <a:normAutofit/>
          </a:bodyPr>
          <a:lstStyle>
            <a:lvl1pPr marL="0" indent="0">
              <a:buNone/>
              <a:defRPr sz="1200">
                <a:solidFill>
                  <a:schemeClr val="bg1">
                    <a:lumMod val="50000"/>
                  </a:schemeClr>
                </a:solidFill>
              </a:defRPr>
            </a:lvl1pPr>
          </a:lstStyle>
          <a:p>
            <a:pPr lvl="0"/>
            <a:endParaRPr lang="en-GB"/>
          </a:p>
        </p:txBody>
      </p:sp>
    </p:spTree>
    <p:extLst>
      <p:ext uri="{BB962C8B-B14F-4D97-AF65-F5344CB8AC3E}">
        <p14:creationId xmlns:p14="http://schemas.microsoft.com/office/powerpoint/2010/main" val="3207473964"/>
      </p:ext>
    </p:extLst>
  </p:cSld>
  <p:clrMapOvr>
    <a:masterClrMapping/>
  </p:clrMapOvr>
  <p:extLst>
    <p:ext uri="{DCECCB84-F9BA-43D5-87BE-67443E8EF086}">
      <p15:sldGuideLst xmlns:p15="http://schemas.microsoft.com/office/powerpoint/2012/main">
        <p15:guide id="1" orient="horz" pos="2160">
          <p15:clr>
            <a:srgbClr val="FBAE40"/>
          </p15:clr>
        </p15:guide>
        <p15:guide id="2" pos="365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reak_1">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36EE290-ACE2-454C-B513-628EF80E3034}"/>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554" y="0"/>
            <a:ext cx="11585642" cy="6858000"/>
          </a:xfrm>
          <a:prstGeom prst="rect">
            <a:avLst/>
          </a:prstGeom>
        </p:spPr>
      </p:pic>
      <p:sp>
        <p:nvSpPr>
          <p:cNvPr id="3" name="Text Placeholder 2">
            <a:extLst>
              <a:ext uri="{FF2B5EF4-FFF2-40B4-BE49-F238E27FC236}">
                <a16:creationId xmlns:a16="http://schemas.microsoft.com/office/drawing/2014/main" id="{C2FF4782-2238-47DE-9111-08C62C522610}"/>
              </a:ext>
            </a:extLst>
          </p:cNvPr>
          <p:cNvSpPr>
            <a:spLocks noGrp="1"/>
          </p:cNvSpPr>
          <p:nvPr>
            <p:ph type="body" sz="quarter" idx="10"/>
          </p:nvPr>
        </p:nvSpPr>
        <p:spPr>
          <a:xfrm>
            <a:off x="177800" y="4746625"/>
            <a:ext cx="4586076" cy="914400"/>
          </a:xfrm>
        </p:spPr>
        <p:txBody>
          <a:bodyPr anchor="ctr"/>
          <a:lstStyle>
            <a:lvl1pPr marL="0" indent="0">
              <a:buNone/>
              <a:defRPr b="1" cap="all" baseline="0">
                <a:solidFill>
                  <a:schemeClr val="bg1"/>
                </a:solidFill>
              </a:defRPr>
            </a:lvl1pPr>
          </a:lstStyle>
          <a:p>
            <a:pPr lvl="0"/>
            <a:endParaRPr lang="en-GB"/>
          </a:p>
        </p:txBody>
      </p:sp>
    </p:spTree>
    <p:extLst>
      <p:ext uri="{BB962C8B-B14F-4D97-AF65-F5344CB8AC3E}">
        <p14:creationId xmlns:p14="http://schemas.microsoft.com/office/powerpoint/2010/main" val="40766576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reak_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4D17CD5-D3AB-4072-A9F6-F43315C2DE1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554" y="0"/>
            <a:ext cx="11585642" cy="6858000"/>
          </a:xfrm>
          <a:prstGeom prst="rect">
            <a:avLst/>
          </a:prstGeom>
        </p:spPr>
      </p:pic>
      <p:sp>
        <p:nvSpPr>
          <p:cNvPr id="3" name="Text Placeholder 2">
            <a:extLst>
              <a:ext uri="{FF2B5EF4-FFF2-40B4-BE49-F238E27FC236}">
                <a16:creationId xmlns:a16="http://schemas.microsoft.com/office/drawing/2014/main" id="{F445CD9D-84B2-44A8-8E31-4684A5F529ED}"/>
              </a:ext>
            </a:extLst>
          </p:cNvPr>
          <p:cNvSpPr>
            <a:spLocks noGrp="1"/>
          </p:cNvSpPr>
          <p:nvPr>
            <p:ph type="body" sz="quarter" idx="10"/>
          </p:nvPr>
        </p:nvSpPr>
        <p:spPr>
          <a:xfrm>
            <a:off x="177800" y="4746625"/>
            <a:ext cx="4586076" cy="914400"/>
          </a:xfrm>
        </p:spPr>
        <p:txBody>
          <a:bodyPr anchor="ctr"/>
          <a:lstStyle>
            <a:lvl1pPr marL="0" indent="0">
              <a:buNone/>
              <a:defRPr b="1" cap="all" baseline="0">
                <a:solidFill>
                  <a:schemeClr val="bg1"/>
                </a:solidFill>
              </a:defRPr>
            </a:lvl1pPr>
          </a:lstStyle>
          <a:p>
            <a:pPr lvl="0"/>
            <a:endParaRPr lang="en-GB"/>
          </a:p>
        </p:txBody>
      </p:sp>
    </p:spTree>
    <p:extLst>
      <p:ext uri="{BB962C8B-B14F-4D97-AF65-F5344CB8AC3E}">
        <p14:creationId xmlns:p14="http://schemas.microsoft.com/office/powerpoint/2010/main" val="38168602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91DF114-C65A-4848-939F-A0D5C4A469B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75" y="0"/>
            <a:ext cx="11587799" cy="6858000"/>
          </a:xfrm>
          <a:prstGeom prst="rect">
            <a:avLst/>
          </a:prstGeom>
        </p:spPr>
      </p:pic>
      <p:sp>
        <p:nvSpPr>
          <p:cNvPr id="4" name="Text Placeholder 2">
            <a:extLst>
              <a:ext uri="{FF2B5EF4-FFF2-40B4-BE49-F238E27FC236}">
                <a16:creationId xmlns:a16="http://schemas.microsoft.com/office/drawing/2014/main" id="{3B008A63-164A-4488-AA27-EFB0CDAC1CC4}"/>
              </a:ext>
            </a:extLst>
          </p:cNvPr>
          <p:cNvSpPr>
            <a:spLocks noGrp="1"/>
          </p:cNvSpPr>
          <p:nvPr>
            <p:ph type="body" sz="quarter" idx="10"/>
          </p:nvPr>
        </p:nvSpPr>
        <p:spPr>
          <a:xfrm>
            <a:off x="5794375" y="2637024"/>
            <a:ext cx="5616575" cy="1582175"/>
          </a:xfrm>
        </p:spPr>
        <p:txBody>
          <a:bodyPr anchor="ctr"/>
          <a:lstStyle>
            <a:lvl1pPr marL="0" indent="0" algn="r">
              <a:buNone/>
              <a:defRPr b="1" cap="all" baseline="0">
                <a:solidFill>
                  <a:schemeClr val="bg1"/>
                </a:solidFill>
              </a:defRPr>
            </a:lvl1pPr>
          </a:lstStyle>
          <a:p>
            <a:pPr lvl="0"/>
            <a:endParaRPr lang="en-GB"/>
          </a:p>
        </p:txBody>
      </p:sp>
    </p:spTree>
    <p:extLst>
      <p:ext uri="{BB962C8B-B14F-4D97-AF65-F5344CB8AC3E}">
        <p14:creationId xmlns:p14="http://schemas.microsoft.com/office/powerpoint/2010/main" val="15894342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7801" y="44451"/>
            <a:ext cx="9023799" cy="10139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77801" y="1233488"/>
            <a:ext cx="11233149" cy="525621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10605599" y="6520966"/>
            <a:ext cx="805350" cy="287338"/>
          </a:xfrm>
          <a:prstGeom prst="rect">
            <a:avLst/>
          </a:prstGeom>
        </p:spPr>
        <p:txBody>
          <a:bodyPr vert="horz" lIns="91440" tIns="45720" rIns="91440" bIns="45720" rtlCol="0" anchor="ctr"/>
          <a:lstStyle>
            <a:lvl1pPr algn="r">
              <a:defRPr sz="1200">
                <a:solidFill>
                  <a:schemeClr val="tx1">
                    <a:tint val="75000"/>
                  </a:schemeClr>
                </a:solidFill>
              </a:defRPr>
            </a:lvl1pPr>
          </a:lstStyle>
          <a:p>
            <a:fld id="{5E48029D-87D6-48C3-BA4B-1065A63511DF}" type="slidenum">
              <a:rPr lang="en-GB" smtClean="0"/>
              <a:pPr/>
              <a:t>‹#›</a:t>
            </a:fld>
            <a:endParaRPr lang="en-GB"/>
          </a:p>
        </p:txBody>
      </p:sp>
      <p:sp>
        <p:nvSpPr>
          <p:cNvPr id="8" name="Rectangle 7">
            <a:extLst>
              <a:ext uri="{FF2B5EF4-FFF2-40B4-BE49-F238E27FC236}">
                <a16:creationId xmlns:a16="http://schemas.microsoft.com/office/drawing/2014/main" id="{D6F56E22-0F71-4D9E-BCBB-36F814707DD1}"/>
              </a:ext>
            </a:extLst>
          </p:cNvPr>
          <p:cNvSpPr/>
          <p:nvPr userDrawn="1"/>
        </p:nvSpPr>
        <p:spPr>
          <a:xfrm>
            <a:off x="0" y="0"/>
            <a:ext cx="90000" cy="108902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9" name="Group 8">
            <a:extLst>
              <a:ext uri="{FF2B5EF4-FFF2-40B4-BE49-F238E27FC236}">
                <a16:creationId xmlns:a16="http://schemas.microsoft.com/office/drawing/2014/main" id="{69A640E8-F3E3-0215-3BA4-B91C0454FF6C}"/>
              </a:ext>
            </a:extLst>
          </p:cNvPr>
          <p:cNvGrpSpPr/>
          <p:nvPr userDrawn="1"/>
        </p:nvGrpSpPr>
        <p:grpSpPr>
          <a:xfrm>
            <a:off x="9323266" y="242495"/>
            <a:ext cx="2123662" cy="598508"/>
            <a:chOff x="9289401" y="242495"/>
            <a:chExt cx="2123662" cy="598508"/>
          </a:xfrm>
        </p:grpSpPr>
        <p:pic>
          <p:nvPicPr>
            <p:cNvPr id="5" name="Content Placeholder 5" descr="Icon&#10;&#10;Description automatically generated">
              <a:extLst>
                <a:ext uri="{FF2B5EF4-FFF2-40B4-BE49-F238E27FC236}">
                  <a16:creationId xmlns:a16="http://schemas.microsoft.com/office/drawing/2014/main" id="{D2F90CB3-00DD-FFE5-800E-F8A7722FE329}"/>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9289401" y="242495"/>
              <a:ext cx="598508" cy="598508"/>
            </a:xfrm>
            <a:prstGeom prst="rect">
              <a:avLst/>
            </a:prstGeom>
          </p:spPr>
        </p:pic>
        <p:pic>
          <p:nvPicPr>
            <p:cNvPr id="7" name="Picture 6">
              <a:extLst>
                <a:ext uri="{FF2B5EF4-FFF2-40B4-BE49-F238E27FC236}">
                  <a16:creationId xmlns:a16="http://schemas.microsoft.com/office/drawing/2014/main" id="{6AE7879E-D7B4-8C45-CF4A-12232FEAF303}"/>
                </a:ext>
              </a:extLst>
            </p:cNvPr>
            <p:cNvPicPr>
              <a:picLocks noChangeAspect="1"/>
            </p:cNvPicPr>
            <p:nvPr userDrawn="1"/>
          </p:nvPicPr>
          <p:blipFill rotWithShape="1">
            <a:blip r:embed="rId13"/>
            <a:srcRect l="8347" t="13630" r="11800" b="17823"/>
            <a:stretch/>
          </p:blipFill>
          <p:spPr>
            <a:xfrm>
              <a:off x="9997073" y="280303"/>
              <a:ext cx="1415990" cy="522892"/>
            </a:xfrm>
            <a:prstGeom prst="rect">
              <a:avLst/>
            </a:prstGeom>
          </p:spPr>
        </p:pic>
      </p:grpSp>
    </p:spTree>
    <p:extLst>
      <p:ext uri="{BB962C8B-B14F-4D97-AF65-F5344CB8AC3E}">
        <p14:creationId xmlns:p14="http://schemas.microsoft.com/office/powerpoint/2010/main" val="686834245"/>
      </p:ext>
    </p:extLst>
  </p:cSld>
  <p:clrMap bg1="lt1" tx1="dk1" bg2="lt2" tx2="dk2" accent1="accent1" accent2="accent2" accent3="accent3" accent4="accent4" accent5="accent5" accent6="accent6" hlink="hlink" folHlink="folHlink"/>
  <p:sldLayoutIdLst>
    <p:sldLayoutId id="2147483673" r:id="rId1"/>
    <p:sldLayoutId id="2147483662" r:id="rId2"/>
    <p:sldLayoutId id="2147483674" r:id="rId3"/>
    <p:sldLayoutId id="2147483663" r:id="rId4"/>
    <p:sldLayoutId id="2147483675" r:id="rId5"/>
    <p:sldLayoutId id="2147483676" r:id="rId6"/>
    <p:sldLayoutId id="2147483677" r:id="rId7"/>
    <p:sldLayoutId id="2147483678" r:id="rId8"/>
    <p:sldLayoutId id="2147483680" r:id="rId9"/>
    <p:sldLayoutId id="2147483679" r:id="rId10"/>
  </p:sldLayoutIdLst>
  <p:hf hdr="0" ftr="0" dt="0"/>
  <p:txStyles>
    <p:titleStyle>
      <a:lvl1pPr algn="l" defTabSz="869137"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17284" indent="-217284" algn="l" defTabSz="869137" rtl="0" eaLnBrk="1" latinLnBrk="0" hangingPunct="1">
        <a:lnSpc>
          <a:spcPct val="90000"/>
        </a:lnSpc>
        <a:spcBef>
          <a:spcPts val="951"/>
        </a:spcBef>
        <a:buFont typeface="Arial" panose="020B0604020202020204" pitchFamily="34" charset="0"/>
        <a:buChar char="•"/>
        <a:defRPr sz="2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p:bodyStyle>
    <p:otherStyle>
      <a:defPPr>
        <a:defRPr lang="en-US"/>
      </a:defPPr>
      <a:lvl1pPr marL="0" algn="l" defTabSz="869137" rtl="0" eaLnBrk="1" latinLnBrk="0" hangingPunct="1">
        <a:defRPr sz="1711" kern="1200">
          <a:solidFill>
            <a:schemeClr val="tx1"/>
          </a:solidFill>
          <a:latin typeface="+mn-lt"/>
          <a:ea typeface="+mn-ea"/>
          <a:cs typeface="+mn-cs"/>
        </a:defRPr>
      </a:lvl1pPr>
      <a:lvl2pPr marL="434569" algn="l" defTabSz="869137" rtl="0" eaLnBrk="1" latinLnBrk="0" hangingPunct="1">
        <a:defRPr sz="1711" kern="1200">
          <a:solidFill>
            <a:schemeClr val="tx1"/>
          </a:solidFill>
          <a:latin typeface="+mn-lt"/>
          <a:ea typeface="+mn-ea"/>
          <a:cs typeface="+mn-cs"/>
        </a:defRPr>
      </a:lvl2pPr>
      <a:lvl3pPr marL="869137" algn="l" defTabSz="869137" rtl="0" eaLnBrk="1" latinLnBrk="0" hangingPunct="1">
        <a:defRPr sz="1711" kern="1200">
          <a:solidFill>
            <a:schemeClr val="tx1"/>
          </a:solidFill>
          <a:latin typeface="+mn-lt"/>
          <a:ea typeface="+mn-ea"/>
          <a:cs typeface="+mn-cs"/>
        </a:defRPr>
      </a:lvl3pPr>
      <a:lvl4pPr marL="1303706" algn="l" defTabSz="869137" rtl="0" eaLnBrk="1" latinLnBrk="0" hangingPunct="1">
        <a:defRPr sz="1711" kern="1200">
          <a:solidFill>
            <a:schemeClr val="tx1"/>
          </a:solidFill>
          <a:latin typeface="+mn-lt"/>
          <a:ea typeface="+mn-ea"/>
          <a:cs typeface="+mn-cs"/>
        </a:defRPr>
      </a:lvl4pPr>
      <a:lvl5pPr marL="1738274" algn="l" defTabSz="869137" rtl="0" eaLnBrk="1" latinLnBrk="0" hangingPunct="1">
        <a:defRPr sz="1711" kern="1200">
          <a:solidFill>
            <a:schemeClr val="tx1"/>
          </a:solidFill>
          <a:latin typeface="+mn-lt"/>
          <a:ea typeface="+mn-ea"/>
          <a:cs typeface="+mn-cs"/>
        </a:defRPr>
      </a:lvl5pPr>
      <a:lvl6pPr marL="2172843" algn="l" defTabSz="869137" rtl="0" eaLnBrk="1" latinLnBrk="0" hangingPunct="1">
        <a:defRPr sz="1711" kern="1200">
          <a:solidFill>
            <a:schemeClr val="tx1"/>
          </a:solidFill>
          <a:latin typeface="+mn-lt"/>
          <a:ea typeface="+mn-ea"/>
          <a:cs typeface="+mn-cs"/>
        </a:defRPr>
      </a:lvl6pPr>
      <a:lvl7pPr marL="2607412" algn="l" defTabSz="869137" rtl="0" eaLnBrk="1" latinLnBrk="0" hangingPunct="1">
        <a:defRPr sz="1711" kern="1200">
          <a:solidFill>
            <a:schemeClr val="tx1"/>
          </a:solidFill>
          <a:latin typeface="+mn-lt"/>
          <a:ea typeface="+mn-ea"/>
          <a:cs typeface="+mn-cs"/>
        </a:defRPr>
      </a:lvl7pPr>
      <a:lvl8pPr marL="3041980" algn="l" defTabSz="869137" rtl="0" eaLnBrk="1" latinLnBrk="0" hangingPunct="1">
        <a:defRPr sz="1711" kern="1200">
          <a:solidFill>
            <a:schemeClr val="tx1"/>
          </a:solidFill>
          <a:latin typeface="+mn-lt"/>
          <a:ea typeface="+mn-ea"/>
          <a:cs typeface="+mn-cs"/>
        </a:defRPr>
      </a:lvl8pPr>
      <a:lvl9pPr marL="3476549" algn="l" defTabSz="869137" rtl="0" eaLnBrk="1" latinLnBrk="0" hangingPunct="1">
        <a:defRPr sz="171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112" userDrawn="1">
          <p15:clr>
            <a:srgbClr val="F26B43"/>
          </p15:clr>
        </p15:guide>
        <p15:guide id="3" orient="horz" pos="4269" userDrawn="1">
          <p15:clr>
            <a:srgbClr val="F26B43"/>
          </p15:clr>
        </p15:guide>
        <p15:guide id="4" pos="3650" userDrawn="1">
          <p15:clr>
            <a:srgbClr val="F26B43"/>
          </p15:clr>
        </p15:guide>
        <p15:guide id="5" pos="7188" userDrawn="1">
          <p15:clr>
            <a:srgbClr val="F26B43"/>
          </p15:clr>
        </p15:guide>
        <p15:guide id="6" orient="horz" pos="28" userDrawn="1">
          <p15:clr>
            <a:srgbClr val="F26B43"/>
          </p15:clr>
        </p15:guide>
        <p15:guide id="7" orient="horz" pos="686" userDrawn="1">
          <p15:clr>
            <a:srgbClr val="F26B43"/>
          </p15:clr>
        </p15:guide>
        <p15:guide id="8" orient="horz" pos="777" userDrawn="1">
          <p15:clr>
            <a:srgbClr val="F26B43"/>
          </p15:clr>
        </p15:guide>
        <p15:guide id="9" orient="horz" pos="4088" userDrawn="1">
          <p15:clr>
            <a:srgbClr val="F26B43"/>
          </p15:clr>
        </p15:guide>
        <p15:guide id="10" orient="horz" pos="3680" userDrawn="1">
          <p15:clr>
            <a:srgbClr val="F26B43"/>
          </p15:clr>
        </p15:guide>
        <p15:guide id="11" orient="horz" pos="356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0CBB3-70DE-25AF-3CEC-3ED8A96B1FD0}"/>
              </a:ext>
            </a:extLst>
          </p:cNvPr>
          <p:cNvSpPr>
            <a:spLocks noGrp="1"/>
          </p:cNvSpPr>
          <p:nvPr>
            <p:ph type="ctrTitle"/>
          </p:nvPr>
        </p:nvSpPr>
        <p:spPr>
          <a:xfrm>
            <a:off x="177800" y="4816800"/>
            <a:ext cx="8880061" cy="720000"/>
          </a:xfrm>
        </p:spPr>
        <p:txBody>
          <a:bodyPr/>
          <a:lstStyle/>
          <a:p>
            <a:r>
              <a:rPr lang="en-GB" sz="4000" dirty="0" err="1"/>
              <a:t>Gibela</a:t>
            </a:r>
            <a:r>
              <a:rPr lang="en-GB" sz="4000" dirty="0"/>
              <a:t> Exco strategy</a:t>
            </a:r>
            <a:endParaRPr lang="en-ZA" dirty="0"/>
          </a:p>
        </p:txBody>
      </p:sp>
      <p:sp>
        <p:nvSpPr>
          <p:cNvPr id="3" name="Subtitle 2">
            <a:extLst>
              <a:ext uri="{FF2B5EF4-FFF2-40B4-BE49-F238E27FC236}">
                <a16:creationId xmlns:a16="http://schemas.microsoft.com/office/drawing/2014/main" id="{FA96BDF8-4349-B815-9735-2D929BC18422}"/>
              </a:ext>
            </a:extLst>
          </p:cNvPr>
          <p:cNvSpPr>
            <a:spLocks noGrp="1"/>
          </p:cNvSpPr>
          <p:nvPr>
            <p:ph type="subTitle" idx="1"/>
          </p:nvPr>
        </p:nvSpPr>
        <p:spPr/>
        <p:txBody>
          <a:bodyPr>
            <a:normAutofit/>
          </a:bodyPr>
          <a:lstStyle/>
          <a:p>
            <a:r>
              <a:rPr lang="en-GB" sz="1800" dirty="0"/>
              <a:t>proposal for facilitation</a:t>
            </a:r>
          </a:p>
          <a:p>
            <a:r>
              <a:rPr lang="en-GB" sz="1800" dirty="0" err="1"/>
              <a:t>november</a:t>
            </a:r>
            <a:r>
              <a:rPr lang="en-GB" sz="1800" dirty="0"/>
              <a:t> 2025</a:t>
            </a:r>
            <a:endParaRPr lang="en-ZA" dirty="0"/>
          </a:p>
        </p:txBody>
      </p:sp>
    </p:spTree>
    <p:extLst>
      <p:ext uri="{BB962C8B-B14F-4D97-AF65-F5344CB8AC3E}">
        <p14:creationId xmlns:p14="http://schemas.microsoft.com/office/powerpoint/2010/main" val="30118463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D9E81-FE74-ACFE-075C-B803E2D583B2}"/>
              </a:ext>
            </a:extLst>
          </p:cNvPr>
          <p:cNvSpPr>
            <a:spLocks noGrp="1"/>
          </p:cNvSpPr>
          <p:nvPr>
            <p:ph type="title"/>
          </p:nvPr>
        </p:nvSpPr>
        <p:spPr/>
        <p:txBody>
          <a:bodyPr>
            <a:normAutofit fontScale="90000"/>
          </a:bodyPr>
          <a:lstStyle/>
          <a:p>
            <a:r>
              <a:rPr lang="en-US" dirty="0"/>
              <a:t>The </a:t>
            </a:r>
            <a:r>
              <a:rPr lang="en-US" dirty="0" err="1"/>
              <a:t>Gibela</a:t>
            </a:r>
            <a:r>
              <a:rPr lang="en-US" dirty="0"/>
              <a:t> Exco needs to review the progress against its KPIs and </a:t>
            </a:r>
            <a:r>
              <a:rPr lang="en-US" dirty="0" err="1"/>
              <a:t>strategise</a:t>
            </a:r>
            <a:r>
              <a:rPr lang="en-US" dirty="0"/>
              <a:t> to deal with key market developments</a:t>
            </a:r>
            <a:endParaRPr lang="en-ZA" dirty="0"/>
          </a:p>
        </p:txBody>
      </p:sp>
      <p:sp>
        <p:nvSpPr>
          <p:cNvPr id="4" name="Slide Number Placeholder 3">
            <a:extLst>
              <a:ext uri="{FF2B5EF4-FFF2-40B4-BE49-F238E27FC236}">
                <a16:creationId xmlns:a16="http://schemas.microsoft.com/office/drawing/2014/main" id="{2F2B30BF-B582-D07A-6EA3-A14E9EE2CD7B}"/>
              </a:ext>
            </a:extLst>
          </p:cNvPr>
          <p:cNvSpPr>
            <a:spLocks noGrp="1"/>
          </p:cNvSpPr>
          <p:nvPr>
            <p:ph type="sldNum" sz="quarter" idx="12"/>
          </p:nvPr>
        </p:nvSpPr>
        <p:spPr/>
        <p:txBody>
          <a:bodyPr/>
          <a:lstStyle/>
          <a:p>
            <a:fld id="{A65E4EDC-57F8-4D5C-B13E-A981C5F2F71A}" type="slidenum">
              <a:rPr lang="en-GB" smtClean="0"/>
              <a:pPr/>
              <a:t>2</a:t>
            </a:fld>
            <a:endParaRPr lang="en-GB"/>
          </a:p>
        </p:txBody>
      </p:sp>
      <p:sp>
        <p:nvSpPr>
          <p:cNvPr id="9" name="Rectangle 8">
            <a:extLst>
              <a:ext uri="{FF2B5EF4-FFF2-40B4-BE49-F238E27FC236}">
                <a16:creationId xmlns:a16="http://schemas.microsoft.com/office/drawing/2014/main" id="{F6AA4789-F15D-E2AB-8119-7FFF500A3617}"/>
              </a:ext>
            </a:extLst>
          </p:cNvPr>
          <p:cNvSpPr/>
          <p:nvPr/>
        </p:nvSpPr>
        <p:spPr>
          <a:xfrm>
            <a:off x="177801" y="1233488"/>
            <a:ext cx="11233148" cy="93930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1400" b="1" dirty="0">
                <a:solidFill>
                  <a:schemeClr val="bg1"/>
                </a:solidFill>
              </a:rPr>
              <a:t> </a:t>
            </a:r>
            <a:r>
              <a:rPr lang="en-ZA" sz="1400" b="1" dirty="0" err="1">
                <a:solidFill>
                  <a:schemeClr val="bg1"/>
                </a:solidFill>
              </a:rPr>
              <a:t>Gibela</a:t>
            </a:r>
            <a:r>
              <a:rPr lang="en-ZA" sz="1400" b="1" dirty="0">
                <a:solidFill>
                  <a:schemeClr val="bg1"/>
                </a:solidFill>
              </a:rPr>
              <a:t> faces challenges due to its client’s decisions to reduce offtake volumes and safety challenges with its product</a:t>
            </a:r>
          </a:p>
        </p:txBody>
      </p:sp>
      <p:cxnSp>
        <p:nvCxnSpPr>
          <p:cNvPr id="12" name="Straight Connector 11">
            <a:extLst>
              <a:ext uri="{FF2B5EF4-FFF2-40B4-BE49-F238E27FC236}">
                <a16:creationId xmlns:a16="http://schemas.microsoft.com/office/drawing/2014/main" id="{5FF28A27-39DD-564F-9FB1-09B56CBCE3A8}"/>
              </a:ext>
            </a:extLst>
          </p:cNvPr>
          <p:cNvCxnSpPr/>
          <p:nvPr/>
        </p:nvCxnSpPr>
        <p:spPr>
          <a:xfrm>
            <a:off x="174676" y="2212539"/>
            <a:ext cx="11233149" cy="0"/>
          </a:xfrm>
          <a:prstGeom prst="line">
            <a:avLst/>
          </a:prstGeom>
          <a:ln w="19050">
            <a:solidFill>
              <a:schemeClr val="accent6"/>
            </a:solidFill>
            <a:prstDash val="sysDash"/>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6239D3FF-EF48-3890-FFB4-7CE17070D757}"/>
              </a:ext>
            </a:extLst>
          </p:cNvPr>
          <p:cNvSpPr/>
          <p:nvPr/>
        </p:nvSpPr>
        <p:spPr>
          <a:xfrm>
            <a:off x="188361" y="2798014"/>
            <a:ext cx="3160485" cy="63427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Review progress against KPIs</a:t>
            </a:r>
          </a:p>
        </p:txBody>
      </p:sp>
      <p:sp>
        <p:nvSpPr>
          <p:cNvPr id="16" name="Rectangle 15">
            <a:extLst>
              <a:ext uri="{FF2B5EF4-FFF2-40B4-BE49-F238E27FC236}">
                <a16:creationId xmlns:a16="http://schemas.microsoft.com/office/drawing/2014/main" id="{735FD85A-2C80-9797-C9D2-736D8EC9EE2A}"/>
              </a:ext>
            </a:extLst>
          </p:cNvPr>
          <p:cNvSpPr/>
          <p:nvPr/>
        </p:nvSpPr>
        <p:spPr>
          <a:xfrm>
            <a:off x="8264149" y="2798014"/>
            <a:ext cx="3160485" cy="63427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Address safety challenges with the product</a:t>
            </a:r>
          </a:p>
        </p:txBody>
      </p:sp>
      <p:cxnSp>
        <p:nvCxnSpPr>
          <p:cNvPr id="18" name="Straight Arrow Connector 17">
            <a:extLst>
              <a:ext uri="{FF2B5EF4-FFF2-40B4-BE49-F238E27FC236}">
                <a16:creationId xmlns:a16="http://schemas.microsoft.com/office/drawing/2014/main" id="{BFCCE294-E2FC-8431-C792-A80CE18BF6AE}"/>
              </a:ext>
            </a:extLst>
          </p:cNvPr>
          <p:cNvCxnSpPr>
            <a:cxnSpLocks/>
            <a:stCxn id="13" idx="3"/>
            <a:endCxn id="16" idx="1"/>
          </p:cNvCxnSpPr>
          <p:nvPr/>
        </p:nvCxnSpPr>
        <p:spPr>
          <a:xfrm>
            <a:off x="3348846" y="3115150"/>
            <a:ext cx="491530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0632F82A-9FFF-3B1F-C925-5654C2D2A291}"/>
              </a:ext>
            </a:extLst>
          </p:cNvPr>
          <p:cNvSpPr/>
          <p:nvPr/>
        </p:nvSpPr>
        <p:spPr>
          <a:xfrm>
            <a:off x="4222538" y="2798014"/>
            <a:ext cx="3160485" cy="63427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chemeClr val="tx1"/>
              </a:solidFill>
            </a:endParaRPr>
          </a:p>
          <a:p>
            <a:pPr algn="ctr"/>
            <a:r>
              <a:rPr lang="en-US" sz="1400" b="1" dirty="0">
                <a:solidFill>
                  <a:schemeClr val="tx1"/>
                </a:solidFill>
              </a:rPr>
              <a:t>Adjust strategy to accommodate client’s request to reduce train volumes </a:t>
            </a:r>
          </a:p>
          <a:p>
            <a:pPr algn="ctr"/>
            <a:endParaRPr lang="en-US" sz="1400" i="1" dirty="0">
              <a:solidFill>
                <a:schemeClr val="tx1"/>
              </a:solidFill>
            </a:endParaRPr>
          </a:p>
        </p:txBody>
      </p:sp>
      <p:sp>
        <p:nvSpPr>
          <p:cNvPr id="19" name="Oval 18">
            <a:extLst>
              <a:ext uri="{FF2B5EF4-FFF2-40B4-BE49-F238E27FC236}">
                <a16:creationId xmlns:a16="http://schemas.microsoft.com/office/drawing/2014/main" id="{691C3144-D0E0-2E76-7270-0D296224DCA9}"/>
              </a:ext>
            </a:extLst>
          </p:cNvPr>
          <p:cNvSpPr/>
          <p:nvPr/>
        </p:nvSpPr>
        <p:spPr>
          <a:xfrm>
            <a:off x="92108" y="2664603"/>
            <a:ext cx="346307" cy="34630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1600" dirty="0">
                <a:solidFill>
                  <a:sysClr val="windowText" lastClr="000000"/>
                </a:solidFill>
              </a:rPr>
              <a:t>1</a:t>
            </a:r>
          </a:p>
        </p:txBody>
      </p:sp>
      <p:sp>
        <p:nvSpPr>
          <p:cNvPr id="20" name="Oval 19">
            <a:extLst>
              <a:ext uri="{FF2B5EF4-FFF2-40B4-BE49-F238E27FC236}">
                <a16:creationId xmlns:a16="http://schemas.microsoft.com/office/drawing/2014/main" id="{6B86777D-3BA8-02C4-B8A0-E5AB61FD77D5}"/>
              </a:ext>
            </a:extLst>
          </p:cNvPr>
          <p:cNvSpPr/>
          <p:nvPr/>
        </p:nvSpPr>
        <p:spPr>
          <a:xfrm>
            <a:off x="4049384" y="2649260"/>
            <a:ext cx="346307" cy="34630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1600">
                <a:solidFill>
                  <a:sysClr val="windowText" lastClr="000000"/>
                </a:solidFill>
              </a:rPr>
              <a:t>2</a:t>
            </a:r>
          </a:p>
        </p:txBody>
      </p:sp>
      <p:sp>
        <p:nvSpPr>
          <p:cNvPr id="21" name="Oval 20">
            <a:extLst>
              <a:ext uri="{FF2B5EF4-FFF2-40B4-BE49-F238E27FC236}">
                <a16:creationId xmlns:a16="http://schemas.microsoft.com/office/drawing/2014/main" id="{FDAE1603-F961-C2A0-E779-9EAAAE7758A3}"/>
              </a:ext>
            </a:extLst>
          </p:cNvPr>
          <p:cNvSpPr/>
          <p:nvPr/>
        </p:nvSpPr>
        <p:spPr>
          <a:xfrm>
            <a:off x="8090995" y="2664603"/>
            <a:ext cx="346307" cy="34630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1600">
                <a:solidFill>
                  <a:sysClr val="windowText" lastClr="000000"/>
                </a:solidFill>
              </a:rPr>
              <a:t>3</a:t>
            </a:r>
          </a:p>
        </p:txBody>
      </p:sp>
      <p:sp>
        <p:nvSpPr>
          <p:cNvPr id="26" name="Rectangle 25">
            <a:extLst>
              <a:ext uri="{FF2B5EF4-FFF2-40B4-BE49-F238E27FC236}">
                <a16:creationId xmlns:a16="http://schemas.microsoft.com/office/drawing/2014/main" id="{CC14E5CE-397C-F0F2-8689-C8B082AAFBF7}"/>
              </a:ext>
            </a:extLst>
          </p:cNvPr>
          <p:cNvSpPr/>
          <p:nvPr/>
        </p:nvSpPr>
        <p:spPr>
          <a:xfrm>
            <a:off x="188361" y="3498538"/>
            <a:ext cx="3160485" cy="931013"/>
          </a:xfrm>
          <a:prstGeom prst="rect">
            <a:avLst/>
          </a:prstGeom>
          <a:noFill/>
          <a:ln>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Exco KPIs have been agreed with the board</a:t>
            </a:r>
          </a:p>
        </p:txBody>
      </p:sp>
      <p:sp>
        <p:nvSpPr>
          <p:cNvPr id="27" name="Rectangle 26">
            <a:extLst>
              <a:ext uri="{FF2B5EF4-FFF2-40B4-BE49-F238E27FC236}">
                <a16:creationId xmlns:a16="http://schemas.microsoft.com/office/drawing/2014/main" id="{334FD53F-7D8E-97DB-AA04-DE7B654A7C60}"/>
              </a:ext>
            </a:extLst>
          </p:cNvPr>
          <p:cNvSpPr/>
          <p:nvPr/>
        </p:nvSpPr>
        <p:spPr>
          <a:xfrm>
            <a:off x="8256715" y="3498538"/>
            <a:ext cx="3160485" cy="931013"/>
          </a:xfrm>
          <a:prstGeom prst="rect">
            <a:avLst/>
          </a:prstGeom>
          <a:noFill/>
          <a:ln>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There have bee a number of challenges related to the safety of the trains being produced</a:t>
            </a:r>
          </a:p>
        </p:txBody>
      </p:sp>
      <p:sp>
        <p:nvSpPr>
          <p:cNvPr id="28" name="Rectangle 27">
            <a:extLst>
              <a:ext uri="{FF2B5EF4-FFF2-40B4-BE49-F238E27FC236}">
                <a16:creationId xmlns:a16="http://schemas.microsoft.com/office/drawing/2014/main" id="{0A5A834F-03EE-7412-195F-08358E0CEFAA}"/>
              </a:ext>
            </a:extLst>
          </p:cNvPr>
          <p:cNvSpPr/>
          <p:nvPr/>
        </p:nvSpPr>
        <p:spPr>
          <a:xfrm>
            <a:off x="4222538" y="3498538"/>
            <a:ext cx="3160485" cy="931013"/>
          </a:xfrm>
          <a:prstGeom prst="rect">
            <a:avLst/>
          </a:prstGeom>
          <a:noFill/>
          <a:ln>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err="1">
                <a:solidFill>
                  <a:schemeClr val="tx1"/>
                </a:solidFill>
              </a:rPr>
              <a:t>Gibela</a:t>
            </a:r>
            <a:r>
              <a:rPr lang="en-US" sz="1200" dirty="0">
                <a:solidFill>
                  <a:schemeClr val="tx1"/>
                </a:solidFill>
              </a:rPr>
              <a:t> is currently engaging with PRASA on potentially reducing the volume of train offtake</a:t>
            </a:r>
          </a:p>
        </p:txBody>
      </p:sp>
      <p:sp>
        <p:nvSpPr>
          <p:cNvPr id="29" name="Rectangle 28">
            <a:extLst>
              <a:ext uri="{FF2B5EF4-FFF2-40B4-BE49-F238E27FC236}">
                <a16:creationId xmlns:a16="http://schemas.microsoft.com/office/drawing/2014/main" id="{4A9C7A10-814E-B3DC-0089-5627C9DBD696}"/>
              </a:ext>
            </a:extLst>
          </p:cNvPr>
          <p:cNvSpPr/>
          <p:nvPr/>
        </p:nvSpPr>
        <p:spPr>
          <a:xfrm>
            <a:off x="188361" y="4544959"/>
            <a:ext cx="3160485" cy="1301664"/>
          </a:xfrm>
          <a:prstGeom prst="rect">
            <a:avLst/>
          </a:prstGeom>
          <a:no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err="1">
                <a:solidFill>
                  <a:schemeClr val="tx1"/>
                </a:solidFill>
              </a:rPr>
              <a:t>Gibela</a:t>
            </a:r>
            <a:r>
              <a:rPr lang="en-US" sz="1200" dirty="0">
                <a:solidFill>
                  <a:schemeClr val="tx1"/>
                </a:solidFill>
              </a:rPr>
              <a:t> exco members need to provide feedback and account to each other as to their performance, identify obstacles and agree on how these can be overcome</a:t>
            </a:r>
          </a:p>
        </p:txBody>
      </p:sp>
      <p:sp>
        <p:nvSpPr>
          <p:cNvPr id="30" name="Rectangle 29">
            <a:extLst>
              <a:ext uri="{FF2B5EF4-FFF2-40B4-BE49-F238E27FC236}">
                <a16:creationId xmlns:a16="http://schemas.microsoft.com/office/drawing/2014/main" id="{52145064-D720-72AD-837E-26DA3043D388}"/>
              </a:ext>
            </a:extLst>
          </p:cNvPr>
          <p:cNvSpPr/>
          <p:nvPr/>
        </p:nvSpPr>
        <p:spPr>
          <a:xfrm>
            <a:off x="8256715" y="4544959"/>
            <a:ext cx="3160485" cy="1297041"/>
          </a:xfrm>
          <a:prstGeom prst="rect">
            <a:avLst/>
          </a:prstGeom>
          <a:no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There is a need to align as an exco team around what the root cause of these safety issues are and what needs to be done to address these</a:t>
            </a:r>
          </a:p>
        </p:txBody>
      </p:sp>
      <p:sp>
        <p:nvSpPr>
          <p:cNvPr id="31" name="Rectangle 30">
            <a:extLst>
              <a:ext uri="{FF2B5EF4-FFF2-40B4-BE49-F238E27FC236}">
                <a16:creationId xmlns:a16="http://schemas.microsoft.com/office/drawing/2014/main" id="{E9937B06-6F48-A354-BEB0-0A6FBAFE804B}"/>
              </a:ext>
            </a:extLst>
          </p:cNvPr>
          <p:cNvSpPr/>
          <p:nvPr/>
        </p:nvSpPr>
        <p:spPr>
          <a:xfrm>
            <a:off x="4222538" y="4544959"/>
            <a:ext cx="3160485" cy="1301664"/>
          </a:xfrm>
          <a:prstGeom prst="rect">
            <a:avLst/>
          </a:prstGeom>
          <a:no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There is a need to align around an appropriate negotiating strategy with PRASA</a:t>
            </a:r>
          </a:p>
        </p:txBody>
      </p:sp>
      <p:sp>
        <p:nvSpPr>
          <p:cNvPr id="3" name="Rectangle: Rounded Corners 2">
            <a:extLst>
              <a:ext uri="{FF2B5EF4-FFF2-40B4-BE49-F238E27FC236}">
                <a16:creationId xmlns:a16="http://schemas.microsoft.com/office/drawing/2014/main" id="{59BB520C-664E-CF3D-A374-C62C988F0030}"/>
              </a:ext>
            </a:extLst>
          </p:cNvPr>
          <p:cNvSpPr/>
          <p:nvPr/>
        </p:nvSpPr>
        <p:spPr>
          <a:xfrm>
            <a:off x="188361" y="6000753"/>
            <a:ext cx="11222589" cy="559956"/>
          </a:xfrm>
          <a:prstGeom prst="round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The Exco workshop will seek to align on progress made and on the way forward for key strategic issues</a:t>
            </a:r>
            <a:endParaRPr lang="en-ZA" dirty="0"/>
          </a:p>
        </p:txBody>
      </p:sp>
    </p:spTree>
    <p:extLst>
      <p:ext uri="{BB962C8B-B14F-4D97-AF65-F5344CB8AC3E}">
        <p14:creationId xmlns:p14="http://schemas.microsoft.com/office/powerpoint/2010/main" val="35030349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C0BFC0-A59F-30E0-7AA5-4090BE638F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C543A0-9A14-8523-79CC-9C58F2E277BC}"/>
              </a:ext>
            </a:extLst>
          </p:cNvPr>
          <p:cNvSpPr>
            <a:spLocks noGrp="1"/>
          </p:cNvSpPr>
          <p:nvPr>
            <p:ph type="title"/>
          </p:nvPr>
        </p:nvSpPr>
        <p:spPr/>
        <p:txBody>
          <a:bodyPr/>
          <a:lstStyle/>
          <a:p>
            <a:r>
              <a:rPr lang="en-US" dirty="0"/>
              <a:t>AIA will assist in the preparation and facilitation of the exco workshop </a:t>
            </a:r>
            <a:endParaRPr lang="en-ZA" dirty="0"/>
          </a:p>
        </p:txBody>
      </p:sp>
      <p:sp>
        <p:nvSpPr>
          <p:cNvPr id="4" name="Slide Number Placeholder 3">
            <a:extLst>
              <a:ext uri="{FF2B5EF4-FFF2-40B4-BE49-F238E27FC236}">
                <a16:creationId xmlns:a16="http://schemas.microsoft.com/office/drawing/2014/main" id="{CA5E5518-9A33-B61F-F2ED-230EB525B00F}"/>
              </a:ext>
            </a:extLst>
          </p:cNvPr>
          <p:cNvSpPr>
            <a:spLocks noGrp="1"/>
          </p:cNvSpPr>
          <p:nvPr>
            <p:ph type="sldNum" sz="quarter" idx="12"/>
          </p:nvPr>
        </p:nvSpPr>
        <p:spPr/>
        <p:txBody>
          <a:bodyPr/>
          <a:lstStyle/>
          <a:p>
            <a:fld id="{A65E4EDC-57F8-4D5C-B13E-A981C5F2F71A}" type="slidenum">
              <a:rPr lang="en-GB" smtClean="0"/>
              <a:pPr/>
              <a:t>3</a:t>
            </a:fld>
            <a:endParaRPr lang="en-GB"/>
          </a:p>
        </p:txBody>
      </p:sp>
      <p:sp>
        <p:nvSpPr>
          <p:cNvPr id="9" name="Rectangle 8">
            <a:extLst>
              <a:ext uri="{FF2B5EF4-FFF2-40B4-BE49-F238E27FC236}">
                <a16:creationId xmlns:a16="http://schemas.microsoft.com/office/drawing/2014/main" id="{5A40D48B-D797-8BEB-FBBA-7706309E2734}"/>
              </a:ext>
            </a:extLst>
          </p:cNvPr>
          <p:cNvSpPr/>
          <p:nvPr/>
        </p:nvSpPr>
        <p:spPr>
          <a:xfrm>
            <a:off x="177801" y="1233488"/>
            <a:ext cx="11233148" cy="93930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1400" b="1" dirty="0">
                <a:solidFill>
                  <a:schemeClr val="bg1"/>
                </a:solidFill>
              </a:rPr>
              <a:t> AIA’s support will comprise engagement with exco members, assisting in the development of material for the exco session, facilitation of discussions during the session and compilation of post meeting report </a:t>
            </a:r>
          </a:p>
        </p:txBody>
      </p:sp>
      <p:cxnSp>
        <p:nvCxnSpPr>
          <p:cNvPr id="12" name="Straight Connector 11">
            <a:extLst>
              <a:ext uri="{FF2B5EF4-FFF2-40B4-BE49-F238E27FC236}">
                <a16:creationId xmlns:a16="http://schemas.microsoft.com/office/drawing/2014/main" id="{8EF8BC1B-821A-5D61-83A7-4023DA6006D8}"/>
              </a:ext>
            </a:extLst>
          </p:cNvPr>
          <p:cNvCxnSpPr/>
          <p:nvPr/>
        </p:nvCxnSpPr>
        <p:spPr>
          <a:xfrm>
            <a:off x="174676" y="2212539"/>
            <a:ext cx="11233149" cy="0"/>
          </a:xfrm>
          <a:prstGeom prst="line">
            <a:avLst/>
          </a:prstGeom>
          <a:ln w="19050">
            <a:solidFill>
              <a:schemeClr val="accent6"/>
            </a:solidFill>
            <a:prstDash val="sysDash"/>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FD509F6F-CA57-EF40-AA5D-89F8C31EA387}"/>
              </a:ext>
            </a:extLst>
          </p:cNvPr>
          <p:cNvSpPr/>
          <p:nvPr/>
        </p:nvSpPr>
        <p:spPr>
          <a:xfrm>
            <a:off x="188361" y="2798014"/>
            <a:ext cx="3160485" cy="63427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Engagement with exco members</a:t>
            </a:r>
          </a:p>
        </p:txBody>
      </p:sp>
      <p:sp>
        <p:nvSpPr>
          <p:cNvPr id="16" name="Rectangle 15">
            <a:extLst>
              <a:ext uri="{FF2B5EF4-FFF2-40B4-BE49-F238E27FC236}">
                <a16:creationId xmlns:a16="http://schemas.microsoft.com/office/drawing/2014/main" id="{07D72E0D-4100-902F-ADBA-3A375781B06F}"/>
              </a:ext>
            </a:extLst>
          </p:cNvPr>
          <p:cNvSpPr/>
          <p:nvPr/>
        </p:nvSpPr>
        <p:spPr>
          <a:xfrm>
            <a:off x="8264149" y="2798014"/>
            <a:ext cx="3160485" cy="63427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Strategy session facilitation</a:t>
            </a:r>
          </a:p>
        </p:txBody>
      </p:sp>
      <p:cxnSp>
        <p:nvCxnSpPr>
          <p:cNvPr id="18" name="Straight Arrow Connector 17">
            <a:extLst>
              <a:ext uri="{FF2B5EF4-FFF2-40B4-BE49-F238E27FC236}">
                <a16:creationId xmlns:a16="http://schemas.microsoft.com/office/drawing/2014/main" id="{8B689640-2B61-EF4A-37E6-C7F9101C72BF}"/>
              </a:ext>
            </a:extLst>
          </p:cNvPr>
          <p:cNvCxnSpPr>
            <a:cxnSpLocks/>
            <a:stCxn id="13" idx="3"/>
            <a:endCxn id="16" idx="1"/>
          </p:cNvCxnSpPr>
          <p:nvPr/>
        </p:nvCxnSpPr>
        <p:spPr>
          <a:xfrm>
            <a:off x="3348846" y="3115150"/>
            <a:ext cx="491530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8DEC8802-7931-2A90-1CCC-41F9B1EC91C8}"/>
              </a:ext>
            </a:extLst>
          </p:cNvPr>
          <p:cNvSpPr/>
          <p:nvPr/>
        </p:nvSpPr>
        <p:spPr>
          <a:xfrm>
            <a:off x="4222538" y="2798014"/>
            <a:ext cx="3160485" cy="63427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Preparation of material</a:t>
            </a:r>
          </a:p>
        </p:txBody>
      </p:sp>
      <p:sp>
        <p:nvSpPr>
          <p:cNvPr id="19" name="Oval 18">
            <a:extLst>
              <a:ext uri="{FF2B5EF4-FFF2-40B4-BE49-F238E27FC236}">
                <a16:creationId xmlns:a16="http://schemas.microsoft.com/office/drawing/2014/main" id="{68C8243C-7C9C-C419-1EFE-C557DAD84EEA}"/>
              </a:ext>
            </a:extLst>
          </p:cNvPr>
          <p:cNvSpPr/>
          <p:nvPr/>
        </p:nvSpPr>
        <p:spPr>
          <a:xfrm>
            <a:off x="188361" y="2669420"/>
            <a:ext cx="346307" cy="34630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1600">
                <a:solidFill>
                  <a:sysClr val="windowText" lastClr="000000"/>
                </a:solidFill>
              </a:rPr>
              <a:t>1</a:t>
            </a:r>
          </a:p>
        </p:txBody>
      </p:sp>
      <p:sp>
        <p:nvSpPr>
          <p:cNvPr id="20" name="Oval 19">
            <a:extLst>
              <a:ext uri="{FF2B5EF4-FFF2-40B4-BE49-F238E27FC236}">
                <a16:creationId xmlns:a16="http://schemas.microsoft.com/office/drawing/2014/main" id="{34DEAD46-3750-0712-F6BC-A81E04548D9D}"/>
              </a:ext>
            </a:extLst>
          </p:cNvPr>
          <p:cNvSpPr/>
          <p:nvPr/>
        </p:nvSpPr>
        <p:spPr>
          <a:xfrm>
            <a:off x="4222538" y="2669420"/>
            <a:ext cx="346307" cy="34630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1600">
                <a:solidFill>
                  <a:sysClr val="windowText" lastClr="000000"/>
                </a:solidFill>
              </a:rPr>
              <a:t>2</a:t>
            </a:r>
          </a:p>
        </p:txBody>
      </p:sp>
      <p:sp>
        <p:nvSpPr>
          <p:cNvPr id="21" name="Oval 20">
            <a:extLst>
              <a:ext uri="{FF2B5EF4-FFF2-40B4-BE49-F238E27FC236}">
                <a16:creationId xmlns:a16="http://schemas.microsoft.com/office/drawing/2014/main" id="{28AC1B84-7892-DFDA-3E4E-B0B5ED85D72A}"/>
              </a:ext>
            </a:extLst>
          </p:cNvPr>
          <p:cNvSpPr/>
          <p:nvPr/>
        </p:nvSpPr>
        <p:spPr>
          <a:xfrm>
            <a:off x="8090995" y="2664603"/>
            <a:ext cx="346307" cy="34630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1600">
                <a:solidFill>
                  <a:sysClr val="windowText" lastClr="000000"/>
                </a:solidFill>
              </a:rPr>
              <a:t>3</a:t>
            </a:r>
          </a:p>
        </p:txBody>
      </p:sp>
      <p:sp>
        <p:nvSpPr>
          <p:cNvPr id="26" name="Rectangle 25">
            <a:extLst>
              <a:ext uri="{FF2B5EF4-FFF2-40B4-BE49-F238E27FC236}">
                <a16:creationId xmlns:a16="http://schemas.microsoft.com/office/drawing/2014/main" id="{65595766-603A-3C9D-A2F9-CD401848B7B0}"/>
              </a:ext>
            </a:extLst>
          </p:cNvPr>
          <p:cNvSpPr/>
          <p:nvPr/>
        </p:nvSpPr>
        <p:spPr>
          <a:xfrm>
            <a:off x="188361" y="3498538"/>
            <a:ext cx="3160485" cy="931013"/>
          </a:xfrm>
          <a:prstGeom prst="rect">
            <a:avLst/>
          </a:prstGeom>
          <a:noFill/>
          <a:ln>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Engaging with individual exco members</a:t>
            </a:r>
          </a:p>
        </p:txBody>
      </p:sp>
      <p:sp>
        <p:nvSpPr>
          <p:cNvPr id="27" name="Rectangle 26">
            <a:extLst>
              <a:ext uri="{FF2B5EF4-FFF2-40B4-BE49-F238E27FC236}">
                <a16:creationId xmlns:a16="http://schemas.microsoft.com/office/drawing/2014/main" id="{4B9E220F-21BB-870A-ABBF-AF628775DE85}"/>
              </a:ext>
            </a:extLst>
          </p:cNvPr>
          <p:cNvSpPr/>
          <p:nvPr/>
        </p:nvSpPr>
        <p:spPr>
          <a:xfrm>
            <a:off x="8256715" y="3498538"/>
            <a:ext cx="3160485" cy="931013"/>
          </a:xfrm>
          <a:prstGeom prst="rect">
            <a:avLst/>
          </a:prstGeom>
          <a:noFill/>
          <a:ln>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Facilitate exco session over 1,5 days</a:t>
            </a:r>
          </a:p>
        </p:txBody>
      </p:sp>
      <p:sp>
        <p:nvSpPr>
          <p:cNvPr id="28" name="Rectangle 27">
            <a:extLst>
              <a:ext uri="{FF2B5EF4-FFF2-40B4-BE49-F238E27FC236}">
                <a16:creationId xmlns:a16="http://schemas.microsoft.com/office/drawing/2014/main" id="{70C6302D-9244-29EB-EF3C-428FF6812338}"/>
              </a:ext>
            </a:extLst>
          </p:cNvPr>
          <p:cNvSpPr/>
          <p:nvPr/>
        </p:nvSpPr>
        <p:spPr>
          <a:xfrm>
            <a:off x="4222538" y="3498538"/>
            <a:ext cx="3160485" cy="931013"/>
          </a:xfrm>
          <a:prstGeom prst="rect">
            <a:avLst/>
          </a:prstGeom>
          <a:noFill/>
          <a:ln>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Preparing templates to assist exco members with their presentation</a:t>
            </a:r>
          </a:p>
        </p:txBody>
      </p:sp>
      <p:sp>
        <p:nvSpPr>
          <p:cNvPr id="29" name="Rectangle 28">
            <a:extLst>
              <a:ext uri="{FF2B5EF4-FFF2-40B4-BE49-F238E27FC236}">
                <a16:creationId xmlns:a16="http://schemas.microsoft.com/office/drawing/2014/main" id="{5CC99FFD-9840-DC82-8C6A-84E6A1C81498}"/>
              </a:ext>
            </a:extLst>
          </p:cNvPr>
          <p:cNvSpPr/>
          <p:nvPr/>
        </p:nvSpPr>
        <p:spPr>
          <a:xfrm>
            <a:off x="188361" y="4544959"/>
            <a:ext cx="3160485" cy="1301664"/>
          </a:xfrm>
          <a:prstGeom prst="rect">
            <a:avLst/>
          </a:prstGeom>
          <a:no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Align on the progress that has been made against KPIs</a:t>
            </a:r>
          </a:p>
          <a:p>
            <a:pPr algn="ctr"/>
            <a:r>
              <a:rPr lang="en-US" sz="1200" dirty="0">
                <a:solidFill>
                  <a:schemeClr val="tx1"/>
                </a:solidFill>
              </a:rPr>
              <a:t>Align on the state-of-play </a:t>
            </a:r>
            <a:r>
              <a:rPr lang="en-US" sz="1200" dirty="0" err="1">
                <a:solidFill>
                  <a:schemeClr val="tx1"/>
                </a:solidFill>
              </a:rPr>
              <a:t>wrt</a:t>
            </a:r>
            <a:r>
              <a:rPr lang="en-US" sz="1200" dirty="0">
                <a:solidFill>
                  <a:schemeClr val="tx1"/>
                </a:solidFill>
              </a:rPr>
              <a:t>. PRASA’s train volume cutback</a:t>
            </a:r>
          </a:p>
          <a:p>
            <a:pPr algn="ctr"/>
            <a:r>
              <a:rPr lang="en-US" sz="1200" dirty="0">
                <a:solidFill>
                  <a:schemeClr val="tx1"/>
                </a:solidFill>
              </a:rPr>
              <a:t>Align on train safety issues that need to be elevated to exco </a:t>
            </a:r>
          </a:p>
        </p:txBody>
      </p:sp>
      <p:sp>
        <p:nvSpPr>
          <p:cNvPr id="30" name="Rectangle 29">
            <a:extLst>
              <a:ext uri="{FF2B5EF4-FFF2-40B4-BE49-F238E27FC236}">
                <a16:creationId xmlns:a16="http://schemas.microsoft.com/office/drawing/2014/main" id="{B7374438-1E9B-B90C-A9B1-2005CA5806F0}"/>
              </a:ext>
            </a:extLst>
          </p:cNvPr>
          <p:cNvSpPr/>
          <p:nvPr/>
        </p:nvSpPr>
        <p:spPr>
          <a:xfrm>
            <a:off x="8256715" y="4544959"/>
            <a:ext cx="3160485" cy="1297041"/>
          </a:xfrm>
          <a:prstGeom prst="rect">
            <a:avLst/>
          </a:prstGeom>
          <a:no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Facilitation will consist of a combination of exco presentation and facilitated discussions on the way forward</a:t>
            </a:r>
          </a:p>
        </p:txBody>
      </p:sp>
      <p:sp>
        <p:nvSpPr>
          <p:cNvPr id="31" name="Rectangle 30">
            <a:extLst>
              <a:ext uri="{FF2B5EF4-FFF2-40B4-BE49-F238E27FC236}">
                <a16:creationId xmlns:a16="http://schemas.microsoft.com/office/drawing/2014/main" id="{5731918D-5C30-4083-94E2-4EE8723B8CF8}"/>
              </a:ext>
            </a:extLst>
          </p:cNvPr>
          <p:cNvSpPr/>
          <p:nvPr/>
        </p:nvSpPr>
        <p:spPr>
          <a:xfrm>
            <a:off x="4222538" y="4544959"/>
            <a:ext cx="3160485" cy="1301664"/>
          </a:xfrm>
          <a:prstGeom prst="rect">
            <a:avLst/>
          </a:prstGeom>
          <a:no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Ensure that progress updates are adequately crafted and the challenges well articulated to ensure a productive session</a:t>
            </a:r>
          </a:p>
          <a:p>
            <a:pPr algn="ctr"/>
            <a:r>
              <a:rPr lang="en-US" sz="1200" dirty="0">
                <a:solidFill>
                  <a:schemeClr val="tx1"/>
                </a:solidFill>
              </a:rPr>
              <a:t>Ensure a consistent look and feel and content across the different </a:t>
            </a:r>
            <a:r>
              <a:rPr lang="en-US" sz="1200" dirty="0" err="1">
                <a:solidFill>
                  <a:schemeClr val="tx1"/>
                </a:solidFill>
              </a:rPr>
              <a:t>presentaitons</a:t>
            </a:r>
            <a:endParaRPr lang="en-US" sz="1200" dirty="0">
              <a:solidFill>
                <a:schemeClr val="tx1"/>
              </a:solidFill>
            </a:endParaRPr>
          </a:p>
        </p:txBody>
      </p:sp>
      <p:sp>
        <p:nvSpPr>
          <p:cNvPr id="3" name="Rectangle: Rounded Corners 2">
            <a:extLst>
              <a:ext uri="{FF2B5EF4-FFF2-40B4-BE49-F238E27FC236}">
                <a16:creationId xmlns:a16="http://schemas.microsoft.com/office/drawing/2014/main" id="{B22A39C5-E67B-36AB-E5FF-D6D13B05822B}"/>
              </a:ext>
            </a:extLst>
          </p:cNvPr>
          <p:cNvSpPr/>
          <p:nvPr/>
        </p:nvSpPr>
        <p:spPr>
          <a:xfrm>
            <a:off x="188361" y="6000753"/>
            <a:ext cx="11222589" cy="559956"/>
          </a:xfrm>
          <a:prstGeom prst="round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dirty="0"/>
              <a:t>AIA’s role will be to ensure that the exco session is meaningful and secures tangible outcomes to address the challenges the company faces </a:t>
            </a:r>
          </a:p>
        </p:txBody>
      </p:sp>
    </p:spTree>
    <p:extLst>
      <p:ext uri="{BB962C8B-B14F-4D97-AF65-F5344CB8AC3E}">
        <p14:creationId xmlns:p14="http://schemas.microsoft.com/office/powerpoint/2010/main" val="11638419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noFill/>
          <a:ln w="9525">
            <a:noFill/>
            <a:miter lim="800000"/>
            <a:headEnd/>
            <a:tailEnd/>
          </a:ln>
        </p:spPr>
        <p:txBody>
          <a:bodyPr vert="horz" wrap="square" lIns="86916" tIns="43458" rIns="86916" bIns="43458" numCol="1" rtlCol="0" anchor="ctr" anchorCtr="0" compatLnSpc="1">
            <a:prstTxWarp prst="textNoShape">
              <a:avLst/>
            </a:prstTxWarp>
            <a:normAutofit/>
          </a:bodyPr>
          <a:lstStyle/>
          <a:p>
            <a:r>
              <a:rPr lang="en-US" sz="2281" dirty="0"/>
              <a:t>The proposed agenda for the first day will be to focus on progress on KPIs and then framing the discussion regarding the key challenges </a:t>
            </a:r>
            <a:endParaRPr lang="en-ZA" sz="2281" dirty="0"/>
          </a:p>
        </p:txBody>
      </p:sp>
      <p:sp>
        <p:nvSpPr>
          <p:cNvPr id="5" name="Slide Number Placeholder 1"/>
          <p:cNvSpPr>
            <a:spLocks noGrp="1"/>
          </p:cNvSpPr>
          <p:nvPr>
            <p:ph type="sldNum" sz="quarter" idx="12"/>
          </p:nvPr>
        </p:nvSpPr>
        <p:spPr>
          <a:prstGeom prst="rect">
            <a:avLst/>
          </a:prstGeom>
        </p:spPr>
        <p:txBody>
          <a:bodyPr vert="horz" lIns="86916" tIns="43458" rIns="86916" bIns="43458" rtlCol="0" anchor="ctr"/>
          <a:lstStyle>
            <a:defPPr>
              <a:defRPr lang="en-US"/>
            </a:defPPr>
            <a:lvl1pPr marL="0" algn="r" defTabSz="434569" rtl="0" eaLnBrk="1" latinLnBrk="0" hangingPunct="1">
              <a:defRPr sz="1141" kern="1200">
                <a:solidFill>
                  <a:schemeClr val="tx1">
                    <a:tint val="75000"/>
                  </a:schemeClr>
                </a:solidFill>
                <a:latin typeface="+mn-lt"/>
                <a:ea typeface="+mn-ea"/>
                <a:cs typeface="+mn-cs"/>
              </a:defRPr>
            </a:lvl1pPr>
            <a:lvl2pPr marL="434569" algn="l" defTabSz="434569" rtl="0" eaLnBrk="1" latinLnBrk="0" hangingPunct="1">
              <a:defRPr sz="1711" kern="1200">
                <a:solidFill>
                  <a:schemeClr val="tx1"/>
                </a:solidFill>
                <a:latin typeface="+mn-lt"/>
                <a:ea typeface="+mn-ea"/>
                <a:cs typeface="+mn-cs"/>
              </a:defRPr>
            </a:lvl2pPr>
            <a:lvl3pPr marL="869137" algn="l" defTabSz="434569" rtl="0" eaLnBrk="1" latinLnBrk="0" hangingPunct="1">
              <a:defRPr sz="1711" kern="1200">
                <a:solidFill>
                  <a:schemeClr val="tx1"/>
                </a:solidFill>
                <a:latin typeface="+mn-lt"/>
                <a:ea typeface="+mn-ea"/>
                <a:cs typeface="+mn-cs"/>
              </a:defRPr>
            </a:lvl3pPr>
            <a:lvl4pPr marL="1303706" algn="l" defTabSz="434569" rtl="0" eaLnBrk="1" latinLnBrk="0" hangingPunct="1">
              <a:defRPr sz="1711" kern="1200">
                <a:solidFill>
                  <a:schemeClr val="tx1"/>
                </a:solidFill>
                <a:latin typeface="+mn-lt"/>
                <a:ea typeface="+mn-ea"/>
                <a:cs typeface="+mn-cs"/>
              </a:defRPr>
            </a:lvl4pPr>
            <a:lvl5pPr marL="1738274" algn="l" defTabSz="434569" rtl="0" eaLnBrk="1" latinLnBrk="0" hangingPunct="1">
              <a:defRPr sz="1711" kern="1200">
                <a:solidFill>
                  <a:schemeClr val="tx1"/>
                </a:solidFill>
                <a:latin typeface="+mn-lt"/>
                <a:ea typeface="+mn-ea"/>
                <a:cs typeface="+mn-cs"/>
              </a:defRPr>
            </a:lvl5pPr>
            <a:lvl6pPr marL="2172843" algn="l" defTabSz="434569" rtl="0" eaLnBrk="1" latinLnBrk="0" hangingPunct="1">
              <a:defRPr sz="1711" kern="1200">
                <a:solidFill>
                  <a:schemeClr val="tx1"/>
                </a:solidFill>
                <a:latin typeface="+mn-lt"/>
                <a:ea typeface="+mn-ea"/>
                <a:cs typeface="+mn-cs"/>
              </a:defRPr>
            </a:lvl6pPr>
            <a:lvl7pPr marL="2607412" algn="l" defTabSz="434569" rtl="0" eaLnBrk="1" latinLnBrk="0" hangingPunct="1">
              <a:defRPr sz="1711" kern="1200">
                <a:solidFill>
                  <a:schemeClr val="tx1"/>
                </a:solidFill>
                <a:latin typeface="+mn-lt"/>
                <a:ea typeface="+mn-ea"/>
                <a:cs typeface="+mn-cs"/>
              </a:defRPr>
            </a:lvl7pPr>
            <a:lvl8pPr marL="3041980" algn="l" defTabSz="434569" rtl="0" eaLnBrk="1" latinLnBrk="0" hangingPunct="1">
              <a:defRPr sz="1711" kern="1200">
                <a:solidFill>
                  <a:schemeClr val="tx1"/>
                </a:solidFill>
                <a:latin typeface="+mn-lt"/>
                <a:ea typeface="+mn-ea"/>
                <a:cs typeface="+mn-cs"/>
              </a:defRPr>
            </a:lvl8pPr>
            <a:lvl9pPr marL="3476549" algn="l" defTabSz="434569" rtl="0" eaLnBrk="1" latinLnBrk="0" hangingPunct="1">
              <a:defRPr sz="1711" kern="1200">
                <a:solidFill>
                  <a:schemeClr val="tx1"/>
                </a:solidFill>
                <a:latin typeface="+mn-lt"/>
                <a:ea typeface="+mn-ea"/>
                <a:cs typeface="+mn-cs"/>
              </a:defRPr>
            </a:lvl9pPr>
          </a:lstStyle>
          <a:p>
            <a:pPr>
              <a:defRPr/>
            </a:pPr>
            <a:fld id="{A65E4EDC-57F8-4D5C-B13E-A981C5F2F71A}" type="slidenum">
              <a:rPr lang="en-GB" smtClean="0"/>
              <a:pPr>
                <a:defRPr/>
              </a:pPr>
              <a:t>4</a:t>
            </a:fld>
            <a:endParaRPr lang="en-ZA"/>
          </a:p>
        </p:txBody>
      </p:sp>
      <p:graphicFrame>
        <p:nvGraphicFramePr>
          <p:cNvPr id="6" name="Table 3">
            <a:extLst>
              <a:ext uri="{FF2B5EF4-FFF2-40B4-BE49-F238E27FC236}">
                <a16:creationId xmlns:a16="http://schemas.microsoft.com/office/drawing/2014/main" id="{9FDFAE1A-71C9-E050-6A0B-B5C4578145E6}"/>
              </a:ext>
            </a:extLst>
          </p:cNvPr>
          <p:cNvGraphicFramePr>
            <a:graphicFrameLocks noGrp="1"/>
          </p:cNvGraphicFramePr>
          <p:nvPr>
            <p:extLst>
              <p:ext uri="{D42A27DB-BD31-4B8C-83A1-F6EECF244321}">
                <p14:modId xmlns:p14="http://schemas.microsoft.com/office/powerpoint/2010/main" val="3403842883"/>
              </p:ext>
            </p:extLst>
          </p:nvPr>
        </p:nvGraphicFramePr>
        <p:xfrm>
          <a:off x="177801" y="1058401"/>
          <a:ext cx="11233148" cy="5870221"/>
        </p:xfrm>
        <a:graphic>
          <a:graphicData uri="http://schemas.openxmlformats.org/drawingml/2006/table">
            <a:tbl>
              <a:tblPr firstRow="1" bandRow="1">
                <a:tableStyleId>{5C22544A-7EE6-4342-B048-85BDC9FD1C3A}</a:tableStyleId>
              </a:tblPr>
              <a:tblGrid>
                <a:gridCol w="1918552">
                  <a:extLst>
                    <a:ext uri="{9D8B030D-6E8A-4147-A177-3AD203B41FA5}">
                      <a16:colId xmlns:a16="http://schemas.microsoft.com/office/drawing/2014/main" val="1581366660"/>
                    </a:ext>
                  </a:extLst>
                </a:gridCol>
                <a:gridCol w="5160417">
                  <a:extLst>
                    <a:ext uri="{9D8B030D-6E8A-4147-A177-3AD203B41FA5}">
                      <a16:colId xmlns:a16="http://schemas.microsoft.com/office/drawing/2014/main" val="1388977270"/>
                    </a:ext>
                  </a:extLst>
                </a:gridCol>
                <a:gridCol w="1942130">
                  <a:extLst>
                    <a:ext uri="{9D8B030D-6E8A-4147-A177-3AD203B41FA5}">
                      <a16:colId xmlns:a16="http://schemas.microsoft.com/office/drawing/2014/main" val="4167725824"/>
                    </a:ext>
                  </a:extLst>
                </a:gridCol>
                <a:gridCol w="2212049">
                  <a:extLst>
                    <a:ext uri="{9D8B030D-6E8A-4147-A177-3AD203B41FA5}">
                      <a16:colId xmlns:a16="http://schemas.microsoft.com/office/drawing/2014/main" val="1105632488"/>
                    </a:ext>
                  </a:extLst>
                </a:gridCol>
              </a:tblGrid>
              <a:tr h="323866">
                <a:tc>
                  <a:txBody>
                    <a:bodyPr/>
                    <a:lstStyle/>
                    <a:p>
                      <a:pPr algn="ctr"/>
                      <a:r>
                        <a:rPr lang="en-ZA" sz="1200"/>
                        <a:t>Time</a:t>
                      </a:r>
                    </a:p>
                  </a:txBody>
                  <a:tcPr marL="86916" marR="86916" marT="43458" marB="4345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103959"/>
                    </a:solidFill>
                  </a:tcPr>
                </a:tc>
                <a:tc>
                  <a:txBody>
                    <a:bodyPr/>
                    <a:lstStyle/>
                    <a:p>
                      <a:pPr algn="ctr"/>
                      <a:r>
                        <a:rPr lang="en-ZA" sz="1200" dirty="0"/>
                        <a:t>Item</a:t>
                      </a:r>
                    </a:p>
                  </a:txBody>
                  <a:tcPr marL="86916" marR="86916" marT="43458" marB="4345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103959"/>
                    </a:solidFill>
                  </a:tcPr>
                </a:tc>
                <a:tc>
                  <a:txBody>
                    <a:bodyPr/>
                    <a:lstStyle/>
                    <a:p>
                      <a:pPr algn="ctr"/>
                      <a:r>
                        <a:rPr lang="en-ZA" sz="1200"/>
                        <a:t>Structure</a:t>
                      </a:r>
                    </a:p>
                  </a:txBody>
                  <a:tcPr marL="86916" marR="86916" marT="43458" marB="4345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103959"/>
                    </a:solidFill>
                  </a:tcPr>
                </a:tc>
                <a:tc>
                  <a:txBody>
                    <a:bodyPr/>
                    <a:lstStyle/>
                    <a:p>
                      <a:pPr algn="ctr"/>
                      <a:r>
                        <a:rPr lang="en-ZA" sz="1200"/>
                        <a:t>Presenter/Facilitator</a:t>
                      </a:r>
                    </a:p>
                  </a:txBody>
                  <a:tcPr marL="86916" marR="86916" marT="43458" marB="4345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103959"/>
                    </a:solidFill>
                  </a:tcPr>
                </a:tc>
                <a:extLst>
                  <a:ext uri="{0D108BD9-81ED-4DB2-BD59-A6C34878D82A}">
                    <a16:rowId xmlns:a16="http://schemas.microsoft.com/office/drawing/2014/main" val="4252911871"/>
                  </a:ext>
                </a:extLst>
              </a:tr>
              <a:tr h="429369">
                <a:tc>
                  <a:txBody>
                    <a:bodyPr/>
                    <a:lstStyle/>
                    <a:p>
                      <a:pPr algn="ctr"/>
                      <a:r>
                        <a:rPr lang="en-ZA" sz="1200" dirty="0"/>
                        <a:t>08:00 – 08:20</a:t>
                      </a:r>
                    </a:p>
                  </a:txBody>
                  <a:tcPr marL="86916" marR="86916" marT="43458" marB="4345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lvl="0" indent="0" algn="ctr" defTabSz="932962" rtl="0" eaLnBrk="1" fontAlgn="auto" latinLnBrk="0" hangingPunct="1">
                        <a:lnSpc>
                          <a:spcPct val="100000"/>
                        </a:lnSpc>
                        <a:spcBef>
                          <a:spcPts val="0"/>
                        </a:spcBef>
                        <a:spcAft>
                          <a:spcPts val="0"/>
                        </a:spcAft>
                        <a:buClrTx/>
                        <a:buSzTx/>
                        <a:buFontTx/>
                        <a:buNone/>
                        <a:tabLst/>
                        <a:defRPr/>
                      </a:pPr>
                      <a:r>
                        <a:rPr lang="en-ZA" sz="1200" dirty="0"/>
                        <a:t>Welcome and setting expectations</a:t>
                      </a:r>
                    </a:p>
                  </a:txBody>
                  <a:tcPr marL="86916" marR="86916" marT="43458" marB="4345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BADAF3"/>
                    </a:solidFill>
                  </a:tcPr>
                </a:tc>
                <a:tc>
                  <a:txBody>
                    <a:bodyPr/>
                    <a:lstStyle/>
                    <a:p>
                      <a:pPr marL="0" marR="0" lvl="0" indent="0" algn="ctr" defTabSz="869137" rtl="0" eaLnBrk="1" fontAlgn="auto" latinLnBrk="0" hangingPunct="1">
                        <a:lnSpc>
                          <a:spcPct val="100000"/>
                        </a:lnSpc>
                        <a:spcBef>
                          <a:spcPts val="0"/>
                        </a:spcBef>
                        <a:spcAft>
                          <a:spcPts val="0"/>
                        </a:spcAft>
                        <a:buClrTx/>
                        <a:buSzTx/>
                        <a:buFontTx/>
                        <a:buNone/>
                        <a:tabLst/>
                        <a:defRPr/>
                      </a:pPr>
                      <a:r>
                        <a:rPr lang="en-ZA" sz="1200" dirty="0"/>
                        <a:t>Discussion</a:t>
                      </a:r>
                    </a:p>
                  </a:txBody>
                  <a:tcPr marL="86916" marR="86916" marT="43458" marB="4345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869137" rtl="0" eaLnBrk="1" fontAlgn="auto" latinLnBrk="0" hangingPunct="1">
                        <a:lnSpc>
                          <a:spcPct val="100000"/>
                        </a:lnSpc>
                        <a:spcBef>
                          <a:spcPts val="0"/>
                        </a:spcBef>
                        <a:spcAft>
                          <a:spcPts val="0"/>
                        </a:spcAft>
                        <a:buClrTx/>
                        <a:buSzTx/>
                        <a:buFontTx/>
                        <a:buNone/>
                        <a:tabLst/>
                        <a:defRPr/>
                      </a:pPr>
                      <a:r>
                        <a:rPr lang="en-ZA" sz="1200" dirty="0"/>
                        <a:t>CEO</a:t>
                      </a:r>
                    </a:p>
                  </a:txBody>
                  <a:tcPr marL="86916" marR="86916" marT="43458" marB="4345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599335"/>
                  </a:ext>
                </a:extLst>
              </a:tr>
              <a:tr h="254908">
                <a:tc rowSpan="2">
                  <a:txBody>
                    <a:bodyPr/>
                    <a:lstStyle/>
                    <a:p>
                      <a:pPr algn="ctr"/>
                      <a:r>
                        <a:rPr lang="en-ZA" sz="1200" dirty="0"/>
                        <a:t>08:20 – 08:50</a:t>
                      </a:r>
                    </a:p>
                  </a:txBody>
                  <a:tcPr marL="86916" marR="86916" marT="43458" marB="4345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7E6E6"/>
                    </a:solidFill>
                  </a:tcPr>
                </a:tc>
                <a:tc rowSpan="4">
                  <a:txBody>
                    <a:bodyPr/>
                    <a:lstStyle/>
                    <a:p>
                      <a:pPr algn="ctr"/>
                      <a:r>
                        <a:rPr lang="en-US" sz="1200" dirty="0"/>
                        <a:t>Review and discuss KPIs of key exco members</a:t>
                      </a:r>
                    </a:p>
                  </a:txBody>
                  <a:tcPr marL="86916" marR="86916" marT="43458" marB="4345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TlToBr w="12700" cmpd="sng">
                      <a:noFill/>
                      <a:prstDash val="solid"/>
                    </a:lnTlToBr>
                    <a:lnBlToTr w="12700" cmpd="sng">
                      <a:noFill/>
                      <a:prstDash val="solid"/>
                    </a:lnBlToTr>
                    <a:solidFill>
                      <a:srgbClr val="BADAF3"/>
                    </a:solidFill>
                  </a:tcPr>
                </a:tc>
                <a:tc rowSpan="4">
                  <a:txBody>
                    <a:bodyPr/>
                    <a:lstStyle/>
                    <a:p>
                      <a:pPr marL="0" marR="0" lvl="0" indent="0" algn="ctr" defTabSz="869137" rtl="0" eaLnBrk="1" fontAlgn="auto" latinLnBrk="0" hangingPunct="1">
                        <a:lnSpc>
                          <a:spcPct val="100000"/>
                        </a:lnSpc>
                        <a:spcBef>
                          <a:spcPts val="0"/>
                        </a:spcBef>
                        <a:spcAft>
                          <a:spcPts val="0"/>
                        </a:spcAft>
                        <a:buClrTx/>
                        <a:buSzTx/>
                        <a:buFontTx/>
                        <a:buNone/>
                        <a:tabLst/>
                        <a:defRPr/>
                      </a:pPr>
                      <a:r>
                        <a:rPr lang="en-ZA" sz="1200" dirty="0"/>
                        <a:t>Presentation an discussion</a:t>
                      </a:r>
                    </a:p>
                  </a:txBody>
                  <a:tcPr marL="86916" marR="86916" marT="43458" marB="4345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869137" rtl="0" eaLnBrk="1" fontAlgn="auto" latinLnBrk="0" hangingPunct="1">
                        <a:lnSpc>
                          <a:spcPct val="100000"/>
                        </a:lnSpc>
                        <a:spcBef>
                          <a:spcPts val="0"/>
                        </a:spcBef>
                        <a:spcAft>
                          <a:spcPts val="0"/>
                        </a:spcAft>
                        <a:buClrTx/>
                        <a:buSzTx/>
                        <a:buFontTx/>
                        <a:buNone/>
                        <a:tabLst/>
                        <a:defRPr/>
                      </a:pPr>
                      <a:r>
                        <a:rPr lang="en-US" sz="1200" b="0" dirty="0"/>
                        <a:t>Soraya </a:t>
                      </a:r>
                      <a:r>
                        <a:rPr lang="en-US" sz="1200" b="0" dirty="0" err="1"/>
                        <a:t>Mccann</a:t>
                      </a:r>
                      <a:endParaRPr lang="en-US" sz="1200" b="0" dirty="0"/>
                    </a:p>
                  </a:txBody>
                  <a:tcPr marL="86916" marR="86916" marT="43458" marB="4345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37950170"/>
                  </a:ext>
                </a:extLst>
              </a:tr>
              <a:tr h="158127">
                <a:tc vMerge="1">
                  <a:txBody>
                    <a:bodyPr/>
                    <a:lstStyle/>
                    <a:p>
                      <a:pPr algn="ctr"/>
                      <a:endParaRPr lang="en-ZA" sz="1200" dirty="0"/>
                    </a:p>
                  </a:txBody>
                  <a:tcPr marL="86916" marR="86916" marT="43458" marB="4345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7E6E6"/>
                    </a:solidFill>
                  </a:tcPr>
                </a:tc>
                <a:tc vMerge="1">
                  <a:txBody>
                    <a:bodyPr/>
                    <a:lstStyle/>
                    <a:p>
                      <a:endParaRPr lang="en-US"/>
                    </a:p>
                  </a:txBody>
                  <a:tcPr/>
                </a:tc>
                <a:tc vMerge="1">
                  <a:txBody>
                    <a:bodyPr/>
                    <a:lstStyle/>
                    <a:p>
                      <a:endParaRPr lang="en-US"/>
                    </a:p>
                  </a:txBody>
                  <a:tcPr/>
                </a:tc>
                <a:tc rowSpan="2">
                  <a:txBody>
                    <a:bodyPr/>
                    <a:lstStyle/>
                    <a:p>
                      <a:pPr marL="0" marR="0" lvl="0" indent="0" algn="ctr" defTabSz="869137" rtl="0" eaLnBrk="1" fontAlgn="auto" latinLnBrk="0" hangingPunct="1">
                        <a:lnSpc>
                          <a:spcPct val="100000"/>
                        </a:lnSpc>
                        <a:spcBef>
                          <a:spcPts val="0"/>
                        </a:spcBef>
                        <a:spcAft>
                          <a:spcPts val="0"/>
                        </a:spcAft>
                        <a:buClrTx/>
                        <a:buSzTx/>
                        <a:buFontTx/>
                        <a:buNone/>
                        <a:tabLst/>
                        <a:defRPr/>
                      </a:pPr>
                      <a:r>
                        <a:rPr lang="en-ZA" sz="1200" dirty="0"/>
                        <a:t>Junior Ledwaba</a:t>
                      </a:r>
                      <a:endParaRPr lang="en-US" sz="1200" b="0" dirty="0"/>
                    </a:p>
                  </a:txBody>
                  <a:tcPr marL="86916" marR="86916" marT="43458" marB="4345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8512348"/>
                  </a:ext>
                </a:extLst>
              </a:tr>
              <a:tr h="317361">
                <a:tc>
                  <a:txBody>
                    <a:bodyPr/>
                    <a:lstStyle/>
                    <a:p>
                      <a:pPr marL="0" marR="0" lvl="0" indent="0" algn="ctr" defTabSz="869137" rtl="0" eaLnBrk="1" fontAlgn="auto" latinLnBrk="0" hangingPunct="1">
                        <a:lnSpc>
                          <a:spcPct val="100000"/>
                        </a:lnSpc>
                        <a:spcBef>
                          <a:spcPts val="0"/>
                        </a:spcBef>
                        <a:spcAft>
                          <a:spcPts val="0"/>
                        </a:spcAft>
                        <a:buClrTx/>
                        <a:buSzTx/>
                        <a:buFontTx/>
                        <a:buNone/>
                        <a:tabLst/>
                        <a:defRPr/>
                      </a:pPr>
                      <a:r>
                        <a:rPr lang="en-ZA" sz="1200" dirty="0"/>
                        <a:t>08:50 – 09:20</a:t>
                      </a:r>
                    </a:p>
                    <a:p>
                      <a:pPr algn="ctr"/>
                      <a:endParaRPr lang="en-ZA" sz="1200" dirty="0"/>
                    </a:p>
                  </a:txBody>
                  <a:tcPr marL="86916" marR="86916" marT="43458" marB="4345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7E6E6"/>
                    </a:solidFill>
                  </a:tcPr>
                </a:tc>
                <a:tc vMerge="1">
                  <a:txBody>
                    <a:bodyPr/>
                    <a:lstStyle/>
                    <a:p>
                      <a:pPr algn="ctr"/>
                      <a:endParaRPr lang="en-US" sz="1200" dirty="0"/>
                    </a:p>
                  </a:txBody>
                  <a:tcPr marL="86916" marR="86916" marT="43458" marB="4345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lToBr w="12700" cmpd="sng">
                      <a:noFill/>
                      <a:prstDash val="solid"/>
                    </a:lnTlToBr>
                    <a:lnBlToTr w="12700" cmpd="sng">
                      <a:noFill/>
                      <a:prstDash val="solid"/>
                    </a:lnBlToTr>
                    <a:solidFill>
                      <a:srgbClr val="BADAF3"/>
                    </a:solidFill>
                  </a:tcPr>
                </a:tc>
                <a:tc vMerge="1">
                  <a:txBody>
                    <a:bodyPr/>
                    <a:lstStyle/>
                    <a:p>
                      <a:pPr marL="0" marR="0" lvl="0" indent="0" algn="ctr" defTabSz="869137" rtl="0" eaLnBrk="1" fontAlgn="auto" latinLnBrk="0" hangingPunct="1">
                        <a:lnSpc>
                          <a:spcPct val="100000"/>
                        </a:lnSpc>
                        <a:spcBef>
                          <a:spcPts val="0"/>
                        </a:spcBef>
                        <a:spcAft>
                          <a:spcPts val="0"/>
                        </a:spcAft>
                        <a:buClrTx/>
                        <a:buSzTx/>
                        <a:buFontTx/>
                        <a:buNone/>
                        <a:tabLst/>
                        <a:defRPr/>
                      </a:pPr>
                      <a:endParaRPr lang="en-ZA" sz="1200" dirty="0"/>
                    </a:p>
                  </a:txBody>
                  <a:tcPr marL="86916" marR="86916" marT="43458" marB="4345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a:r>
                        <a:rPr lang="en-ZA" sz="1200" dirty="0"/>
                        <a:t>Junior Ledwaba</a:t>
                      </a:r>
                    </a:p>
                  </a:txBody>
                  <a:tcPr marL="86916" marR="86916" marT="43458" marB="4345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87314305"/>
                  </a:ext>
                </a:extLst>
              </a:tr>
              <a:tr h="345523">
                <a:tc>
                  <a:txBody>
                    <a:bodyPr/>
                    <a:lstStyle/>
                    <a:p>
                      <a:pPr algn="ctr"/>
                      <a:r>
                        <a:rPr lang="en-ZA" sz="1200" dirty="0"/>
                        <a:t>09:20 – 10:00</a:t>
                      </a:r>
                    </a:p>
                  </a:txBody>
                  <a:tcPr marL="86916" marR="86916" marT="43458" marB="4345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7E6E6"/>
                    </a:solidFill>
                  </a:tcPr>
                </a:tc>
                <a:tc vMerge="1">
                  <a:txBody>
                    <a:bodyPr/>
                    <a:lstStyle/>
                    <a:p>
                      <a:endParaRPr lang="en-US"/>
                    </a:p>
                  </a:txBody>
                  <a:tcPr/>
                </a:tc>
                <a:tc vMerge="1">
                  <a:txBody>
                    <a:bodyPr/>
                    <a:lstStyle/>
                    <a:p>
                      <a:endParaRPr lang="en-US"/>
                    </a:p>
                  </a:txBody>
                  <a:tcPr/>
                </a:tc>
                <a:tc>
                  <a:txBody>
                    <a:bodyPr/>
                    <a:lstStyle/>
                    <a:p>
                      <a:pPr algn="ctr"/>
                      <a:r>
                        <a:rPr lang="en-ZA" sz="1200" dirty="0" err="1"/>
                        <a:t>Vuyiswa</a:t>
                      </a:r>
                      <a:r>
                        <a:rPr lang="en-ZA" sz="1200" dirty="0"/>
                        <a:t> </a:t>
                      </a:r>
                      <a:r>
                        <a:rPr lang="en-ZA" sz="1200" dirty="0" err="1"/>
                        <a:t>Tlomatsane</a:t>
                      </a:r>
                      <a:endParaRPr lang="en-ZA" sz="1200" dirty="0"/>
                    </a:p>
                  </a:txBody>
                  <a:tcPr marL="86916" marR="86916" marT="43458" marB="4345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5980847"/>
                  </a:ext>
                </a:extLst>
              </a:tr>
              <a:tr h="390385">
                <a:tc>
                  <a:txBody>
                    <a:bodyPr/>
                    <a:lstStyle/>
                    <a:p>
                      <a:pPr algn="ctr"/>
                      <a:r>
                        <a:rPr lang="en-ZA" sz="1200" dirty="0"/>
                        <a:t>10:00 – 10:20</a:t>
                      </a:r>
                    </a:p>
                  </a:txBody>
                  <a:tcPr marL="86916" marR="86916" marT="43458" marB="4345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7E6E6"/>
                    </a:solidFill>
                  </a:tcPr>
                </a:tc>
                <a:tc gridSpan="3">
                  <a:txBody>
                    <a:bodyPr/>
                    <a:lstStyle/>
                    <a:p>
                      <a:pPr marL="0" marR="0" lvl="0" indent="0" algn="ctr" defTabSz="869137" rtl="0" eaLnBrk="1" fontAlgn="auto" latinLnBrk="0" hangingPunct="1">
                        <a:lnSpc>
                          <a:spcPct val="100000"/>
                        </a:lnSpc>
                        <a:spcBef>
                          <a:spcPts val="0"/>
                        </a:spcBef>
                        <a:spcAft>
                          <a:spcPts val="0"/>
                        </a:spcAft>
                        <a:buClrTx/>
                        <a:buSzTx/>
                        <a:buFontTx/>
                        <a:buNone/>
                        <a:tabLst/>
                        <a:defRPr/>
                      </a:pPr>
                      <a:r>
                        <a:rPr lang="en-ZA" sz="1200" b="1" dirty="0"/>
                        <a:t>Refreshments</a:t>
                      </a:r>
                    </a:p>
                  </a:txBody>
                  <a:tcPr marL="86916" marR="86916" marT="43458" marB="4345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D791"/>
                    </a:solidFill>
                  </a:tcPr>
                </a:tc>
                <a:tc hMerge="1">
                  <a:txBody>
                    <a:bodyPr/>
                    <a:lstStyle/>
                    <a:p>
                      <a:endParaRPr lang="en-GB"/>
                    </a:p>
                  </a:txBody>
                  <a:tcPr>
                    <a:lnL w="12700" cap="flat" cmpd="sng" algn="ctr">
                      <a:solidFill>
                        <a:schemeClr val="bg1">
                          <a:lumMod val="95000"/>
                        </a:schemeClr>
                      </a:solidFill>
                      <a:prstDash val="solid"/>
                      <a:round/>
                      <a:headEnd type="none" w="med" len="med"/>
                      <a:tailEnd type="none" w="med" len="med"/>
                    </a:lnL>
                    <a:lnT w="12700" cap="flat" cmpd="sng" algn="ctr">
                      <a:solidFill>
                        <a:schemeClr val="bg1">
                          <a:lumMod val="95000"/>
                        </a:schemeClr>
                      </a:solidFill>
                      <a:prstDash val="solid"/>
                      <a:round/>
                      <a:headEnd type="none" w="med" len="med"/>
                      <a:tailEnd type="none" w="med" len="med"/>
                    </a:lnT>
                  </a:tcPr>
                </a:tc>
                <a:tc hMerge="1">
                  <a:txBody>
                    <a:bodyPr/>
                    <a:lstStyle/>
                    <a:p>
                      <a:pPr algn="ctr"/>
                      <a:endParaRPr lang="en-GB" sz="1200" b="0"/>
                    </a:p>
                  </a:txBody>
                  <a:tcPr marL="86916" marR="86916" marT="43458" marB="4345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44269079"/>
                  </a:ext>
                </a:extLst>
              </a:tr>
              <a:tr h="302609">
                <a:tc>
                  <a:txBody>
                    <a:bodyPr/>
                    <a:lstStyle/>
                    <a:p>
                      <a:pPr algn="ctr"/>
                      <a:r>
                        <a:rPr lang="en-ZA" sz="1200" dirty="0"/>
                        <a:t>10:20 – 10:50</a:t>
                      </a:r>
                    </a:p>
                  </a:txBody>
                  <a:tcPr marL="86916" marR="86916" marT="43458" marB="4345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7E6E6"/>
                    </a:solidFill>
                  </a:tcPr>
                </a:tc>
                <a:tc rowSpan="4">
                  <a:txBody>
                    <a:bodyPr/>
                    <a:lstStyle/>
                    <a:p>
                      <a:pPr marL="0" marR="0" lvl="0" indent="0" algn="ctr" defTabSz="869137" rtl="0" eaLnBrk="1" fontAlgn="auto" latinLnBrk="0" hangingPunct="1">
                        <a:lnSpc>
                          <a:spcPct val="100000"/>
                        </a:lnSpc>
                        <a:spcBef>
                          <a:spcPts val="0"/>
                        </a:spcBef>
                        <a:spcAft>
                          <a:spcPts val="0"/>
                        </a:spcAft>
                        <a:buClrTx/>
                        <a:buSzTx/>
                        <a:buFontTx/>
                        <a:buNone/>
                        <a:tabLst/>
                        <a:defRPr/>
                      </a:pPr>
                      <a:r>
                        <a:rPr lang="en-US" sz="1200" dirty="0"/>
                        <a:t>Review and discuss KPIs of key exco members</a:t>
                      </a:r>
                    </a:p>
                  </a:txBody>
                  <a:tcPr marL="86916" marR="86916" marT="43458" marB="4345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BADAF3"/>
                    </a:solidFill>
                  </a:tcPr>
                </a:tc>
                <a:tc rowSpan="4">
                  <a:txBody>
                    <a:bodyPr/>
                    <a:lstStyle/>
                    <a:p>
                      <a:pPr marL="0" marR="0" lvl="0" indent="0" algn="ctr" defTabSz="869137" rtl="0" eaLnBrk="1" fontAlgn="auto" latinLnBrk="0" hangingPunct="1">
                        <a:lnSpc>
                          <a:spcPct val="100000"/>
                        </a:lnSpc>
                        <a:spcBef>
                          <a:spcPts val="0"/>
                        </a:spcBef>
                        <a:spcAft>
                          <a:spcPts val="0"/>
                        </a:spcAft>
                        <a:buClrTx/>
                        <a:buSzTx/>
                        <a:buFontTx/>
                        <a:buNone/>
                        <a:tabLst/>
                        <a:defRPr/>
                      </a:pPr>
                      <a:r>
                        <a:rPr lang="en-ZA" sz="1200" dirty="0"/>
                        <a:t>Presentation and discussion</a:t>
                      </a:r>
                    </a:p>
                  </a:txBody>
                  <a:tcPr marL="86916" marR="86916" marT="43458" marB="4345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lToBr w="12700" cmpd="sng">
                      <a:noFill/>
                      <a:prstDash val="solid"/>
                    </a:lnTlToBr>
                    <a:lnBlToTr w="12700" cmpd="sng">
                      <a:noFill/>
                      <a:prstDash val="solid"/>
                    </a:lnBlToTr>
                    <a:noFill/>
                  </a:tcPr>
                </a:tc>
                <a:tc rowSpan="2">
                  <a:txBody>
                    <a:bodyPr/>
                    <a:lstStyle/>
                    <a:p>
                      <a:pPr algn="ctr"/>
                      <a:r>
                        <a:rPr lang="en-US" sz="1200" b="0" dirty="0"/>
                        <a:t>Piet Mahlangu</a:t>
                      </a:r>
                    </a:p>
                  </a:txBody>
                  <a:tcPr marL="86916" marR="86916" marT="43458" marB="4345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07439339"/>
                  </a:ext>
                </a:extLst>
              </a:tr>
              <a:tr h="236524">
                <a:tc rowSpan="2">
                  <a:txBody>
                    <a:bodyPr/>
                    <a:lstStyle/>
                    <a:p>
                      <a:pPr algn="ctr"/>
                      <a:r>
                        <a:rPr lang="en-ZA" sz="1200" dirty="0"/>
                        <a:t>10:50-11:20</a:t>
                      </a:r>
                    </a:p>
                  </a:txBody>
                  <a:tcPr marL="86916" marR="86916" marT="43458" marB="4345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7E6E6"/>
                    </a:solidFill>
                  </a:tcPr>
                </a:tc>
                <a:tc vMerge="1">
                  <a:txBody>
                    <a:bodyPr/>
                    <a:lstStyle/>
                    <a:p>
                      <a:endParaRPr lang="en-US"/>
                    </a:p>
                  </a:txBody>
                  <a:tcPr/>
                </a:tc>
                <a:tc vMerge="1">
                  <a:txBody>
                    <a:bodyPr/>
                    <a:lstStyle/>
                    <a:p>
                      <a:endParaRPr lang="en-US"/>
                    </a:p>
                  </a:txBody>
                  <a:tcPr/>
                </a:tc>
                <a:tc vMerge="1">
                  <a:txBody>
                    <a:bodyPr/>
                    <a:lstStyle/>
                    <a:p>
                      <a:pPr algn="ctr"/>
                      <a:endParaRPr lang="en-US" sz="1200" b="0" dirty="0"/>
                    </a:p>
                  </a:txBody>
                  <a:tcPr marL="86916" marR="86916" marT="43458" marB="4345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79644149"/>
                  </a:ext>
                </a:extLst>
              </a:tr>
              <a:tr h="330404">
                <a:tc vMerge="1">
                  <a:txBody>
                    <a:bodyPr/>
                    <a:lstStyle/>
                    <a:p>
                      <a:pPr algn="ctr"/>
                      <a:r>
                        <a:rPr lang="en-ZA" sz="1200" dirty="0"/>
                        <a:t>10:50-11:20</a:t>
                      </a:r>
                    </a:p>
                  </a:txBody>
                  <a:tcPr marL="86916" marR="86916" marT="43458" marB="4345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7E6E6"/>
                    </a:solidFill>
                  </a:tcPr>
                </a:tc>
                <a:tc vMerge="1">
                  <a:txBody>
                    <a:bodyPr/>
                    <a:lstStyle/>
                    <a:p>
                      <a:pPr marL="0" marR="0" lvl="0" indent="0" algn="ctr" defTabSz="869137" rtl="0" eaLnBrk="1" fontAlgn="auto" latinLnBrk="0" hangingPunct="1">
                        <a:lnSpc>
                          <a:spcPct val="100000"/>
                        </a:lnSpc>
                        <a:spcBef>
                          <a:spcPts val="0"/>
                        </a:spcBef>
                        <a:spcAft>
                          <a:spcPts val="0"/>
                        </a:spcAft>
                        <a:buClrTx/>
                        <a:buSzTx/>
                        <a:buFontTx/>
                        <a:buNone/>
                        <a:tabLst/>
                        <a:defRPr/>
                      </a:pPr>
                      <a:endParaRPr lang="en-US" sz="1200" dirty="0"/>
                    </a:p>
                  </a:txBody>
                  <a:tcPr marL="86916" marR="86916" marT="43458" marB="4345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BADAF3"/>
                    </a:solidFill>
                  </a:tcPr>
                </a:tc>
                <a:tc vMerge="1">
                  <a:txBody>
                    <a:bodyPr/>
                    <a:lstStyle/>
                    <a:p>
                      <a:endParaRPr lang="en-US"/>
                    </a:p>
                  </a:txBody>
                  <a:tcPr/>
                </a:tc>
                <a:tc>
                  <a:txBody>
                    <a:bodyPr/>
                    <a:lstStyle/>
                    <a:p>
                      <a:pPr marL="0" marR="0" lvl="0" indent="0" algn="ctr" defTabSz="869137" rtl="0" eaLnBrk="1" fontAlgn="auto" latinLnBrk="0" hangingPunct="1">
                        <a:lnSpc>
                          <a:spcPct val="100000"/>
                        </a:lnSpc>
                        <a:spcBef>
                          <a:spcPts val="0"/>
                        </a:spcBef>
                        <a:spcAft>
                          <a:spcPts val="0"/>
                        </a:spcAft>
                        <a:buClrTx/>
                        <a:buSzTx/>
                        <a:buFontTx/>
                        <a:buNone/>
                        <a:tabLst/>
                        <a:defRPr/>
                      </a:pPr>
                      <a:r>
                        <a:rPr lang="en-ZA" sz="1200" dirty="0"/>
                        <a:t>Dr. Buyiswa </a:t>
                      </a:r>
                      <a:r>
                        <a:rPr lang="en-ZA" sz="1200" dirty="0" err="1"/>
                        <a:t>Mncono-Liwani</a:t>
                      </a:r>
                      <a:endParaRPr lang="en-ZA" sz="1200" dirty="0"/>
                    </a:p>
                  </a:txBody>
                  <a:tcPr marL="86916" marR="86916" marT="43458" marB="4345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77621298"/>
                  </a:ext>
                </a:extLst>
              </a:tr>
              <a:tr h="594360">
                <a:tc>
                  <a:txBody>
                    <a:bodyPr/>
                    <a:lstStyle/>
                    <a:p>
                      <a:pPr algn="ctr"/>
                      <a:r>
                        <a:rPr lang="en-ZA" sz="1200" dirty="0"/>
                        <a:t>11:20 – 12:00</a:t>
                      </a:r>
                    </a:p>
                  </a:txBody>
                  <a:tcPr marL="86916" marR="86916" marT="43458" marB="4345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7E6E6"/>
                    </a:solidFill>
                  </a:tcPr>
                </a:tc>
                <a:tc vMerge="1">
                  <a:txBody>
                    <a:bodyPr/>
                    <a:lstStyle/>
                    <a:p>
                      <a:endParaRPr lang="en-US"/>
                    </a:p>
                  </a:txBody>
                  <a:tcPr/>
                </a:tc>
                <a:tc vMerge="1">
                  <a:txBody>
                    <a:bodyPr/>
                    <a:lstStyle/>
                    <a:p>
                      <a:endParaRPr lang="en-US"/>
                    </a:p>
                  </a:txBody>
                  <a:tcPr/>
                </a:tc>
                <a:tc>
                  <a:txBody>
                    <a:bodyPr/>
                    <a:lstStyle/>
                    <a:p>
                      <a:pPr marL="0" marR="0" lvl="0" indent="0" algn="ctr" defTabSz="869137" rtl="0" eaLnBrk="1" fontAlgn="auto" latinLnBrk="0" hangingPunct="1">
                        <a:lnSpc>
                          <a:spcPct val="100000"/>
                        </a:lnSpc>
                        <a:spcBef>
                          <a:spcPts val="0"/>
                        </a:spcBef>
                        <a:spcAft>
                          <a:spcPts val="0"/>
                        </a:spcAft>
                        <a:buClrTx/>
                        <a:buSzTx/>
                        <a:buFontTx/>
                        <a:buNone/>
                        <a:tabLst/>
                        <a:defRPr/>
                      </a:pPr>
                      <a:r>
                        <a:rPr lang="en-US" sz="1200" b="0" dirty="0"/>
                        <a:t>Reggie </a:t>
                      </a:r>
                      <a:r>
                        <a:rPr lang="en-US" sz="1200" b="0" dirty="0" err="1"/>
                        <a:t>Boqo</a:t>
                      </a:r>
                      <a:endParaRPr lang="en-ZA" sz="1200" dirty="0"/>
                    </a:p>
                  </a:txBody>
                  <a:tcPr marL="86916" marR="86916" marT="43458" marB="4345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50997030"/>
                  </a:ext>
                </a:extLst>
              </a:tr>
              <a:tr h="394361">
                <a:tc>
                  <a:txBody>
                    <a:bodyPr/>
                    <a:lstStyle/>
                    <a:p>
                      <a:pPr algn="ctr"/>
                      <a:r>
                        <a:rPr lang="en-ZA" sz="1200" dirty="0"/>
                        <a:t>12:00 – 13:00</a:t>
                      </a:r>
                    </a:p>
                  </a:txBody>
                  <a:tcPr marL="86916" marR="86916" marT="43458" marB="4345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7E6E6"/>
                    </a:solidFill>
                  </a:tcPr>
                </a:tc>
                <a:tc gridSpan="3">
                  <a:txBody>
                    <a:bodyPr/>
                    <a:lstStyle/>
                    <a:p>
                      <a:pPr algn="ctr"/>
                      <a:r>
                        <a:rPr lang="en-ZA" sz="1200" b="1" dirty="0"/>
                        <a:t>Lunch</a:t>
                      </a:r>
                    </a:p>
                  </a:txBody>
                  <a:tcPr marL="86916" marR="86916" marT="43458" marB="4345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hMerge="1">
                  <a:txBody>
                    <a:bodyPr/>
                    <a:lstStyle/>
                    <a:p>
                      <a:endParaRPr lang="en-GB"/>
                    </a:p>
                  </a:txBody>
                  <a:tcPr>
                    <a:lnL w="12700" cap="flat" cmpd="sng" algn="ctr">
                      <a:solidFill>
                        <a:schemeClr val="bg1">
                          <a:lumMod val="95000"/>
                        </a:schemeClr>
                      </a:solidFill>
                      <a:prstDash val="solid"/>
                      <a:round/>
                      <a:headEnd type="none" w="med" len="med"/>
                      <a:tailEnd type="none" w="med" len="med"/>
                    </a:lnL>
                    <a:lnT w="12700" cap="flat" cmpd="sng" algn="ctr">
                      <a:solidFill>
                        <a:schemeClr val="bg1">
                          <a:lumMod val="95000"/>
                        </a:schemeClr>
                      </a:solidFill>
                      <a:prstDash val="solid"/>
                      <a:round/>
                      <a:headEnd type="none" w="med" len="med"/>
                      <a:tailEnd type="none" w="med" len="med"/>
                    </a:lnT>
                  </a:tcPr>
                </a:tc>
                <a:tc hMerge="1">
                  <a:txBody>
                    <a:bodyPr/>
                    <a:lstStyle/>
                    <a:p>
                      <a:pPr marL="0" marR="0" lvl="0" indent="0" algn="ctr" defTabSz="869137" rtl="0" eaLnBrk="1" fontAlgn="auto" latinLnBrk="0" hangingPunct="1">
                        <a:lnSpc>
                          <a:spcPct val="100000"/>
                        </a:lnSpc>
                        <a:spcBef>
                          <a:spcPts val="0"/>
                        </a:spcBef>
                        <a:spcAft>
                          <a:spcPts val="0"/>
                        </a:spcAft>
                        <a:buClrTx/>
                        <a:buSzTx/>
                        <a:buFontTx/>
                        <a:buNone/>
                        <a:tabLst/>
                        <a:defRPr/>
                      </a:pPr>
                      <a:endParaRPr lang="en-ZA" sz="1100"/>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58536698"/>
                  </a:ext>
                </a:extLst>
              </a:tr>
              <a:tr h="553989">
                <a:tc>
                  <a:txBody>
                    <a:bodyPr/>
                    <a:lstStyle/>
                    <a:p>
                      <a:pPr algn="ctr"/>
                      <a:r>
                        <a:rPr lang="en-ZA" sz="1200" dirty="0"/>
                        <a:t>13:00-13:30</a:t>
                      </a:r>
                    </a:p>
                  </a:txBody>
                  <a:tcPr marL="86916" marR="86916" marT="43458" marB="4345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lvl="0" indent="0" algn="ctr" defTabSz="869137" rtl="0" eaLnBrk="1" fontAlgn="auto" latinLnBrk="0" hangingPunct="1">
                        <a:lnSpc>
                          <a:spcPct val="100000"/>
                        </a:lnSpc>
                        <a:spcBef>
                          <a:spcPts val="0"/>
                        </a:spcBef>
                        <a:spcAft>
                          <a:spcPts val="0"/>
                        </a:spcAft>
                        <a:buClrTx/>
                        <a:buSzTx/>
                        <a:buFontTx/>
                        <a:buNone/>
                        <a:tabLst/>
                        <a:defRPr/>
                      </a:pPr>
                      <a:r>
                        <a:rPr lang="en-ZA" sz="1200" dirty="0"/>
                        <a:t>Review of outcome from KPI discussions</a:t>
                      </a:r>
                    </a:p>
                  </a:txBody>
                  <a:tcPr marL="86916" marR="86916" marT="43458" marB="4345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BADAF3"/>
                    </a:solidFill>
                  </a:tcPr>
                </a:tc>
                <a:tc>
                  <a:txBody>
                    <a:bodyPr/>
                    <a:lstStyle/>
                    <a:p>
                      <a:pPr marL="0" marR="0" lvl="0" indent="0" algn="ctr" defTabSz="869137" rtl="0" eaLnBrk="1" fontAlgn="auto" latinLnBrk="0" hangingPunct="1">
                        <a:lnSpc>
                          <a:spcPct val="100000"/>
                        </a:lnSpc>
                        <a:spcBef>
                          <a:spcPts val="0"/>
                        </a:spcBef>
                        <a:spcAft>
                          <a:spcPts val="0"/>
                        </a:spcAft>
                        <a:buClrTx/>
                        <a:buSzTx/>
                        <a:buFontTx/>
                        <a:buNone/>
                        <a:tabLst/>
                        <a:defRPr/>
                      </a:pPr>
                      <a:r>
                        <a:rPr lang="en-ZA" sz="1200" dirty="0"/>
                        <a:t>Facilitated discussion</a:t>
                      </a:r>
                    </a:p>
                  </a:txBody>
                  <a:tcPr marL="86916" marR="86916" marT="43458" marB="4345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lToBr w="12700" cmpd="sng">
                      <a:noFill/>
                      <a:prstDash val="solid"/>
                    </a:lnTlToBr>
                    <a:lnBlToTr w="12700" cmpd="sng">
                      <a:noFill/>
                      <a:prstDash val="solid"/>
                    </a:lnBlToTr>
                    <a:noFill/>
                  </a:tcPr>
                </a:tc>
                <a:tc>
                  <a:txBody>
                    <a:bodyPr/>
                    <a:lstStyle/>
                    <a:p>
                      <a:pPr marL="0" marR="0" lvl="0" indent="0" algn="ctr" defTabSz="869137" rtl="0" eaLnBrk="1" fontAlgn="auto" latinLnBrk="0" hangingPunct="1">
                        <a:lnSpc>
                          <a:spcPct val="100000"/>
                        </a:lnSpc>
                        <a:spcBef>
                          <a:spcPts val="0"/>
                        </a:spcBef>
                        <a:spcAft>
                          <a:spcPts val="0"/>
                        </a:spcAft>
                        <a:buClrTx/>
                        <a:buSzTx/>
                        <a:buFontTx/>
                        <a:buNone/>
                        <a:tabLst/>
                        <a:defRPr/>
                      </a:pPr>
                      <a:r>
                        <a:rPr lang="en-ZA" sz="1200" dirty="0"/>
                        <a:t>AIA</a:t>
                      </a:r>
                    </a:p>
                  </a:txBody>
                  <a:tcPr marL="86916" marR="86916" marT="43458" marB="4345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31444432"/>
                  </a:ext>
                </a:extLst>
              </a:tr>
              <a:tr h="432394">
                <a:tc>
                  <a:txBody>
                    <a:bodyPr/>
                    <a:lstStyle/>
                    <a:p>
                      <a:pPr algn="ctr"/>
                      <a:r>
                        <a:rPr lang="en-ZA" sz="1200" dirty="0"/>
                        <a:t>13:30 – 15:00</a:t>
                      </a:r>
                    </a:p>
                  </a:txBody>
                  <a:tcPr marL="86916" marR="86916" marT="43458" marB="4345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lvl="0" indent="0" algn="ctr" defTabSz="869137" rtl="0" eaLnBrk="1" fontAlgn="auto" latinLnBrk="0" hangingPunct="1">
                        <a:lnSpc>
                          <a:spcPct val="100000"/>
                        </a:lnSpc>
                        <a:spcBef>
                          <a:spcPts val="0"/>
                        </a:spcBef>
                        <a:spcAft>
                          <a:spcPts val="0"/>
                        </a:spcAft>
                        <a:buClrTx/>
                        <a:buSzTx/>
                        <a:buFontTx/>
                        <a:buNone/>
                        <a:tabLst/>
                        <a:defRPr/>
                      </a:pPr>
                      <a:r>
                        <a:rPr lang="en-ZA" sz="1200" dirty="0"/>
                        <a:t>Review of PRASA cutback scenarios, financial implications </a:t>
                      </a:r>
                    </a:p>
                    <a:p>
                      <a:pPr marL="0" marR="0" lvl="0" indent="0" algn="ctr" defTabSz="869137" rtl="0" eaLnBrk="1" fontAlgn="auto" latinLnBrk="0" hangingPunct="1">
                        <a:lnSpc>
                          <a:spcPct val="100000"/>
                        </a:lnSpc>
                        <a:spcBef>
                          <a:spcPts val="0"/>
                        </a:spcBef>
                        <a:spcAft>
                          <a:spcPts val="0"/>
                        </a:spcAft>
                        <a:buClrTx/>
                        <a:buSzTx/>
                        <a:buFontTx/>
                        <a:buNone/>
                        <a:tabLst/>
                        <a:defRPr/>
                      </a:pPr>
                      <a:r>
                        <a:rPr lang="en-ZA" sz="1200" dirty="0"/>
                        <a:t>(Discussion to define key options)</a:t>
                      </a:r>
                    </a:p>
                  </a:txBody>
                  <a:tcPr marL="86916" marR="86916" marT="43458" marB="4345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BADAF3"/>
                    </a:solidFill>
                  </a:tcPr>
                </a:tc>
                <a:tc>
                  <a:txBody>
                    <a:bodyPr/>
                    <a:lstStyle/>
                    <a:p>
                      <a:pPr marL="0" marR="0" lvl="0" indent="0" algn="ctr" defTabSz="869137" rtl="0" eaLnBrk="1" fontAlgn="auto" latinLnBrk="0" hangingPunct="1">
                        <a:lnSpc>
                          <a:spcPct val="100000"/>
                        </a:lnSpc>
                        <a:spcBef>
                          <a:spcPts val="0"/>
                        </a:spcBef>
                        <a:spcAft>
                          <a:spcPts val="0"/>
                        </a:spcAft>
                        <a:buClrTx/>
                        <a:buSzTx/>
                        <a:buFontTx/>
                        <a:buNone/>
                        <a:tabLst/>
                        <a:defRPr/>
                      </a:pPr>
                      <a:r>
                        <a:rPr lang="en-ZA" sz="1200" dirty="0"/>
                        <a:t>Presentation and facilitated discussion</a:t>
                      </a:r>
                    </a:p>
                  </a:txBody>
                  <a:tcPr marL="86916" marR="86916" marT="43458" marB="4345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869137" rtl="0" eaLnBrk="1" fontAlgn="auto" latinLnBrk="0" hangingPunct="1">
                        <a:lnSpc>
                          <a:spcPct val="100000"/>
                        </a:lnSpc>
                        <a:spcBef>
                          <a:spcPts val="0"/>
                        </a:spcBef>
                        <a:spcAft>
                          <a:spcPts val="0"/>
                        </a:spcAft>
                        <a:buClrTx/>
                        <a:buSzTx/>
                        <a:buFontTx/>
                        <a:buNone/>
                        <a:tabLst/>
                        <a:defRPr/>
                      </a:pPr>
                      <a:r>
                        <a:rPr lang="en-ZA" sz="1200" dirty="0"/>
                        <a:t>Soraya </a:t>
                      </a:r>
                      <a:r>
                        <a:rPr lang="en-ZA" sz="1200" dirty="0" err="1"/>
                        <a:t>Mccann</a:t>
                      </a:r>
                      <a:r>
                        <a:rPr lang="en-ZA" sz="1200" dirty="0"/>
                        <a:t> – AIA </a:t>
                      </a:r>
                    </a:p>
                  </a:txBody>
                  <a:tcPr marL="86916" marR="86916" marT="43458" marB="4345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7906004"/>
                  </a:ext>
                </a:extLst>
              </a:tr>
              <a:tr h="491782">
                <a:tc>
                  <a:txBody>
                    <a:bodyPr/>
                    <a:lstStyle/>
                    <a:p>
                      <a:pPr algn="ctr"/>
                      <a:r>
                        <a:rPr lang="en-ZA" sz="1200" dirty="0"/>
                        <a:t>15:00 – 16:30</a:t>
                      </a:r>
                    </a:p>
                  </a:txBody>
                  <a:tcPr marL="86916" marR="86916" marT="43458" marB="4345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lvl="0" indent="0" algn="ctr" defTabSz="869137" rtl="0" eaLnBrk="1" fontAlgn="auto" latinLnBrk="0" hangingPunct="1">
                        <a:lnSpc>
                          <a:spcPct val="100000"/>
                        </a:lnSpc>
                        <a:spcBef>
                          <a:spcPts val="0"/>
                        </a:spcBef>
                        <a:spcAft>
                          <a:spcPts val="0"/>
                        </a:spcAft>
                        <a:buClrTx/>
                        <a:buSzTx/>
                        <a:buFontTx/>
                        <a:buNone/>
                        <a:tabLst/>
                        <a:defRPr/>
                      </a:pPr>
                      <a:r>
                        <a:rPr lang="en-ZA" sz="1200" dirty="0"/>
                        <a:t>Review of safety challenges an implications</a:t>
                      </a:r>
                    </a:p>
                    <a:p>
                      <a:pPr marL="0" marR="0" lvl="0" indent="0" algn="ctr" defTabSz="869137" rtl="0" eaLnBrk="1" fontAlgn="auto" latinLnBrk="0" hangingPunct="1">
                        <a:lnSpc>
                          <a:spcPct val="100000"/>
                        </a:lnSpc>
                        <a:spcBef>
                          <a:spcPts val="0"/>
                        </a:spcBef>
                        <a:spcAft>
                          <a:spcPts val="0"/>
                        </a:spcAft>
                        <a:buClrTx/>
                        <a:buSzTx/>
                        <a:buFontTx/>
                        <a:buNone/>
                        <a:tabLst/>
                        <a:defRPr/>
                      </a:pPr>
                      <a:r>
                        <a:rPr lang="en-ZA" sz="1200" dirty="0"/>
                        <a:t>(Discussion to align on problem and framing way forward)</a:t>
                      </a:r>
                    </a:p>
                  </a:txBody>
                  <a:tcPr marL="86916" marR="86916" marT="43458" marB="4345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BADAF3"/>
                    </a:solidFill>
                  </a:tcPr>
                </a:tc>
                <a:tc>
                  <a:txBody>
                    <a:bodyPr/>
                    <a:lstStyle/>
                    <a:p>
                      <a:pPr marL="0" marR="0" lvl="0" indent="0" algn="ctr" defTabSz="869137" rtl="0" eaLnBrk="1" fontAlgn="auto" latinLnBrk="0" hangingPunct="1">
                        <a:lnSpc>
                          <a:spcPct val="100000"/>
                        </a:lnSpc>
                        <a:spcBef>
                          <a:spcPts val="0"/>
                        </a:spcBef>
                        <a:spcAft>
                          <a:spcPts val="0"/>
                        </a:spcAft>
                        <a:buClrTx/>
                        <a:buSzTx/>
                        <a:buFontTx/>
                        <a:buNone/>
                        <a:tabLst/>
                        <a:defRPr/>
                      </a:pPr>
                      <a:r>
                        <a:rPr lang="en-ZA" sz="1200" dirty="0"/>
                        <a:t>Presentation and facilitated discussion</a:t>
                      </a:r>
                    </a:p>
                    <a:p>
                      <a:pPr algn="ctr"/>
                      <a:endParaRPr lang="en-ZA" sz="1200" dirty="0"/>
                    </a:p>
                  </a:txBody>
                  <a:tcPr marL="86916" marR="86916" marT="43458" marB="43458" anchor="ctr">
                    <a:lnL w="12700" cap="flat" cmpd="sng" algn="ctr">
                      <a:solidFill>
                        <a:schemeClr val="bg1">
                          <a:lumMod val="95000"/>
                        </a:schemeClr>
                      </a:solidFill>
                      <a:prstDash val="solid"/>
                      <a:round/>
                      <a:headEnd type="none" w="med" len="med"/>
                      <a:tailEnd type="none" w="med" len="med"/>
                    </a:lnL>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869137" rtl="0" eaLnBrk="1" fontAlgn="auto" latinLnBrk="0" hangingPunct="1">
                        <a:lnSpc>
                          <a:spcPct val="100000"/>
                        </a:lnSpc>
                        <a:spcBef>
                          <a:spcPts val="0"/>
                        </a:spcBef>
                        <a:spcAft>
                          <a:spcPts val="0"/>
                        </a:spcAft>
                        <a:buClrTx/>
                        <a:buSzTx/>
                        <a:buFontTx/>
                        <a:buNone/>
                        <a:tabLst/>
                        <a:defRPr/>
                      </a:pPr>
                      <a:r>
                        <a:rPr lang="en-ZA" sz="1200" dirty="0"/>
                        <a:t>Junior Ledwaba - AIA</a:t>
                      </a:r>
                    </a:p>
                  </a:txBody>
                  <a:tcPr marL="86916" marR="86916" marT="43458" marB="43458" anchor="ctr">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38775354"/>
                  </a:ext>
                </a:extLst>
              </a:tr>
            </a:tbl>
          </a:graphicData>
        </a:graphic>
      </p:graphicFrame>
    </p:spTree>
    <p:extLst>
      <p:ext uri="{BB962C8B-B14F-4D97-AF65-F5344CB8AC3E}">
        <p14:creationId xmlns:p14="http://schemas.microsoft.com/office/powerpoint/2010/main" val="15977404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noFill/>
          <a:ln w="9525">
            <a:noFill/>
            <a:miter lim="800000"/>
            <a:headEnd/>
            <a:tailEnd/>
          </a:ln>
        </p:spPr>
        <p:txBody>
          <a:bodyPr vert="horz" wrap="square" lIns="86916" tIns="43458" rIns="86916" bIns="43458" numCol="1" rtlCol="0" anchor="ctr" anchorCtr="0" compatLnSpc="1">
            <a:prstTxWarp prst="textNoShape">
              <a:avLst/>
            </a:prstTxWarp>
            <a:normAutofit fontScale="90000"/>
          </a:bodyPr>
          <a:lstStyle/>
          <a:p>
            <a:r>
              <a:rPr lang="en-US" sz="2281" dirty="0"/>
              <a:t>The second day will focus on converting the high level framing and options identification on day 1 into convergence around the way forward</a:t>
            </a:r>
            <a:endParaRPr lang="en-ZA" sz="2281" dirty="0"/>
          </a:p>
        </p:txBody>
      </p:sp>
      <p:sp>
        <p:nvSpPr>
          <p:cNvPr id="5" name="Slide Number Placeholder 1"/>
          <p:cNvSpPr>
            <a:spLocks noGrp="1"/>
          </p:cNvSpPr>
          <p:nvPr>
            <p:ph type="sldNum" sz="quarter" idx="12"/>
          </p:nvPr>
        </p:nvSpPr>
        <p:spPr>
          <a:prstGeom prst="rect">
            <a:avLst/>
          </a:prstGeom>
        </p:spPr>
        <p:txBody>
          <a:bodyPr vert="horz" lIns="86916" tIns="43458" rIns="86916" bIns="43458" rtlCol="0" anchor="ctr"/>
          <a:lstStyle>
            <a:defPPr>
              <a:defRPr lang="en-US"/>
            </a:defPPr>
            <a:lvl1pPr marL="0" algn="r" defTabSz="434569" rtl="0" eaLnBrk="1" latinLnBrk="0" hangingPunct="1">
              <a:defRPr sz="1141" kern="1200">
                <a:solidFill>
                  <a:schemeClr val="tx1">
                    <a:tint val="75000"/>
                  </a:schemeClr>
                </a:solidFill>
                <a:latin typeface="+mn-lt"/>
                <a:ea typeface="+mn-ea"/>
                <a:cs typeface="+mn-cs"/>
              </a:defRPr>
            </a:lvl1pPr>
            <a:lvl2pPr marL="434569" algn="l" defTabSz="434569" rtl="0" eaLnBrk="1" latinLnBrk="0" hangingPunct="1">
              <a:defRPr sz="1711" kern="1200">
                <a:solidFill>
                  <a:schemeClr val="tx1"/>
                </a:solidFill>
                <a:latin typeface="+mn-lt"/>
                <a:ea typeface="+mn-ea"/>
                <a:cs typeface="+mn-cs"/>
              </a:defRPr>
            </a:lvl2pPr>
            <a:lvl3pPr marL="869137" algn="l" defTabSz="434569" rtl="0" eaLnBrk="1" latinLnBrk="0" hangingPunct="1">
              <a:defRPr sz="1711" kern="1200">
                <a:solidFill>
                  <a:schemeClr val="tx1"/>
                </a:solidFill>
                <a:latin typeface="+mn-lt"/>
                <a:ea typeface="+mn-ea"/>
                <a:cs typeface="+mn-cs"/>
              </a:defRPr>
            </a:lvl3pPr>
            <a:lvl4pPr marL="1303706" algn="l" defTabSz="434569" rtl="0" eaLnBrk="1" latinLnBrk="0" hangingPunct="1">
              <a:defRPr sz="1711" kern="1200">
                <a:solidFill>
                  <a:schemeClr val="tx1"/>
                </a:solidFill>
                <a:latin typeface="+mn-lt"/>
                <a:ea typeface="+mn-ea"/>
                <a:cs typeface="+mn-cs"/>
              </a:defRPr>
            </a:lvl4pPr>
            <a:lvl5pPr marL="1738274" algn="l" defTabSz="434569" rtl="0" eaLnBrk="1" latinLnBrk="0" hangingPunct="1">
              <a:defRPr sz="1711" kern="1200">
                <a:solidFill>
                  <a:schemeClr val="tx1"/>
                </a:solidFill>
                <a:latin typeface="+mn-lt"/>
                <a:ea typeface="+mn-ea"/>
                <a:cs typeface="+mn-cs"/>
              </a:defRPr>
            </a:lvl5pPr>
            <a:lvl6pPr marL="2172843" algn="l" defTabSz="434569" rtl="0" eaLnBrk="1" latinLnBrk="0" hangingPunct="1">
              <a:defRPr sz="1711" kern="1200">
                <a:solidFill>
                  <a:schemeClr val="tx1"/>
                </a:solidFill>
                <a:latin typeface="+mn-lt"/>
                <a:ea typeface="+mn-ea"/>
                <a:cs typeface="+mn-cs"/>
              </a:defRPr>
            </a:lvl6pPr>
            <a:lvl7pPr marL="2607412" algn="l" defTabSz="434569" rtl="0" eaLnBrk="1" latinLnBrk="0" hangingPunct="1">
              <a:defRPr sz="1711" kern="1200">
                <a:solidFill>
                  <a:schemeClr val="tx1"/>
                </a:solidFill>
                <a:latin typeface="+mn-lt"/>
                <a:ea typeface="+mn-ea"/>
                <a:cs typeface="+mn-cs"/>
              </a:defRPr>
            </a:lvl7pPr>
            <a:lvl8pPr marL="3041980" algn="l" defTabSz="434569" rtl="0" eaLnBrk="1" latinLnBrk="0" hangingPunct="1">
              <a:defRPr sz="1711" kern="1200">
                <a:solidFill>
                  <a:schemeClr val="tx1"/>
                </a:solidFill>
                <a:latin typeface="+mn-lt"/>
                <a:ea typeface="+mn-ea"/>
                <a:cs typeface="+mn-cs"/>
              </a:defRPr>
            </a:lvl8pPr>
            <a:lvl9pPr marL="3476549" algn="l" defTabSz="434569" rtl="0" eaLnBrk="1" latinLnBrk="0" hangingPunct="1">
              <a:defRPr sz="1711" kern="1200">
                <a:solidFill>
                  <a:schemeClr val="tx1"/>
                </a:solidFill>
                <a:latin typeface="+mn-lt"/>
                <a:ea typeface="+mn-ea"/>
                <a:cs typeface="+mn-cs"/>
              </a:defRPr>
            </a:lvl9pPr>
          </a:lstStyle>
          <a:p>
            <a:pPr>
              <a:defRPr/>
            </a:pPr>
            <a:fld id="{A65E4EDC-57F8-4D5C-B13E-A981C5F2F71A}" type="slidenum">
              <a:rPr lang="en-GB" smtClean="0"/>
              <a:pPr>
                <a:defRPr/>
              </a:pPr>
              <a:t>5</a:t>
            </a:fld>
            <a:endParaRPr lang="en-ZA"/>
          </a:p>
        </p:txBody>
      </p:sp>
      <p:graphicFrame>
        <p:nvGraphicFramePr>
          <p:cNvPr id="6" name="Table 3">
            <a:extLst>
              <a:ext uri="{FF2B5EF4-FFF2-40B4-BE49-F238E27FC236}">
                <a16:creationId xmlns:a16="http://schemas.microsoft.com/office/drawing/2014/main" id="{9FDFAE1A-71C9-E050-6A0B-B5C4578145E6}"/>
              </a:ext>
            </a:extLst>
          </p:cNvPr>
          <p:cNvGraphicFramePr>
            <a:graphicFrameLocks noGrp="1"/>
          </p:cNvGraphicFramePr>
          <p:nvPr>
            <p:extLst>
              <p:ext uri="{D42A27DB-BD31-4B8C-83A1-F6EECF244321}">
                <p14:modId xmlns:p14="http://schemas.microsoft.com/office/powerpoint/2010/main" val="3748394542"/>
              </p:ext>
            </p:extLst>
          </p:nvPr>
        </p:nvGraphicFramePr>
        <p:xfrm>
          <a:off x="177801" y="1676400"/>
          <a:ext cx="11233149" cy="2538083"/>
        </p:xfrm>
        <a:graphic>
          <a:graphicData uri="http://schemas.openxmlformats.org/drawingml/2006/table">
            <a:tbl>
              <a:tblPr firstRow="1" bandRow="1">
                <a:tableStyleId>{5C22544A-7EE6-4342-B048-85BDC9FD1C3A}</a:tableStyleId>
              </a:tblPr>
              <a:tblGrid>
                <a:gridCol w="1918552">
                  <a:extLst>
                    <a:ext uri="{9D8B030D-6E8A-4147-A177-3AD203B41FA5}">
                      <a16:colId xmlns:a16="http://schemas.microsoft.com/office/drawing/2014/main" val="1581366660"/>
                    </a:ext>
                  </a:extLst>
                </a:gridCol>
                <a:gridCol w="5160417">
                  <a:extLst>
                    <a:ext uri="{9D8B030D-6E8A-4147-A177-3AD203B41FA5}">
                      <a16:colId xmlns:a16="http://schemas.microsoft.com/office/drawing/2014/main" val="1388977270"/>
                    </a:ext>
                  </a:extLst>
                </a:gridCol>
                <a:gridCol w="1942130">
                  <a:extLst>
                    <a:ext uri="{9D8B030D-6E8A-4147-A177-3AD203B41FA5}">
                      <a16:colId xmlns:a16="http://schemas.microsoft.com/office/drawing/2014/main" val="4167725824"/>
                    </a:ext>
                  </a:extLst>
                </a:gridCol>
                <a:gridCol w="2212050">
                  <a:extLst>
                    <a:ext uri="{9D8B030D-6E8A-4147-A177-3AD203B41FA5}">
                      <a16:colId xmlns:a16="http://schemas.microsoft.com/office/drawing/2014/main" val="1105632488"/>
                    </a:ext>
                  </a:extLst>
                </a:gridCol>
              </a:tblGrid>
              <a:tr h="260402">
                <a:tc>
                  <a:txBody>
                    <a:bodyPr/>
                    <a:lstStyle/>
                    <a:p>
                      <a:pPr algn="ctr"/>
                      <a:r>
                        <a:rPr lang="en-ZA" sz="1200"/>
                        <a:t>Time</a:t>
                      </a:r>
                    </a:p>
                  </a:txBody>
                  <a:tcPr marL="86916" marR="86916" marT="43458" marB="4345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103959"/>
                    </a:solidFill>
                  </a:tcPr>
                </a:tc>
                <a:tc>
                  <a:txBody>
                    <a:bodyPr/>
                    <a:lstStyle/>
                    <a:p>
                      <a:pPr algn="ctr"/>
                      <a:r>
                        <a:rPr lang="en-ZA" sz="1200" dirty="0"/>
                        <a:t>Item</a:t>
                      </a:r>
                    </a:p>
                  </a:txBody>
                  <a:tcPr marL="86916" marR="86916" marT="43458" marB="4345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103959"/>
                    </a:solidFill>
                  </a:tcPr>
                </a:tc>
                <a:tc>
                  <a:txBody>
                    <a:bodyPr/>
                    <a:lstStyle/>
                    <a:p>
                      <a:pPr algn="ctr"/>
                      <a:r>
                        <a:rPr lang="en-ZA" sz="1200"/>
                        <a:t>Structure</a:t>
                      </a:r>
                    </a:p>
                  </a:txBody>
                  <a:tcPr marL="86916" marR="86916" marT="43458" marB="4345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103959"/>
                    </a:solidFill>
                  </a:tcPr>
                </a:tc>
                <a:tc>
                  <a:txBody>
                    <a:bodyPr/>
                    <a:lstStyle/>
                    <a:p>
                      <a:pPr algn="ctr"/>
                      <a:r>
                        <a:rPr lang="en-ZA" sz="1200"/>
                        <a:t>Presenter/Facilitator</a:t>
                      </a:r>
                    </a:p>
                  </a:txBody>
                  <a:tcPr marL="86916" marR="86916" marT="43458" marB="4345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103959"/>
                    </a:solidFill>
                  </a:tcPr>
                </a:tc>
                <a:extLst>
                  <a:ext uri="{0D108BD9-81ED-4DB2-BD59-A6C34878D82A}">
                    <a16:rowId xmlns:a16="http://schemas.microsoft.com/office/drawing/2014/main" val="4252911871"/>
                  </a:ext>
                </a:extLst>
              </a:tr>
              <a:tr h="384232">
                <a:tc>
                  <a:txBody>
                    <a:bodyPr/>
                    <a:lstStyle/>
                    <a:p>
                      <a:pPr algn="ctr"/>
                      <a:r>
                        <a:rPr lang="en-ZA" sz="1200" dirty="0"/>
                        <a:t>08:00 – 08:30</a:t>
                      </a:r>
                    </a:p>
                  </a:txBody>
                  <a:tcPr marL="86916" marR="86916" marT="43458" marB="4345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lvl="0" indent="0" algn="ctr" defTabSz="932962" rtl="0" eaLnBrk="1" fontAlgn="auto" latinLnBrk="0" hangingPunct="1">
                        <a:lnSpc>
                          <a:spcPct val="100000"/>
                        </a:lnSpc>
                        <a:spcBef>
                          <a:spcPts val="0"/>
                        </a:spcBef>
                        <a:spcAft>
                          <a:spcPts val="0"/>
                        </a:spcAft>
                        <a:buClrTx/>
                        <a:buSzTx/>
                        <a:buFontTx/>
                        <a:buNone/>
                        <a:tabLst/>
                        <a:defRPr/>
                      </a:pPr>
                      <a:r>
                        <a:rPr lang="en-ZA" sz="1200" dirty="0"/>
                        <a:t>Recap of day one</a:t>
                      </a:r>
                    </a:p>
                  </a:txBody>
                  <a:tcPr marL="86916" marR="86916" marT="43458" marB="4345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BADAF3"/>
                    </a:solidFill>
                  </a:tcPr>
                </a:tc>
                <a:tc>
                  <a:txBody>
                    <a:bodyPr/>
                    <a:lstStyle/>
                    <a:p>
                      <a:pPr marL="0" marR="0" lvl="0" indent="0" algn="ctr" defTabSz="869137" rtl="0" eaLnBrk="1" fontAlgn="auto" latinLnBrk="0" hangingPunct="1">
                        <a:lnSpc>
                          <a:spcPct val="100000"/>
                        </a:lnSpc>
                        <a:spcBef>
                          <a:spcPts val="0"/>
                        </a:spcBef>
                        <a:spcAft>
                          <a:spcPts val="0"/>
                        </a:spcAft>
                        <a:buClrTx/>
                        <a:buSzTx/>
                        <a:buFontTx/>
                        <a:buNone/>
                        <a:tabLst/>
                        <a:defRPr/>
                      </a:pPr>
                      <a:r>
                        <a:rPr lang="en-ZA" sz="1200"/>
                        <a:t>Presentation </a:t>
                      </a:r>
                    </a:p>
                  </a:txBody>
                  <a:tcPr marL="86916" marR="86916" marT="43458" marB="4345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869137" rtl="0" eaLnBrk="1" fontAlgn="auto" latinLnBrk="0" hangingPunct="1">
                        <a:lnSpc>
                          <a:spcPct val="100000"/>
                        </a:lnSpc>
                        <a:spcBef>
                          <a:spcPts val="0"/>
                        </a:spcBef>
                        <a:spcAft>
                          <a:spcPts val="0"/>
                        </a:spcAft>
                        <a:buClrTx/>
                        <a:buSzTx/>
                        <a:buFontTx/>
                        <a:buNone/>
                        <a:tabLst/>
                        <a:defRPr/>
                      </a:pPr>
                      <a:r>
                        <a:rPr lang="en-ZA" sz="1200"/>
                        <a:t>AIA</a:t>
                      </a:r>
                    </a:p>
                  </a:txBody>
                  <a:tcPr marL="86916" marR="86916" marT="43458" marB="4345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599335"/>
                  </a:ext>
                </a:extLst>
              </a:tr>
              <a:tr h="457178">
                <a:tc>
                  <a:txBody>
                    <a:bodyPr/>
                    <a:lstStyle/>
                    <a:p>
                      <a:pPr algn="ctr"/>
                      <a:r>
                        <a:rPr lang="en-ZA" sz="1200" dirty="0"/>
                        <a:t>08:30 – 10:00</a:t>
                      </a:r>
                    </a:p>
                  </a:txBody>
                  <a:tcPr marL="86916" marR="86916" marT="43458" marB="4345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algn="ctr"/>
                      <a:r>
                        <a:rPr lang="en-ZA" sz="1200" dirty="0"/>
                        <a:t>Facilitated discussion to align on actions to address PRASA train cutbacks</a:t>
                      </a:r>
                    </a:p>
                  </a:txBody>
                  <a:tcPr marL="86916" marR="86916" marT="43458" marB="4345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TlToBr w="12700" cmpd="sng">
                      <a:noFill/>
                      <a:prstDash val="solid"/>
                    </a:lnTlToBr>
                    <a:lnBlToTr w="12700" cmpd="sng">
                      <a:noFill/>
                      <a:prstDash val="solid"/>
                    </a:lnBlToTr>
                    <a:solidFill>
                      <a:srgbClr val="BADAF3"/>
                    </a:solidFill>
                  </a:tcPr>
                </a:tc>
                <a:tc>
                  <a:txBody>
                    <a:bodyPr/>
                    <a:lstStyle/>
                    <a:p>
                      <a:pPr marL="0" marR="0" lvl="0" indent="0" algn="ctr" defTabSz="869137" rtl="0" eaLnBrk="1" fontAlgn="auto" latinLnBrk="0" hangingPunct="1">
                        <a:lnSpc>
                          <a:spcPct val="100000"/>
                        </a:lnSpc>
                        <a:spcBef>
                          <a:spcPts val="0"/>
                        </a:spcBef>
                        <a:spcAft>
                          <a:spcPts val="0"/>
                        </a:spcAft>
                        <a:buClrTx/>
                        <a:buSzTx/>
                        <a:buFontTx/>
                        <a:buNone/>
                        <a:tabLst/>
                        <a:defRPr/>
                      </a:pPr>
                      <a:r>
                        <a:rPr lang="en-ZA" sz="1200" dirty="0"/>
                        <a:t>Facilitated discussion</a:t>
                      </a:r>
                    </a:p>
                  </a:txBody>
                  <a:tcPr marL="86916" marR="86916" marT="43458" marB="4345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ZA" sz="1200" dirty="0"/>
                        <a:t>AIA</a:t>
                      </a:r>
                    </a:p>
                  </a:txBody>
                  <a:tcPr marL="86916" marR="86916" marT="43458" marB="4345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37950170"/>
                  </a:ext>
                </a:extLst>
              </a:tr>
              <a:tr h="349347">
                <a:tc>
                  <a:txBody>
                    <a:bodyPr/>
                    <a:lstStyle/>
                    <a:p>
                      <a:pPr algn="ctr"/>
                      <a:r>
                        <a:rPr lang="en-ZA" sz="1200" dirty="0"/>
                        <a:t>10:00 – 10:20</a:t>
                      </a:r>
                    </a:p>
                  </a:txBody>
                  <a:tcPr marL="86916" marR="86916" marT="43458" marB="4345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7E6E6"/>
                    </a:solidFill>
                  </a:tcPr>
                </a:tc>
                <a:tc gridSpan="3">
                  <a:txBody>
                    <a:bodyPr/>
                    <a:lstStyle/>
                    <a:p>
                      <a:pPr marL="0" marR="0" lvl="0" indent="0" algn="ctr" defTabSz="869137" rtl="0" eaLnBrk="1" fontAlgn="auto" latinLnBrk="0" hangingPunct="1">
                        <a:lnSpc>
                          <a:spcPct val="100000"/>
                        </a:lnSpc>
                        <a:spcBef>
                          <a:spcPts val="0"/>
                        </a:spcBef>
                        <a:spcAft>
                          <a:spcPts val="0"/>
                        </a:spcAft>
                        <a:buClrTx/>
                        <a:buSzTx/>
                        <a:buFontTx/>
                        <a:buNone/>
                        <a:tabLst/>
                        <a:defRPr/>
                      </a:pPr>
                      <a:r>
                        <a:rPr lang="en-ZA" sz="1200" b="1" dirty="0"/>
                        <a:t>Refreshments</a:t>
                      </a:r>
                    </a:p>
                  </a:txBody>
                  <a:tcPr marL="86916" marR="86916" marT="43458" marB="4345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D791"/>
                    </a:solidFill>
                  </a:tcPr>
                </a:tc>
                <a:tc hMerge="1">
                  <a:txBody>
                    <a:bodyPr/>
                    <a:lstStyle/>
                    <a:p>
                      <a:endParaRPr lang="en-GB"/>
                    </a:p>
                  </a:txBody>
                  <a:tcPr>
                    <a:lnL w="12700" cap="flat" cmpd="sng" algn="ctr">
                      <a:solidFill>
                        <a:schemeClr val="bg1">
                          <a:lumMod val="95000"/>
                        </a:schemeClr>
                      </a:solidFill>
                      <a:prstDash val="solid"/>
                      <a:round/>
                      <a:headEnd type="none" w="med" len="med"/>
                      <a:tailEnd type="none" w="med" len="med"/>
                    </a:lnL>
                  </a:tcPr>
                </a:tc>
                <a:tc hMerge="1">
                  <a:txBody>
                    <a:bodyPr/>
                    <a:lstStyle/>
                    <a:p>
                      <a:pPr algn="ctr"/>
                      <a:endParaRPr lang="en-GB" sz="1200" b="0"/>
                    </a:p>
                  </a:txBody>
                  <a:tcPr marL="86916" marR="86916" marT="43458" marB="4345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44269079"/>
                  </a:ext>
                </a:extLst>
              </a:tr>
              <a:tr h="409912">
                <a:tc>
                  <a:txBody>
                    <a:bodyPr/>
                    <a:lstStyle/>
                    <a:p>
                      <a:pPr algn="ctr"/>
                      <a:r>
                        <a:rPr lang="en-ZA" sz="1200" dirty="0"/>
                        <a:t>10:20 – 12:00</a:t>
                      </a:r>
                    </a:p>
                  </a:txBody>
                  <a:tcPr marL="86916" marR="86916" marT="43458" marB="4345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lvl="0" indent="0" algn="ctr" defTabSz="932962" rtl="0" eaLnBrk="1" fontAlgn="auto" latinLnBrk="0" hangingPunct="1">
                        <a:lnSpc>
                          <a:spcPct val="100000"/>
                        </a:lnSpc>
                        <a:spcBef>
                          <a:spcPts val="0"/>
                        </a:spcBef>
                        <a:spcAft>
                          <a:spcPts val="0"/>
                        </a:spcAft>
                        <a:buClrTx/>
                        <a:buSzTx/>
                        <a:buFontTx/>
                        <a:buNone/>
                        <a:tabLst/>
                        <a:defRPr/>
                      </a:pPr>
                      <a:r>
                        <a:rPr lang="en-ZA" sz="1200" kern="1200" noProof="0" dirty="0">
                          <a:solidFill>
                            <a:schemeClr val="dk1"/>
                          </a:solidFill>
                          <a:latin typeface="+mn-lt"/>
                          <a:ea typeface="+mn-ea"/>
                          <a:cs typeface="+mn-cs"/>
                        </a:rPr>
                        <a:t>Facilitated discussion to align on actions to address safety concerns</a:t>
                      </a:r>
                    </a:p>
                  </a:txBody>
                  <a:tcPr marL="86916" marR="86916" marT="43458" marB="4345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BADAF3"/>
                    </a:solidFill>
                  </a:tcPr>
                </a:tc>
                <a:tc>
                  <a:txBody>
                    <a:bodyPr/>
                    <a:lstStyle/>
                    <a:p>
                      <a:pPr marL="0" marR="0" lvl="0" indent="0" algn="ctr" defTabSz="869137" rtl="0" eaLnBrk="1" fontAlgn="auto" latinLnBrk="0" hangingPunct="1">
                        <a:lnSpc>
                          <a:spcPct val="100000"/>
                        </a:lnSpc>
                        <a:spcBef>
                          <a:spcPts val="0"/>
                        </a:spcBef>
                        <a:spcAft>
                          <a:spcPts val="0"/>
                        </a:spcAft>
                        <a:buClrTx/>
                        <a:buSzTx/>
                        <a:buFontTx/>
                        <a:buNone/>
                        <a:tabLst/>
                        <a:defRPr/>
                      </a:pPr>
                      <a:r>
                        <a:rPr lang="en-ZA" sz="1200" kern="1200" dirty="0">
                          <a:solidFill>
                            <a:schemeClr val="dk1"/>
                          </a:solidFill>
                          <a:latin typeface="+mn-lt"/>
                          <a:ea typeface="+mn-ea"/>
                          <a:cs typeface="+mn-cs"/>
                        </a:rPr>
                        <a:t>Facilitated discussion</a:t>
                      </a:r>
                    </a:p>
                  </a:txBody>
                  <a:tcPr marL="86916" marR="86916" marT="43458" marB="4345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200" kern="1200" dirty="0">
                          <a:solidFill>
                            <a:schemeClr val="dk1"/>
                          </a:solidFill>
                          <a:latin typeface="+mn-lt"/>
                          <a:ea typeface="+mn-ea"/>
                          <a:cs typeface="+mn-cs"/>
                        </a:rPr>
                        <a:t>AIA</a:t>
                      </a:r>
                    </a:p>
                  </a:txBody>
                  <a:tcPr marL="86916" marR="86916" marT="43458" marB="4345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31132062"/>
                  </a:ext>
                </a:extLst>
              </a:tr>
              <a:tr h="314713">
                <a:tc>
                  <a:txBody>
                    <a:bodyPr/>
                    <a:lstStyle/>
                    <a:p>
                      <a:pPr algn="ctr"/>
                      <a:r>
                        <a:rPr lang="en-ZA" sz="1200" dirty="0"/>
                        <a:t>12:00 - 12:30</a:t>
                      </a:r>
                    </a:p>
                  </a:txBody>
                  <a:tcPr marL="86916" marR="86916" marT="43458" marB="4345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7E6E6"/>
                    </a:solidFill>
                  </a:tcPr>
                </a:tc>
                <a:tc>
                  <a:txBody>
                    <a:bodyPr/>
                    <a:lstStyle/>
                    <a:p>
                      <a:pPr marL="0" marR="0" lvl="0" indent="0" algn="ctr" defTabSz="932962" rtl="0" eaLnBrk="1" fontAlgn="auto" latinLnBrk="0" hangingPunct="1">
                        <a:lnSpc>
                          <a:spcPct val="100000"/>
                        </a:lnSpc>
                        <a:spcBef>
                          <a:spcPts val="0"/>
                        </a:spcBef>
                        <a:spcAft>
                          <a:spcPts val="0"/>
                        </a:spcAft>
                        <a:buClrTx/>
                        <a:buSzTx/>
                        <a:buFontTx/>
                        <a:buNone/>
                        <a:tabLst/>
                        <a:defRPr/>
                      </a:pPr>
                      <a:r>
                        <a:rPr lang="en-ZA" sz="1200" kern="1200" noProof="0" dirty="0">
                          <a:solidFill>
                            <a:schemeClr val="dk1"/>
                          </a:solidFill>
                          <a:latin typeface="+mn-lt"/>
                          <a:ea typeface="+mn-ea"/>
                          <a:cs typeface="+mn-cs"/>
                        </a:rPr>
                        <a:t>Closing</a:t>
                      </a:r>
                    </a:p>
                  </a:txBody>
                  <a:tcPr marL="86916" marR="86916" marT="43458" marB="4345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BADAF3"/>
                    </a:solidFill>
                  </a:tcPr>
                </a:tc>
                <a:tc>
                  <a:txBody>
                    <a:bodyPr/>
                    <a:lstStyle/>
                    <a:p>
                      <a:pPr marL="0" marR="0" lvl="0" indent="0" algn="ctr" defTabSz="869137" rtl="0" eaLnBrk="1" fontAlgn="auto" latinLnBrk="0" hangingPunct="1">
                        <a:lnSpc>
                          <a:spcPct val="100000"/>
                        </a:lnSpc>
                        <a:spcBef>
                          <a:spcPts val="0"/>
                        </a:spcBef>
                        <a:spcAft>
                          <a:spcPts val="0"/>
                        </a:spcAft>
                        <a:buClrTx/>
                        <a:buSzTx/>
                        <a:buFontTx/>
                        <a:buNone/>
                        <a:tabLst/>
                        <a:defRPr/>
                      </a:pPr>
                      <a:endParaRPr lang="en-ZA" sz="1400" dirty="0"/>
                    </a:p>
                  </a:txBody>
                  <a:tcPr marL="86916" marR="86916" marT="43458" marB="4345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200" kern="1200" dirty="0">
                          <a:solidFill>
                            <a:schemeClr val="dk1"/>
                          </a:solidFill>
                          <a:latin typeface="+mn-lt"/>
                          <a:ea typeface="+mn-ea"/>
                          <a:cs typeface="+mn-cs"/>
                        </a:rPr>
                        <a:t>AIA/CEO</a:t>
                      </a:r>
                    </a:p>
                  </a:txBody>
                  <a:tcPr marL="86916" marR="86916" marT="43458" marB="4345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5623969"/>
                  </a:ext>
                </a:extLst>
              </a:tr>
              <a:tr h="352905">
                <a:tc>
                  <a:txBody>
                    <a:bodyPr/>
                    <a:lstStyle/>
                    <a:p>
                      <a:pPr algn="ctr"/>
                      <a:r>
                        <a:rPr lang="en-ZA" sz="1200" dirty="0"/>
                        <a:t>12:30 – 13:30</a:t>
                      </a:r>
                    </a:p>
                  </a:txBody>
                  <a:tcPr marL="86916" marR="86916" marT="43458" marB="4345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7E6E6"/>
                    </a:solidFill>
                  </a:tcPr>
                </a:tc>
                <a:tc gridSpan="3">
                  <a:txBody>
                    <a:bodyPr/>
                    <a:lstStyle/>
                    <a:p>
                      <a:pPr algn="ctr"/>
                      <a:r>
                        <a:rPr lang="en-ZA" sz="1200" b="1" dirty="0"/>
                        <a:t>Lunch</a:t>
                      </a:r>
                    </a:p>
                  </a:txBody>
                  <a:tcPr marL="86916" marR="86916" marT="43458" marB="43458"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hMerge="1">
                  <a:txBody>
                    <a:bodyPr/>
                    <a:lstStyle/>
                    <a:p>
                      <a:endParaRPr lang="en-GB"/>
                    </a:p>
                  </a:txBody>
                  <a:tcPr>
                    <a:lnL w="12700" cap="flat" cmpd="sng" algn="ctr">
                      <a:solidFill>
                        <a:schemeClr val="bg1">
                          <a:lumMod val="95000"/>
                        </a:schemeClr>
                      </a:solidFill>
                      <a:prstDash val="solid"/>
                      <a:round/>
                      <a:headEnd type="none" w="med" len="med"/>
                      <a:tailEnd type="none" w="med" len="med"/>
                    </a:lnL>
                    <a:lnT w="12700" cap="flat" cmpd="sng" algn="ctr">
                      <a:solidFill>
                        <a:schemeClr val="bg1">
                          <a:lumMod val="95000"/>
                        </a:schemeClr>
                      </a:solidFill>
                      <a:prstDash val="solid"/>
                      <a:round/>
                      <a:headEnd type="none" w="med" len="med"/>
                      <a:tailEnd type="none" w="med" len="med"/>
                    </a:lnT>
                  </a:tcPr>
                </a:tc>
                <a:tc hMerge="1">
                  <a:txBody>
                    <a:bodyPr/>
                    <a:lstStyle/>
                    <a:p>
                      <a:pPr marL="0" marR="0" lvl="0" indent="0" algn="ctr" defTabSz="869137" rtl="0" eaLnBrk="1" fontAlgn="auto" latinLnBrk="0" hangingPunct="1">
                        <a:lnSpc>
                          <a:spcPct val="100000"/>
                        </a:lnSpc>
                        <a:spcBef>
                          <a:spcPts val="0"/>
                        </a:spcBef>
                        <a:spcAft>
                          <a:spcPts val="0"/>
                        </a:spcAft>
                        <a:buClrTx/>
                        <a:buSzTx/>
                        <a:buFontTx/>
                        <a:buNone/>
                        <a:tabLst/>
                        <a:defRPr/>
                      </a:pPr>
                      <a:endParaRPr lang="en-ZA" sz="1100"/>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58536698"/>
                  </a:ext>
                </a:extLst>
              </a:tr>
            </a:tbl>
          </a:graphicData>
        </a:graphic>
      </p:graphicFrame>
    </p:spTree>
    <p:extLst>
      <p:ext uri="{BB962C8B-B14F-4D97-AF65-F5344CB8AC3E}">
        <p14:creationId xmlns:p14="http://schemas.microsoft.com/office/powerpoint/2010/main" val="21996204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CE36E-99E2-4981-4129-DA047D53EF10}"/>
              </a:ext>
            </a:extLst>
          </p:cNvPr>
          <p:cNvSpPr>
            <a:spLocks noGrp="1"/>
          </p:cNvSpPr>
          <p:nvPr>
            <p:ph type="title"/>
          </p:nvPr>
        </p:nvSpPr>
        <p:spPr>
          <a:xfrm>
            <a:off x="177801" y="44451"/>
            <a:ext cx="9051924" cy="1042677"/>
          </a:xfrm>
        </p:spPr>
        <p:txBody>
          <a:bodyPr>
            <a:normAutofit fontScale="90000"/>
          </a:bodyPr>
          <a:lstStyle/>
          <a:p>
            <a:r>
              <a:rPr lang="en-US" sz="2400" dirty="0"/>
              <a:t>The budget for the facilitation includes the cost of engaging with exco in preparation, conducting research on the market opportunity &amp; facilitating the board session</a:t>
            </a:r>
            <a:endParaRPr lang="en-ZA" sz="2200" dirty="0"/>
          </a:p>
        </p:txBody>
      </p:sp>
      <p:sp>
        <p:nvSpPr>
          <p:cNvPr id="3" name="Rectangle: Rounded Corners 2">
            <a:extLst>
              <a:ext uri="{FF2B5EF4-FFF2-40B4-BE49-F238E27FC236}">
                <a16:creationId xmlns:a16="http://schemas.microsoft.com/office/drawing/2014/main" id="{2AA247D9-D34A-9D5A-C560-972C902D3709}"/>
              </a:ext>
            </a:extLst>
          </p:cNvPr>
          <p:cNvSpPr/>
          <p:nvPr/>
        </p:nvSpPr>
        <p:spPr>
          <a:xfrm>
            <a:off x="185057" y="1961554"/>
            <a:ext cx="8241957" cy="77027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ZA" sz="1400" dirty="0">
                <a:solidFill>
                  <a:schemeClr val="bg1"/>
                </a:solidFill>
              </a:rPr>
              <a:t>Preparation for session – engagement with exco members, preparing templates etc.</a:t>
            </a:r>
          </a:p>
        </p:txBody>
      </p:sp>
      <p:sp>
        <p:nvSpPr>
          <p:cNvPr id="9" name="Rectangle 8">
            <a:extLst>
              <a:ext uri="{FF2B5EF4-FFF2-40B4-BE49-F238E27FC236}">
                <a16:creationId xmlns:a16="http://schemas.microsoft.com/office/drawing/2014/main" id="{FFD4AE67-214E-E7BC-45A6-9CED2D834E32}"/>
              </a:ext>
            </a:extLst>
          </p:cNvPr>
          <p:cNvSpPr/>
          <p:nvPr/>
        </p:nvSpPr>
        <p:spPr>
          <a:xfrm>
            <a:off x="185057" y="1240744"/>
            <a:ext cx="3777343" cy="3613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0" lang="en-GB" sz="1400" b="1" i="0" u="none" strike="noStrike" kern="1200" cap="none" spc="0" normalizeH="0" baseline="0" noProof="0">
                <a:ln>
                  <a:noFill/>
                </a:ln>
                <a:solidFill>
                  <a:schemeClr val="tx1"/>
                </a:solidFill>
                <a:effectLst/>
                <a:uLnTx/>
                <a:uFillTx/>
                <a:latin typeface="Lato" panose="020F0502020204030203" pitchFamily="34" charset="0"/>
                <a:ea typeface="+mn-ea"/>
                <a:cs typeface="+mn-cs"/>
              </a:rPr>
              <a:t>Proposed Costing </a:t>
            </a:r>
            <a:endParaRPr lang="en-ZA" sz="1400">
              <a:solidFill>
                <a:schemeClr val="tx1"/>
              </a:solidFill>
            </a:endParaRPr>
          </a:p>
        </p:txBody>
      </p:sp>
      <p:cxnSp>
        <p:nvCxnSpPr>
          <p:cNvPr id="10" name="Straight Connector 9">
            <a:extLst>
              <a:ext uri="{FF2B5EF4-FFF2-40B4-BE49-F238E27FC236}">
                <a16:creationId xmlns:a16="http://schemas.microsoft.com/office/drawing/2014/main" id="{FBD61DA5-F9F9-77CB-17E8-BA69775AE8D1}"/>
              </a:ext>
            </a:extLst>
          </p:cNvPr>
          <p:cNvCxnSpPr/>
          <p:nvPr/>
        </p:nvCxnSpPr>
        <p:spPr>
          <a:xfrm flipV="1">
            <a:off x="185057" y="1600200"/>
            <a:ext cx="2891972" cy="1897"/>
          </a:xfrm>
          <a:prstGeom prst="line">
            <a:avLst/>
          </a:prstGeom>
          <a:ln w="19050">
            <a:solidFill>
              <a:schemeClr val="accent6"/>
            </a:solidFill>
          </a:ln>
        </p:spPr>
        <p:style>
          <a:lnRef idx="1">
            <a:schemeClr val="accent1"/>
          </a:lnRef>
          <a:fillRef idx="0">
            <a:schemeClr val="accent1"/>
          </a:fillRef>
          <a:effectRef idx="0">
            <a:schemeClr val="accent1"/>
          </a:effectRef>
          <a:fontRef idx="minor">
            <a:schemeClr val="tx1"/>
          </a:fontRef>
        </p:style>
      </p:cxnSp>
      <p:sp>
        <p:nvSpPr>
          <p:cNvPr id="11" name="Rectangle: Rounded Corners 10">
            <a:extLst>
              <a:ext uri="{FF2B5EF4-FFF2-40B4-BE49-F238E27FC236}">
                <a16:creationId xmlns:a16="http://schemas.microsoft.com/office/drawing/2014/main" id="{9ADD01FD-D031-94D9-807E-29BD0FCC2A57}"/>
              </a:ext>
            </a:extLst>
          </p:cNvPr>
          <p:cNvSpPr/>
          <p:nvPr/>
        </p:nvSpPr>
        <p:spPr>
          <a:xfrm>
            <a:off x="185057" y="3743738"/>
            <a:ext cx="8241957" cy="1155332"/>
          </a:xfrm>
          <a:prstGeom prst="round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solidFill>
                  <a:schemeClr val="tx1"/>
                </a:solidFill>
              </a:rPr>
              <a:t>VAT</a:t>
            </a:r>
            <a:endParaRPr lang="en-ZA" sz="1400">
              <a:solidFill>
                <a:schemeClr val="tx1"/>
              </a:solidFill>
            </a:endParaRPr>
          </a:p>
        </p:txBody>
      </p:sp>
      <p:sp>
        <p:nvSpPr>
          <p:cNvPr id="12" name="Rectangle: Rounded Corners 11">
            <a:extLst>
              <a:ext uri="{FF2B5EF4-FFF2-40B4-BE49-F238E27FC236}">
                <a16:creationId xmlns:a16="http://schemas.microsoft.com/office/drawing/2014/main" id="{9AF0F6DB-7F48-A9C2-FF67-0FFF1572F9AF}"/>
              </a:ext>
            </a:extLst>
          </p:cNvPr>
          <p:cNvSpPr/>
          <p:nvPr/>
        </p:nvSpPr>
        <p:spPr>
          <a:xfrm>
            <a:off x="185057" y="5142813"/>
            <a:ext cx="8241957" cy="1346887"/>
          </a:xfrm>
          <a:prstGeom prst="round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a:solidFill>
                  <a:schemeClr val="tx1"/>
                </a:solidFill>
              </a:rPr>
              <a:t>Total</a:t>
            </a:r>
            <a:endParaRPr lang="en-ZA" sz="1400" b="1">
              <a:solidFill>
                <a:schemeClr val="tx1"/>
              </a:solidFill>
            </a:endParaRPr>
          </a:p>
        </p:txBody>
      </p:sp>
      <p:sp>
        <p:nvSpPr>
          <p:cNvPr id="13" name="Rectangle: Rounded Corners 12">
            <a:extLst>
              <a:ext uri="{FF2B5EF4-FFF2-40B4-BE49-F238E27FC236}">
                <a16:creationId xmlns:a16="http://schemas.microsoft.com/office/drawing/2014/main" id="{249987CC-23E5-61FC-E270-FBF44B8DFD2E}"/>
              </a:ext>
            </a:extLst>
          </p:cNvPr>
          <p:cNvSpPr/>
          <p:nvPr/>
        </p:nvSpPr>
        <p:spPr>
          <a:xfrm>
            <a:off x="8701314" y="1961554"/>
            <a:ext cx="2709636" cy="770270"/>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R</a:t>
            </a:r>
            <a:r>
              <a:rPr lang="en-US" sz="1400" dirty="0">
                <a:solidFill>
                  <a:schemeClr val="tx1"/>
                </a:solidFill>
              </a:rPr>
              <a:t>R 130, 000</a:t>
            </a:r>
            <a:endParaRPr lang="en-ZA" sz="1400" dirty="0"/>
          </a:p>
        </p:txBody>
      </p:sp>
      <p:sp>
        <p:nvSpPr>
          <p:cNvPr id="14" name="Rectangle: Rounded Corners 13">
            <a:extLst>
              <a:ext uri="{FF2B5EF4-FFF2-40B4-BE49-F238E27FC236}">
                <a16:creationId xmlns:a16="http://schemas.microsoft.com/office/drawing/2014/main" id="{5D9F96BA-71B1-7350-5F5A-426292D60133}"/>
              </a:ext>
            </a:extLst>
          </p:cNvPr>
          <p:cNvSpPr/>
          <p:nvPr/>
        </p:nvSpPr>
        <p:spPr>
          <a:xfrm>
            <a:off x="8701314" y="3743738"/>
            <a:ext cx="2709636" cy="1155332"/>
          </a:xfrm>
          <a:prstGeom prst="round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R</a:t>
            </a:r>
            <a:r>
              <a:rPr lang="en-US" sz="1400" dirty="0">
                <a:solidFill>
                  <a:schemeClr val="tx1"/>
                </a:solidFill>
              </a:rPr>
              <a:t>R 37,500</a:t>
            </a:r>
            <a:endParaRPr lang="en-ZA" sz="1400" dirty="0"/>
          </a:p>
        </p:txBody>
      </p:sp>
      <p:sp>
        <p:nvSpPr>
          <p:cNvPr id="15" name="Rectangle: Rounded Corners 14">
            <a:extLst>
              <a:ext uri="{FF2B5EF4-FFF2-40B4-BE49-F238E27FC236}">
                <a16:creationId xmlns:a16="http://schemas.microsoft.com/office/drawing/2014/main" id="{2EDC0B1C-5D2A-EEC6-D4C9-22D07C2A84F7}"/>
              </a:ext>
            </a:extLst>
          </p:cNvPr>
          <p:cNvSpPr/>
          <p:nvPr/>
        </p:nvSpPr>
        <p:spPr>
          <a:xfrm>
            <a:off x="8701314" y="5142813"/>
            <a:ext cx="2709636" cy="1346887"/>
          </a:xfrm>
          <a:prstGeom prst="round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t>R</a:t>
            </a:r>
            <a:r>
              <a:rPr lang="en-US" sz="1400" b="1" dirty="0">
                <a:solidFill>
                  <a:schemeClr val="tx1"/>
                </a:solidFill>
              </a:rPr>
              <a:t>R 287,500</a:t>
            </a:r>
            <a:endParaRPr lang="en-ZA" sz="1400" b="1" dirty="0"/>
          </a:p>
        </p:txBody>
      </p:sp>
      <p:cxnSp>
        <p:nvCxnSpPr>
          <p:cNvPr id="17" name="Straight Connector 16">
            <a:extLst>
              <a:ext uri="{FF2B5EF4-FFF2-40B4-BE49-F238E27FC236}">
                <a16:creationId xmlns:a16="http://schemas.microsoft.com/office/drawing/2014/main" id="{A811C984-47A8-74D0-5F4F-EBAA714B056E}"/>
              </a:ext>
            </a:extLst>
          </p:cNvPr>
          <p:cNvCxnSpPr>
            <a:cxnSpLocks/>
          </p:cNvCxnSpPr>
          <p:nvPr/>
        </p:nvCxnSpPr>
        <p:spPr>
          <a:xfrm>
            <a:off x="8512098" y="5018049"/>
            <a:ext cx="2898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4" name="Rectangle: Rounded Corners 3">
            <a:extLst>
              <a:ext uri="{FF2B5EF4-FFF2-40B4-BE49-F238E27FC236}">
                <a16:creationId xmlns:a16="http://schemas.microsoft.com/office/drawing/2014/main" id="{C3DB92CB-312D-B70A-89F9-D8630EF74312}"/>
              </a:ext>
            </a:extLst>
          </p:cNvPr>
          <p:cNvSpPr/>
          <p:nvPr/>
        </p:nvSpPr>
        <p:spPr>
          <a:xfrm>
            <a:off x="185057" y="2851597"/>
            <a:ext cx="8241957" cy="77027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bg1"/>
                </a:solidFill>
              </a:rPr>
              <a:t>Facilitate exco session </a:t>
            </a:r>
            <a:endParaRPr lang="en-ZA" sz="1400" dirty="0">
              <a:solidFill>
                <a:schemeClr val="bg1"/>
              </a:solidFill>
            </a:endParaRPr>
          </a:p>
        </p:txBody>
      </p:sp>
      <p:sp>
        <p:nvSpPr>
          <p:cNvPr id="5" name="Rectangle: Rounded Corners 4">
            <a:extLst>
              <a:ext uri="{FF2B5EF4-FFF2-40B4-BE49-F238E27FC236}">
                <a16:creationId xmlns:a16="http://schemas.microsoft.com/office/drawing/2014/main" id="{1991FDCC-C132-A3DF-1645-B8A389686279}"/>
              </a:ext>
            </a:extLst>
          </p:cNvPr>
          <p:cNvSpPr/>
          <p:nvPr/>
        </p:nvSpPr>
        <p:spPr>
          <a:xfrm>
            <a:off x="8701314" y="2848705"/>
            <a:ext cx="2709636" cy="770270"/>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R</a:t>
            </a:r>
            <a:r>
              <a:rPr lang="en-US" sz="1400" dirty="0">
                <a:solidFill>
                  <a:schemeClr val="tx1"/>
                </a:solidFill>
              </a:rPr>
              <a:t>R 120, 000</a:t>
            </a:r>
            <a:endParaRPr lang="en-ZA" sz="1400" dirty="0"/>
          </a:p>
        </p:txBody>
      </p:sp>
    </p:spTree>
    <p:extLst>
      <p:ext uri="{BB962C8B-B14F-4D97-AF65-F5344CB8AC3E}">
        <p14:creationId xmlns:p14="http://schemas.microsoft.com/office/powerpoint/2010/main" val="12875658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DE69D8-78F8-4EE3-5A42-082A5083159A}"/>
              </a:ext>
            </a:extLst>
          </p:cNvPr>
          <p:cNvSpPr>
            <a:spLocks noGrp="1"/>
          </p:cNvSpPr>
          <p:nvPr>
            <p:ph type="title"/>
          </p:nvPr>
        </p:nvSpPr>
        <p:spPr>
          <a:xfrm>
            <a:off x="177801" y="44451"/>
            <a:ext cx="10979596" cy="1013950"/>
          </a:xfrm>
        </p:spPr>
        <p:txBody>
          <a:bodyPr>
            <a:normAutofit/>
          </a:bodyPr>
          <a:lstStyle/>
          <a:p>
            <a:r>
              <a:rPr lang="en-US" sz="2400"/>
              <a:t>The session will be facilitated by an experienced and skilled team</a:t>
            </a:r>
            <a:endParaRPr lang="en-ZA" sz="2200"/>
          </a:p>
        </p:txBody>
      </p:sp>
      <p:sp>
        <p:nvSpPr>
          <p:cNvPr id="9" name="Rectangle: Rounded Corners 8">
            <a:extLst>
              <a:ext uri="{FF2B5EF4-FFF2-40B4-BE49-F238E27FC236}">
                <a16:creationId xmlns:a16="http://schemas.microsoft.com/office/drawing/2014/main" id="{ECCB6FD6-DD17-8572-C5E6-D15E958113FC}"/>
              </a:ext>
            </a:extLst>
          </p:cNvPr>
          <p:cNvSpPr/>
          <p:nvPr/>
        </p:nvSpPr>
        <p:spPr>
          <a:xfrm>
            <a:off x="1604423" y="1233489"/>
            <a:ext cx="9801421" cy="1742959"/>
          </a:xfrm>
          <a:prstGeom prst="round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400" rtl="0" eaLnBrk="1" fontAlgn="auto" latinLnBrk="0" hangingPunct="1">
              <a:lnSpc>
                <a:spcPct val="115000"/>
              </a:lnSpc>
              <a:spcBef>
                <a:spcPts val="0"/>
              </a:spcBef>
              <a:buClrTx/>
              <a:buSzTx/>
              <a:buFontTx/>
              <a:buNone/>
              <a:tabLst/>
              <a:defRPr/>
            </a:pPr>
            <a:r>
              <a:rPr kumimoji="0" lang="en-GB" sz="1000" b="1" i="0" u="none" strike="noStrike" kern="1200" cap="none" spc="0" normalizeH="0" baseline="0" noProof="0" dirty="0">
                <a:ln>
                  <a:noFill/>
                </a:ln>
                <a:solidFill>
                  <a:prstClr val="black"/>
                </a:solidFill>
                <a:effectLst/>
                <a:uLnTx/>
                <a:uFillTx/>
                <a:latin typeface="Lato" panose="020F0502020204030203" pitchFamily="34" charset="0"/>
                <a:ea typeface="Calibri" panose="020F0502020204030204" pitchFamily="34" charset="0"/>
                <a:cs typeface="Arial" panose="020B0604020202020204" pitchFamily="34" charset="0"/>
              </a:rPr>
              <a:t>Henry Gilfillan</a:t>
            </a:r>
            <a:r>
              <a:rPr kumimoji="0" lang="en-GB" sz="1000" b="0" i="0" u="none" strike="noStrike" kern="1200" cap="none" spc="0" normalizeH="0" baseline="0" noProof="0" dirty="0">
                <a:ln>
                  <a:noFill/>
                </a:ln>
                <a:solidFill>
                  <a:prstClr val="black"/>
                </a:solidFill>
                <a:effectLst/>
                <a:uLnTx/>
                <a:uFillTx/>
                <a:latin typeface="Lato" panose="020F0502020204030203" pitchFamily="34" charset="0"/>
                <a:ea typeface="Calibri" panose="020F0502020204030204" pitchFamily="34" charset="0"/>
                <a:cs typeface="Arial" panose="020B0604020202020204" pitchFamily="34" charset="0"/>
              </a:rPr>
              <a:t> is the Integrated Energy Practice Leader at AIA. Henry holds an Honours degree in Accounting Science (</a:t>
            </a:r>
            <a:r>
              <a:rPr kumimoji="0" lang="en-GB" sz="1000" b="0" i="0" u="none" strike="noStrike" kern="1200" cap="none" spc="0" normalizeH="0" baseline="0" noProof="0" dirty="0" err="1">
                <a:ln>
                  <a:noFill/>
                </a:ln>
                <a:solidFill>
                  <a:prstClr val="black"/>
                </a:solidFill>
                <a:effectLst/>
                <a:uLnTx/>
                <a:uFillTx/>
                <a:latin typeface="Lato" panose="020F0502020204030203" pitchFamily="34" charset="0"/>
                <a:ea typeface="Calibri" panose="020F0502020204030204" pitchFamily="34" charset="0"/>
                <a:cs typeface="Arial" panose="020B0604020202020204" pitchFamily="34" charset="0"/>
              </a:rPr>
              <a:t>BCompt</a:t>
            </a:r>
            <a:r>
              <a:rPr kumimoji="0" lang="en-GB" sz="1000" b="0" i="0" u="none" strike="noStrike" kern="1200" cap="none" spc="0" normalizeH="0" baseline="0" noProof="0" dirty="0">
                <a:ln>
                  <a:noFill/>
                </a:ln>
                <a:solidFill>
                  <a:prstClr val="black"/>
                </a:solidFill>
                <a:effectLst/>
                <a:uLnTx/>
                <a:uFillTx/>
                <a:latin typeface="Lato" panose="020F0502020204030203" pitchFamily="34" charset="0"/>
                <a:ea typeface="Calibri" panose="020F0502020204030204" pitchFamily="34" charset="0"/>
                <a:cs typeface="Arial" panose="020B0604020202020204" pitchFamily="34" charset="0"/>
              </a:rPr>
              <a:t> Hons) from the University of South Africa. He has 20 years’ experience in finance, strategy, business development and regulatory engagement in the energy and chemical industries. He held senior positions in the areas of strategy, regulatory engagement and business development at South Africa’s leading energy and chemicals company. During this time, he successfully led several multi-disciplinary teams on projects ranging from scenario and strategy development to the development of gas supply options for South Africa and engagements on climate change, carbon tax and energy policy. Henry was most recently the Vice President of Strategic Intelligence at Sasol, some notable achievements in his time at Sasol were: </a:t>
            </a:r>
            <a:endParaRPr kumimoji="0" lang="en-ZA" sz="1000" b="0" i="0" u="none" strike="noStrike" kern="1200" cap="none" spc="0" normalizeH="0" baseline="0" noProof="0" dirty="0">
              <a:ln>
                <a:noFill/>
              </a:ln>
              <a:solidFill>
                <a:prstClr val="black"/>
              </a:solidFill>
              <a:effectLst/>
              <a:uLnTx/>
              <a:uFillTx/>
              <a:latin typeface="Lato" panose="020F0502020204030203" pitchFamily="34" charset="0"/>
              <a:ea typeface="Calibri" panose="020F0502020204030204" pitchFamily="34" charset="0"/>
              <a:cs typeface="Arial" panose="020B0604020202020204" pitchFamily="34" charset="0"/>
            </a:endParaRPr>
          </a:p>
          <a:p>
            <a:pPr marL="342900" marR="0" lvl="0" indent="-342900" algn="just" defTabSz="914400" rtl="0" eaLnBrk="1" fontAlgn="auto" latinLnBrk="0" hangingPunct="1">
              <a:lnSpc>
                <a:spcPct val="115000"/>
              </a:lnSpc>
              <a:spcBef>
                <a:spcPts val="0"/>
              </a:spcBef>
              <a:spcAft>
                <a:spcPts val="0"/>
              </a:spcAft>
              <a:buClrTx/>
              <a:buSzTx/>
              <a:buFont typeface="Lato" panose="020F0502020204030203" pitchFamily="34" charset="0"/>
              <a:buChar char="•"/>
              <a:tabLst/>
              <a:defRPr/>
            </a:pPr>
            <a:r>
              <a:rPr kumimoji="0" lang="en-GB" sz="1000" b="0" i="0" u="none" strike="noStrike" kern="1200" cap="none" spc="0" normalizeH="0" baseline="0" noProof="0" dirty="0">
                <a:ln>
                  <a:noFill/>
                </a:ln>
                <a:solidFill>
                  <a:prstClr val="black"/>
                </a:solidFill>
                <a:effectLst/>
                <a:uLnTx/>
                <a:uFillTx/>
                <a:latin typeface="Lato" panose="020F0502020204030203" pitchFamily="34" charset="0"/>
                <a:ea typeface="Calibri" panose="020F0502020204030204" pitchFamily="34" charset="0"/>
                <a:cs typeface="Arial" panose="020B0604020202020204" pitchFamily="34" charset="0"/>
              </a:rPr>
              <a:t>The conceptualisation, development and negotiation of an innovative competition law remedy that allowed Sasol to settle an abuse-of-dominance competition law case against it in its fertiliser business;</a:t>
            </a:r>
            <a:endParaRPr kumimoji="0" lang="en-ZA" sz="1000" b="0" i="0" u="none" strike="noStrike" kern="1200" cap="none" spc="0" normalizeH="0" baseline="0" noProof="0" dirty="0">
              <a:ln>
                <a:noFill/>
              </a:ln>
              <a:solidFill>
                <a:prstClr val="black"/>
              </a:solidFill>
              <a:effectLst/>
              <a:uLnTx/>
              <a:uFillTx/>
              <a:latin typeface="Lato" panose="020F0502020204030203" pitchFamily="34" charset="0"/>
              <a:ea typeface="Calibri" panose="020F0502020204030204" pitchFamily="34" charset="0"/>
              <a:cs typeface="Arial" panose="020B0604020202020204" pitchFamily="34" charset="0"/>
            </a:endParaRPr>
          </a:p>
          <a:p>
            <a:pPr marL="342900" marR="0" lvl="0" indent="-342900" algn="just" defTabSz="914400" rtl="0" eaLnBrk="1" fontAlgn="auto" latinLnBrk="0" hangingPunct="1">
              <a:lnSpc>
                <a:spcPct val="115000"/>
              </a:lnSpc>
              <a:spcBef>
                <a:spcPts val="0"/>
              </a:spcBef>
              <a:spcAft>
                <a:spcPts val="600"/>
              </a:spcAft>
              <a:buClrTx/>
              <a:buSzTx/>
              <a:buFont typeface="Lato" panose="020F0502020204030203" pitchFamily="34" charset="0"/>
              <a:buChar char="•"/>
              <a:tabLst/>
              <a:defRPr/>
            </a:pPr>
            <a:r>
              <a:rPr kumimoji="0" lang="en-GB" sz="1000" b="0" i="0" u="none" strike="noStrike" kern="1200" cap="none" spc="0" normalizeH="0" baseline="0" noProof="0" dirty="0">
                <a:ln>
                  <a:noFill/>
                </a:ln>
                <a:solidFill>
                  <a:prstClr val="black"/>
                </a:solidFill>
                <a:effectLst/>
                <a:uLnTx/>
                <a:uFillTx/>
                <a:latin typeface="Lato" panose="020F0502020204030203" pitchFamily="34" charset="0"/>
                <a:ea typeface="Calibri" panose="020F0502020204030204" pitchFamily="34" charset="0"/>
                <a:cs typeface="Arial" panose="020B0604020202020204" pitchFamily="34" charset="0"/>
              </a:rPr>
              <a:t>The formulation of a 2050 strategy for Sasol’s southern African business that formed the basis of the company’s decision to more aggressively pursue gas resources and lower carbon alternatives;</a:t>
            </a:r>
            <a:endParaRPr kumimoji="0" lang="en-ZA" sz="10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11" name="Group 10">
            <a:extLst>
              <a:ext uri="{FF2B5EF4-FFF2-40B4-BE49-F238E27FC236}">
                <a16:creationId xmlns:a16="http://schemas.microsoft.com/office/drawing/2014/main" id="{0FD7EA23-1415-1B60-965C-CE2B380277D2}"/>
              </a:ext>
            </a:extLst>
          </p:cNvPr>
          <p:cNvGrpSpPr/>
          <p:nvPr/>
        </p:nvGrpSpPr>
        <p:grpSpPr>
          <a:xfrm>
            <a:off x="177798" y="1242383"/>
            <a:ext cx="1039270" cy="1734065"/>
            <a:chOff x="177798" y="1275513"/>
            <a:chExt cx="1039270" cy="1734065"/>
          </a:xfrm>
        </p:grpSpPr>
        <p:pic>
          <p:nvPicPr>
            <p:cNvPr id="10" name="Picture 9">
              <a:extLst>
                <a:ext uri="{FF2B5EF4-FFF2-40B4-BE49-F238E27FC236}">
                  <a16:creationId xmlns:a16="http://schemas.microsoft.com/office/drawing/2014/main" id="{D4E72910-3E98-EBB5-10AD-33BC3067774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auto">
            <a:xfrm>
              <a:off x="177798" y="1275513"/>
              <a:ext cx="1039270" cy="1437726"/>
            </a:xfrm>
            <a:prstGeom prst="rect">
              <a:avLst/>
            </a:prstGeom>
            <a:noFill/>
          </p:spPr>
        </p:pic>
        <p:sp>
          <p:nvSpPr>
            <p:cNvPr id="4" name="Rectangle 3">
              <a:extLst>
                <a:ext uri="{FF2B5EF4-FFF2-40B4-BE49-F238E27FC236}">
                  <a16:creationId xmlns:a16="http://schemas.microsoft.com/office/drawing/2014/main" id="{05A2F911-2EAA-5CE4-09A6-0ED0798D5E08}"/>
                </a:ext>
              </a:extLst>
            </p:cNvPr>
            <p:cNvSpPr/>
            <p:nvPr/>
          </p:nvSpPr>
          <p:spPr>
            <a:xfrm>
              <a:off x="177799" y="2667817"/>
              <a:ext cx="1039269" cy="34176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0" lang="en-GB" sz="1200" b="1" i="0" u="none" strike="noStrike" kern="1200" cap="none" spc="0" normalizeH="0" baseline="0" noProof="0">
                  <a:ln>
                    <a:noFill/>
                  </a:ln>
                  <a:solidFill>
                    <a:schemeClr val="bg1"/>
                  </a:solidFill>
                  <a:effectLst/>
                  <a:uLnTx/>
                  <a:uFillTx/>
                  <a:latin typeface="Lato" panose="020F0502020204030203" pitchFamily="34" charset="0"/>
                  <a:ea typeface="+mn-ea"/>
                  <a:cs typeface="+mn-cs"/>
                </a:rPr>
                <a:t>Henry Gilfillan </a:t>
              </a:r>
              <a:endParaRPr lang="en-ZA" sz="1200">
                <a:solidFill>
                  <a:schemeClr val="bg1"/>
                </a:solidFill>
              </a:endParaRPr>
            </a:p>
          </p:txBody>
        </p:sp>
      </p:grpSp>
      <p:sp>
        <p:nvSpPr>
          <p:cNvPr id="13" name="Rectangle: Rounded Corners 12">
            <a:extLst>
              <a:ext uri="{FF2B5EF4-FFF2-40B4-BE49-F238E27FC236}">
                <a16:creationId xmlns:a16="http://schemas.microsoft.com/office/drawing/2014/main" id="{33394F7E-2B8E-4BD3-D1F3-A80299696818}"/>
              </a:ext>
            </a:extLst>
          </p:cNvPr>
          <p:cNvSpPr/>
          <p:nvPr/>
        </p:nvSpPr>
        <p:spPr>
          <a:xfrm>
            <a:off x="1604423" y="4873607"/>
            <a:ext cx="9802368" cy="1616094"/>
          </a:xfrm>
          <a:prstGeom prst="round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0000"/>
                </a:solidFill>
                <a:effectLst/>
                <a:uLnTx/>
                <a:uFillTx/>
                <a:latin typeface="Lato" panose="020F0502020204030203" pitchFamily="34" charset="0"/>
                <a:ea typeface="+mn-ea"/>
                <a:cs typeface="+mn-cs"/>
              </a:rPr>
              <a:t>Ayodele Morobi</a:t>
            </a:r>
            <a:r>
              <a:rPr kumimoji="0" lang="en-GB" sz="1000" b="0" i="0" u="none" strike="noStrike" kern="1200" cap="none" spc="0" normalizeH="0" baseline="0" noProof="0">
                <a:ln>
                  <a:noFill/>
                </a:ln>
                <a:solidFill>
                  <a:srgbClr val="000000"/>
                </a:solidFill>
                <a:effectLst/>
                <a:uLnTx/>
                <a:uFillTx/>
                <a:latin typeface="Lato" panose="020F0502020204030203" pitchFamily="34" charset="0"/>
                <a:ea typeface="+mn-ea"/>
                <a:cs typeface="+mn-cs"/>
              </a:rPr>
              <a:t> is a consultant at AIA and holds a BSc Honours in Chemical Engineering. She is a dynamic thinker with experience in innovative problem solving. Since joining AIA, she has specialised in market analysis, business model design and strategy development. She is particularly skilled in research and analysis, problem framing and strategic thinking.</a:t>
            </a:r>
            <a:endParaRPr kumimoji="0" lang="en-ZA"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6" name="Group 15">
            <a:extLst>
              <a:ext uri="{FF2B5EF4-FFF2-40B4-BE49-F238E27FC236}">
                <a16:creationId xmlns:a16="http://schemas.microsoft.com/office/drawing/2014/main" id="{7DA39E42-B84A-A6B3-E6B6-7FEDE8F66697}"/>
              </a:ext>
            </a:extLst>
          </p:cNvPr>
          <p:cNvGrpSpPr/>
          <p:nvPr/>
        </p:nvGrpSpPr>
        <p:grpSpPr>
          <a:xfrm>
            <a:off x="178746" y="4873606"/>
            <a:ext cx="1039269" cy="1622006"/>
            <a:chOff x="178746" y="5012752"/>
            <a:chExt cx="1039269" cy="1622006"/>
          </a:xfrm>
        </p:grpSpPr>
        <p:pic>
          <p:nvPicPr>
            <p:cNvPr id="15" name="Picture 14">
              <a:extLst>
                <a:ext uri="{FF2B5EF4-FFF2-40B4-BE49-F238E27FC236}">
                  <a16:creationId xmlns:a16="http://schemas.microsoft.com/office/drawing/2014/main" id="{7E4B5629-AD22-2332-FE43-52B267C074AA}"/>
                </a:ext>
              </a:extLst>
            </p:cNvPr>
            <p:cNvPicPr>
              <a:picLocks noChangeAspect="1"/>
            </p:cNvPicPr>
            <p:nvPr/>
          </p:nvPicPr>
          <p:blipFill rotWithShape="1">
            <a:blip r:embed="rId3">
              <a:extLst>
                <a:ext uri="{28A0092B-C50C-407E-A947-70E740481C1C}">
                  <a14:useLocalDpi xmlns:a14="http://schemas.microsoft.com/office/drawing/2010/main" val="0"/>
                </a:ext>
              </a:extLst>
            </a:blip>
            <a:srcRect t="7723" r="7469" b="7723"/>
            <a:stretch/>
          </p:blipFill>
          <p:spPr>
            <a:xfrm>
              <a:off x="178746" y="5012752"/>
              <a:ext cx="1039269" cy="1309892"/>
            </a:xfrm>
            <a:prstGeom prst="rect">
              <a:avLst/>
            </a:prstGeom>
          </p:spPr>
        </p:pic>
        <p:sp>
          <p:nvSpPr>
            <p:cNvPr id="5" name="Rectangle 4">
              <a:extLst>
                <a:ext uri="{FF2B5EF4-FFF2-40B4-BE49-F238E27FC236}">
                  <a16:creationId xmlns:a16="http://schemas.microsoft.com/office/drawing/2014/main" id="{28593D6D-B354-38E7-C42E-1495ED8C381C}"/>
                </a:ext>
              </a:extLst>
            </p:cNvPr>
            <p:cNvSpPr/>
            <p:nvPr/>
          </p:nvSpPr>
          <p:spPr>
            <a:xfrm>
              <a:off x="178748" y="6322644"/>
              <a:ext cx="1039267" cy="3121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0" lang="en-GB" sz="1200" b="1" i="0" u="none" strike="noStrike" kern="1200" cap="none" spc="0" normalizeH="0" baseline="0" noProof="0" dirty="0">
                  <a:ln>
                    <a:noFill/>
                  </a:ln>
                  <a:solidFill>
                    <a:schemeClr val="bg1"/>
                  </a:solidFill>
                  <a:effectLst/>
                  <a:uLnTx/>
                  <a:uFillTx/>
                  <a:latin typeface="Lato" panose="020F0502020204030203" pitchFamily="34" charset="0"/>
                  <a:ea typeface="+mn-ea"/>
                  <a:cs typeface="+mn-cs"/>
                </a:rPr>
                <a:t>Ayodele Morobi </a:t>
              </a:r>
              <a:endParaRPr lang="en-ZA" sz="1200" dirty="0">
                <a:solidFill>
                  <a:schemeClr val="bg1"/>
                </a:solidFill>
              </a:endParaRPr>
            </a:p>
          </p:txBody>
        </p:sp>
      </p:grpSp>
      <p:sp>
        <p:nvSpPr>
          <p:cNvPr id="8" name="Rectangle: Rounded Corners 7">
            <a:extLst>
              <a:ext uri="{FF2B5EF4-FFF2-40B4-BE49-F238E27FC236}">
                <a16:creationId xmlns:a16="http://schemas.microsoft.com/office/drawing/2014/main" id="{44EC78EC-48F8-5984-88DE-052E83F60878}"/>
              </a:ext>
            </a:extLst>
          </p:cNvPr>
          <p:cNvSpPr/>
          <p:nvPr/>
        </p:nvSpPr>
        <p:spPr>
          <a:xfrm>
            <a:off x="1604423" y="3059312"/>
            <a:ext cx="9802368" cy="1731432"/>
          </a:xfrm>
          <a:prstGeom prst="round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defTabSz="914400">
              <a:defRPr/>
            </a:pPr>
            <a:r>
              <a:rPr lang="en-GB" sz="1000" b="1" dirty="0">
                <a:solidFill>
                  <a:srgbClr val="000000"/>
                </a:solidFill>
                <a:latin typeface="Lato" panose="020F0502020204030203" pitchFamily="34" charset="0"/>
              </a:rPr>
              <a:t>Manish Ramjewon i</a:t>
            </a:r>
            <a:r>
              <a:rPr lang="en-GB" sz="1000" dirty="0">
                <a:solidFill>
                  <a:srgbClr val="000000"/>
                </a:solidFill>
                <a:latin typeface="Lato" panose="020F0502020204030203" pitchFamily="34" charset="0"/>
              </a:rPr>
              <a:t>s a versatile and accomplished professional, currently pursuing a Ph.D. in Hydrology at the University of KwaZulu-Natal. Known for scholarly contributions with two published research papers. He holds a diverse academic background including an MSc in Hydrology complemented by qualifications in Civil Engineering and Geography.</a:t>
            </a:r>
          </a:p>
          <a:p>
            <a:pPr lvl="0" defTabSz="914400">
              <a:defRPr/>
            </a:pPr>
            <a:endParaRPr lang="en-GB" sz="1000" dirty="0">
              <a:solidFill>
                <a:srgbClr val="000000"/>
              </a:solidFill>
              <a:latin typeface="Lato" panose="020F0502020204030203" pitchFamily="34" charset="0"/>
            </a:endParaRPr>
          </a:p>
          <a:p>
            <a:pPr lvl="0" defTabSz="914400">
              <a:defRPr/>
            </a:pPr>
            <a:r>
              <a:rPr lang="en-GB" sz="1000" dirty="0">
                <a:solidFill>
                  <a:srgbClr val="000000"/>
                </a:solidFill>
                <a:latin typeface="Lato" panose="020F0502020204030203" pitchFamily="34" charset="0"/>
              </a:rPr>
              <a:t>His expertise transcends academia into the practical realm where he has crafted tools that drive efficiency and smart decision-making, addressed revenue leakage with innovative solutions and delivered data-driven insights for listed companies which reflects a commitment to actionable analytics. He played a pivotal role in creating automated data processing models, amplifying client productivity. </a:t>
            </a:r>
            <a:endParaRPr kumimoji="0" lang="en-ZA"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14" name="Group 13">
            <a:extLst>
              <a:ext uri="{FF2B5EF4-FFF2-40B4-BE49-F238E27FC236}">
                <a16:creationId xmlns:a16="http://schemas.microsoft.com/office/drawing/2014/main" id="{EA509984-E92F-68A9-7B0D-4C54A3A876BE}"/>
              </a:ext>
            </a:extLst>
          </p:cNvPr>
          <p:cNvGrpSpPr/>
          <p:nvPr/>
        </p:nvGrpSpPr>
        <p:grpSpPr>
          <a:xfrm>
            <a:off x="177800" y="3059311"/>
            <a:ext cx="1051197" cy="1731432"/>
            <a:chOff x="177800" y="3057989"/>
            <a:chExt cx="1051197" cy="1731432"/>
          </a:xfrm>
        </p:grpSpPr>
        <p:sp>
          <p:nvSpPr>
            <p:cNvPr id="12" name="Rectangle 11">
              <a:extLst>
                <a:ext uri="{FF2B5EF4-FFF2-40B4-BE49-F238E27FC236}">
                  <a16:creationId xmlns:a16="http://schemas.microsoft.com/office/drawing/2014/main" id="{7BC15703-121D-8F1D-03DC-54E748C3BD16}"/>
                </a:ext>
              </a:extLst>
            </p:cNvPr>
            <p:cNvSpPr/>
            <p:nvPr/>
          </p:nvSpPr>
          <p:spPr>
            <a:xfrm>
              <a:off x="177801" y="4477307"/>
              <a:ext cx="1051196" cy="3121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0" lang="en-GB" sz="1200" b="1" i="0" u="none" strike="noStrike" kern="1200" cap="none" spc="0" normalizeH="0" baseline="0" noProof="0" dirty="0">
                  <a:ln>
                    <a:noFill/>
                  </a:ln>
                  <a:solidFill>
                    <a:schemeClr val="bg1"/>
                  </a:solidFill>
                  <a:effectLst/>
                  <a:uLnTx/>
                  <a:uFillTx/>
                  <a:latin typeface="Lato" panose="020F0502020204030203" pitchFamily="34" charset="0"/>
                  <a:ea typeface="+mn-ea"/>
                  <a:cs typeface="+mn-cs"/>
                </a:rPr>
                <a:t>Manish Ramjeawon</a:t>
              </a:r>
              <a:endParaRPr lang="en-ZA" sz="1200" dirty="0">
                <a:solidFill>
                  <a:schemeClr val="bg1"/>
                </a:solidFill>
              </a:endParaRPr>
            </a:p>
          </p:txBody>
        </p:sp>
        <p:pic>
          <p:nvPicPr>
            <p:cNvPr id="3" name="Picture 2">
              <a:extLst>
                <a:ext uri="{FF2B5EF4-FFF2-40B4-BE49-F238E27FC236}">
                  <a16:creationId xmlns:a16="http://schemas.microsoft.com/office/drawing/2014/main" id="{738119D3-F888-0E09-EC7E-AD014C9BB06B}"/>
                </a:ext>
              </a:extLst>
            </p:cNvPr>
            <p:cNvPicPr>
              <a:picLocks noChangeAspect="1"/>
            </p:cNvPicPr>
            <p:nvPr/>
          </p:nvPicPr>
          <p:blipFill rotWithShape="1">
            <a:blip r:embed="rId4">
              <a:extLst>
                <a:ext uri="{28A0092B-C50C-407E-A947-70E740481C1C}">
                  <a14:useLocalDpi xmlns:a14="http://schemas.microsoft.com/office/drawing/2010/main" val="0"/>
                </a:ext>
              </a:extLst>
            </a:blip>
            <a:srcRect b="28849"/>
            <a:stretch/>
          </p:blipFill>
          <p:spPr bwMode="auto">
            <a:xfrm>
              <a:off x="177800" y="3057989"/>
              <a:ext cx="1051197" cy="1436400"/>
            </a:xfrm>
            <a:prstGeom prst="rect">
              <a:avLst/>
            </a:prstGeom>
            <a:noFill/>
            <a:ln>
              <a:noFill/>
            </a:ln>
            <a:extLst>
              <a:ext uri="{53640926-AAD7-44D8-BBD7-CCE9431645EC}">
                <a14:shadowObscured xmlns:a14="http://schemas.microsoft.com/office/drawing/2010/main"/>
              </a:ext>
            </a:extLst>
          </p:spPr>
        </p:pic>
      </p:grpSp>
    </p:spTree>
    <p:extLst>
      <p:ext uri="{BB962C8B-B14F-4D97-AF65-F5344CB8AC3E}">
        <p14:creationId xmlns:p14="http://schemas.microsoft.com/office/powerpoint/2010/main" val="14188335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B197DCD-6FEF-69ED-8C8A-D9B6E75F8C6B}"/>
              </a:ext>
            </a:extLst>
          </p:cNvPr>
          <p:cNvSpPr>
            <a:spLocks noGrp="1"/>
          </p:cNvSpPr>
          <p:nvPr>
            <p:ph type="body" sz="quarter" idx="10"/>
          </p:nvPr>
        </p:nvSpPr>
        <p:spPr/>
        <p:txBody>
          <a:bodyPr/>
          <a:lstStyle/>
          <a:p>
            <a:r>
              <a:rPr lang="en-ZA"/>
              <a:t>Thank you</a:t>
            </a:r>
          </a:p>
        </p:txBody>
      </p:sp>
    </p:spTree>
    <p:extLst>
      <p:ext uri="{BB962C8B-B14F-4D97-AF65-F5344CB8AC3E}">
        <p14:creationId xmlns:p14="http://schemas.microsoft.com/office/powerpoint/2010/main" val="464517499"/>
      </p:ext>
    </p:extLst>
  </p:cSld>
  <p:clrMapOvr>
    <a:masterClrMapping/>
  </p:clrMapOvr>
</p:sld>
</file>

<file path=ppt/theme/theme1.xml><?xml version="1.0" encoding="utf-8"?>
<a:theme xmlns:a="http://schemas.openxmlformats.org/drawingml/2006/main" name="Office Theme">
  <a:themeElements>
    <a:clrScheme name="AIA_2017">
      <a:dk1>
        <a:sysClr val="windowText" lastClr="000000"/>
      </a:dk1>
      <a:lt1>
        <a:sysClr val="window" lastClr="FFFFFF"/>
      </a:lt1>
      <a:dk2>
        <a:srgbClr val="11151A"/>
      </a:dk2>
      <a:lt2>
        <a:srgbClr val="E7E6E6"/>
      </a:lt2>
      <a:accent1>
        <a:srgbClr val="103959"/>
      </a:accent1>
      <a:accent2>
        <a:srgbClr val="2D6196"/>
      </a:accent2>
      <a:accent3>
        <a:srgbClr val="BDBEC1"/>
      </a:accent3>
      <a:accent4>
        <a:srgbClr val="0B8CB2"/>
      </a:accent4>
      <a:accent5>
        <a:srgbClr val="EF462F"/>
      </a:accent5>
      <a:accent6>
        <a:srgbClr val="FAA11C"/>
      </a:accent6>
      <a:hlink>
        <a:srgbClr val="0563C1"/>
      </a:hlink>
      <a:folHlink>
        <a:srgbClr val="954F72"/>
      </a:folHlink>
    </a:clrScheme>
    <a:fontScheme name="AIA_2017">
      <a:majorFont>
        <a:latin typeface="Lato"/>
        <a:ea typeface=""/>
        <a:cs typeface=""/>
      </a:majorFont>
      <a:minorFont>
        <a:latin typeface="Lat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265cb39c-7109-435c-af5d-13dc21a2db6b">
      <Terms xmlns="http://schemas.microsoft.com/office/infopath/2007/PartnerControls"/>
    </lcf76f155ced4ddcb4097134ff3c332f>
    <TaxCatchAll xmlns="62b85a0e-09bb-4b0f-bd28-e34020cdc070"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B14DAA3CC024F49A081857B4C9CD92A" ma:contentTypeVersion="16" ma:contentTypeDescription="Create a new document." ma:contentTypeScope="" ma:versionID="7a2739e5162f0f721726a4d476057ff4">
  <xsd:schema xmlns:xsd="http://www.w3.org/2001/XMLSchema" xmlns:xs="http://www.w3.org/2001/XMLSchema" xmlns:p="http://schemas.microsoft.com/office/2006/metadata/properties" xmlns:ns2="265cb39c-7109-435c-af5d-13dc21a2db6b" xmlns:ns3="62b85a0e-09bb-4b0f-bd28-e34020cdc070" targetNamespace="http://schemas.microsoft.com/office/2006/metadata/properties" ma:root="true" ma:fieldsID="c05f177e1659a403f60a653578ffea88" ns2:_="" ns3:_="">
    <xsd:import namespace="265cb39c-7109-435c-af5d-13dc21a2db6b"/>
    <xsd:import namespace="62b85a0e-09bb-4b0f-bd28-e34020cdc07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5cb39c-7109-435c-af5d-13dc21a2d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f3d1728-64fa-4f01-bb7d-5585de3a980b"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62b85a0e-09bb-4b0f-bd28-e34020cdc070"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ea30b523-d142-43af-a6dc-b2b30496af70}" ma:internalName="TaxCatchAll" ma:showField="CatchAllData" ma:web="62b85a0e-09bb-4b0f-bd28-e34020cdc0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E0AC09D-7AB9-4C7E-89AA-55CFDED1BCB9}">
  <ds:schemaRefs>
    <ds:schemaRef ds:uri="http://schemas.microsoft.com/sharepoint/v3/contenttype/forms"/>
  </ds:schemaRefs>
</ds:datastoreItem>
</file>

<file path=customXml/itemProps2.xml><?xml version="1.0" encoding="utf-8"?>
<ds:datastoreItem xmlns:ds="http://schemas.openxmlformats.org/officeDocument/2006/customXml" ds:itemID="{89FA9FA0-2CB2-436E-A336-3A77ADFE4CF1}">
  <ds:schemaRefs>
    <ds:schemaRef ds:uri="http://purl.org/dc/elements/1.1/"/>
    <ds:schemaRef ds:uri="http://schemas.microsoft.com/office/2006/documentManagement/types"/>
    <ds:schemaRef ds:uri="http://schemas.microsoft.com/office/infopath/2007/PartnerControls"/>
    <ds:schemaRef ds:uri="265cb39c-7109-435c-af5d-13dc21a2db6b"/>
    <ds:schemaRef ds:uri="http://purl.org/dc/terms/"/>
    <ds:schemaRef ds:uri="http://schemas.openxmlformats.org/package/2006/metadata/core-properties"/>
    <ds:schemaRef ds:uri="http://www.w3.org/XML/1998/namespace"/>
    <ds:schemaRef ds:uri="62b85a0e-09bb-4b0f-bd28-e34020cdc070"/>
    <ds:schemaRef ds:uri="http://schemas.microsoft.com/office/2006/metadata/properties"/>
    <ds:schemaRef ds:uri="http://purl.org/dc/dcmitype/"/>
  </ds:schemaRefs>
</ds:datastoreItem>
</file>

<file path=customXml/itemProps3.xml><?xml version="1.0" encoding="utf-8"?>
<ds:datastoreItem xmlns:ds="http://schemas.openxmlformats.org/officeDocument/2006/customXml" ds:itemID="{F6985604-F733-4710-8D6E-9F62C6A0C979}">
  <ds:schemaRefs>
    <ds:schemaRef ds:uri="265cb39c-7109-435c-af5d-13dc21a2db6b"/>
    <ds:schemaRef ds:uri="62b85a0e-09bb-4b0f-bd28-e34020cdc0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Office Theme</Template>
  <TotalTime>166</TotalTime>
  <Words>1075</Words>
  <Application>Microsoft Office PowerPoint</Application>
  <PresentationFormat>Custom</PresentationFormat>
  <Paragraphs>131</Paragraphs>
  <Slides>8</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Lato</vt:lpstr>
      <vt:lpstr>Office Theme</vt:lpstr>
      <vt:lpstr>Gibela Exco strategy</vt:lpstr>
      <vt:lpstr>The Gibela Exco needs to review the progress against its KPIs and strategise to deal with key market developments</vt:lpstr>
      <vt:lpstr>AIA will assist in the preparation and facilitation of the exco workshop </vt:lpstr>
      <vt:lpstr>The proposed agenda for the first day will be to focus on progress on KPIs and then framing the discussion regarding the key challenges </vt:lpstr>
      <vt:lpstr>The second day will focus on converting the high level framing and options identification on day 1 into convergence around the way forward</vt:lpstr>
      <vt:lpstr>The budget for the facilitation includes the cost of engaging with exco in preparation, conducting research on the market opportunity &amp; facilitating the board session</vt:lpstr>
      <vt:lpstr>The session will be facilitated by an experienced and skilled team</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James Brown</dc:creator>
  <cp:lastModifiedBy>Nigel Zhuwaki</cp:lastModifiedBy>
  <cp:revision>15</cp:revision>
  <dcterms:created xsi:type="dcterms:W3CDTF">2017-11-16T09:19:07Z</dcterms:created>
  <dcterms:modified xsi:type="dcterms:W3CDTF">2025-10-26T13:26:42Z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0x010100CBF303568E0A0643BB28A5FF33C5BC81</vt:lpwstr>
  </property>
  <property fmtid="{D5CDD505-2E9C-101B-9397-08002B2CF9AE}" pid="3" name="MediaServiceImageTags">
    <vt:lpwstr/>
  </property>
</Properties>
</file>