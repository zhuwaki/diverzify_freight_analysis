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1"/>
  </p:notesMasterIdLst>
  <p:sldIdLst>
    <p:sldId id="6153" r:id="rId5"/>
    <p:sldId id="6156" r:id="rId6"/>
    <p:sldId id="6159" r:id="rId7"/>
    <p:sldId id="6158" r:id="rId8"/>
    <p:sldId id="6157" r:id="rId9"/>
    <p:sldId id="6155" r:id="rId10"/>
  </p:sldIdLst>
  <p:sldSz cx="115887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627" userDrawn="1">
          <p15:clr>
            <a:srgbClr val="A4A3A4"/>
          </p15:clr>
        </p15:guide>
        <p15:guide id="5" orient="horz" pos="4201" userDrawn="1">
          <p15:clr>
            <a:srgbClr val="A4A3A4"/>
          </p15:clr>
        </p15:guide>
        <p15:guide id="7" pos="3674" userDrawn="1">
          <p15:clr>
            <a:srgbClr val="A4A3A4"/>
          </p15:clr>
        </p15:guide>
        <p15:guide id="9" orient="horz" pos="2184" userDrawn="1">
          <p15:clr>
            <a:srgbClr val="A4A3A4"/>
          </p15:clr>
        </p15:guide>
        <p15:guide id="10" orient="horz" pos="1056" userDrawn="1">
          <p15:clr>
            <a:srgbClr val="A4A3A4"/>
          </p15:clr>
        </p15:guide>
        <p15:guide id="11" orient="horz" pos="10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ry Gilfillan" initials="HG" lastIdx="1" clrIdx="0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2" name="Hasnayn" initials="H" lastIdx="3" clrIdx="1">
    <p:extLst>
      <p:ext uri="{19B8F6BF-5375-455C-9EA6-DF929625EA0E}">
        <p15:presenceInfo xmlns:p15="http://schemas.microsoft.com/office/powerpoint/2012/main" userId="Hasnay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9A4"/>
    <a:srgbClr val="FEECD2"/>
    <a:srgbClr val="FCECD2"/>
    <a:srgbClr val="FCDAD5"/>
    <a:srgbClr val="FED9A4"/>
    <a:srgbClr val="18395A"/>
    <a:srgbClr val="103959"/>
    <a:srgbClr val="7F7F7F"/>
    <a:srgbClr val="E5F4D4"/>
    <a:srgbClr val="EF4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44" y="52"/>
      </p:cViewPr>
      <p:guideLst>
        <p:guide orient="horz" pos="2136"/>
        <p:guide pos="3627"/>
        <p:guide orient="horz" pos="4201"/>
        <p:guide pos="3674"/>
        <p:guide orient="horz" pos="2184"/>
        <p:guide orient="horz" pos="1056"/>
        <p:guide orient="horz" pos="10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EFAFC6-00F6-49BA-A5D0-4BE14EF35C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" y="0"/>
            <a:ext cx="115877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800" y="4816800"/>
            <a:ext cx="7367801" cy="720000"/>
          </a:xfrm>
        </p:spPr>
        <p:txBody>
          <a:bodyPr anchor="ctr">
            <a:noAutofit/>
          </a:bodyPr>
          <a:lstStyle>
            <a:lvl1pPr algn="l"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800" y="5536800"/>
            <a:ext cx="7367801" cy="720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cap="all" baseline="0">
                <a:solidFill>
                  <a:schemeClr val="bg1"/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426D8F-6480-4557-9259-02017E82FDD1}"/>
              </a:ext>
            </a:extLst>
          </p:cNvPr>
          <p:cNvSpPr/>
          <p:nvPr userDrawn="1"/>
        </p:nvSpPr>
        <p:spPr>
          <a:xfrm>
            <a:off x="7772400" y="4935600"/>
            <a:ext cx="3220278" cy="132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E6B4BF-0534-65C4-93BC-6821C869C2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13234" y="5170027"/>
            <a:ext cx="2197716" cy="94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35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65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62D61D-4029-465F-A617-B26A9FBB3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15877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0" y="1233487"/>
            <a:ext cx="4095750" cy="2276475"/>
          </a:xfrm>
        </p:spPr>
        <p:txBody>
          <a:bodyPr anchor="b">
            <a:noAutofit/>
          </a:bodyPr>
          <a:lstStyle>
            <a:lvl1pPr algn="ctr">
              <a:defRPr sz="4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0" y="3602038"/>
            <a:ext cx="4095750" cy="1655762"/>
          </a:xfrm>
        </p:spPr>
        <p:txBody>
          <a:bodyPr/>
          <a:lstStyle>
            <a:lvl1pPr marL="0" indent="0" algn="ctr">
              <a:buNone/>
              <a:defRPr sz="2281" cap="all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4362B-915C-4E89-9FDD-BF4440292F09}"/>
              </a:ext>
            </a:extLst>
          </p:cNvPr>
          <p:cNvSpPr/>
          <p:nvPr userDrawn="1"/>
        </p:nvSpPr>
        <p:spPr>
          <a:xfrm>
            <a:off x="9079200" y="0"/>
            <a:ext cx="2509074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27D03-AE6B-43B5-8B92-9D2BF9DC6B3E}"/>
              </a:ext>
            </a:extLst>
          </p:cNvPr>
          <p:cNvSpPr/>
          <p:nvPr userDrawn="1"/>
        </p:nvSpPr>
        <p:spPr>
          <a:xfrm>
            <a:off x="7752936" y="5397300"/>
            <a:ext cx="3220278" cy="132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b="1"/>
          </a:p>
        </p:txBody>
      </p:sp>
    </p:spTree>
    <p:extLst>
      <p:ext uri="{BB962C8B-B14F-4D97-AF65-F5344CB8AC3E}">
        <p14:creationId xmlns:p14="http://schemas.microsoft.com/office/powerpoint/2010/main" val="261582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57AD74-B80A-46C1-B508-BBF3FDEF0BB0}"/>
              </a:ext>
            </a:extLst>
          </p:cNvPr>
          <p:cNvSpPr/>
          <p:nvPr userDrawn="1"/>
        </p:nvSpPr>
        <p:spPr>
          <a:xfrm>
            <a:off x="0" y="0"/>
            <a:ext cx="3420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/>
          </a:p>
          <a:p>
            <a:pPr algn="ctr"/>
            <a:endParaRPr lang="en-GB" sz="2800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E3C38D-2678-4687-849A-17FF691C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800" y="762761"/>
            <a:ext cx="7422150" cy="5332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200000"/>
              </a:lnSpc>
              <a:buNone/>
              <a:defRPr b="1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8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1" y="44451"/>
            <a:ext cx="9059799" cy="1013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791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65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1" y="44451"/>
            <a:ext cx="9059799" cy="1013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1" y="1233488"/>
            <a:ext cx="11233149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158875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4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1" y="44451"/>
            <a:ext cx="9059799" cy="1013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1" y="1233488"/>
            <a:ext cx="11233149" cy="52562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184CD-A2F1-4EC8-A326-3D39AFC0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800" y="6489700"/>
            <a:ext cx="10427800" cy="27863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32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, Kicker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1" y="44451"/>
            <a:ext cx="9059799" cy="1013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1" y="1233488"/>
            <a:ext cx="11233149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600" y="6489700"/>
            <a:ext cx="805350" cy="287338"/>
          </a:xfrm>
        </p:spPr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158875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9497904-88CE-46F9-A887-67689400F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800" y="6489700"/>
            <a:ext cx="10427800" cy="28733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473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EE290-ACE2-454C-B513-628EF80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4" y="0"/>
            <a:ext cx="11585642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782-2238-47DE-9111-08C62C522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800" y="4746625"/>
            <a:ext cx="4586076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65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17CD5-D3AB-4072-A9F6-F43315C2D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4" y="0"/>
            <a:ext cx="11585642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5CD9D-84B2-44A8-8E31-4684A5F52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800" y="4746625"/>
            <a:ext cx="4586076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86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DF114-C65A-4848-939F-A0D5C4A46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" y="0"/>
            <a:ext cx="11587799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08A63-164A-4488-AA27-EFB0CDAC1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4375" y="2637024"/>
            <a:ext cx="5616575" cy="1582175"/>
          </a:xfrm>
        </p:spPr>
        <p:txBody>
          <a:bodyPr anchor="ctr"/>
          <a:lstStyle>
            <a:lvl1pPr marL="0" indent="0" algn="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43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44451"/>
            <a:ext cx="11233148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520966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 userDrawn="1"/>
        </p:nvSpPr>
        <p:spPr>
          <a:xfrm>
            <a:off x="0" y="0"/>
            <a:ext cx="90000" cy="10890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Content Placeholder 5" descr="Icon&#10;&#10;Description automatically generated">
            <a:extLst>
              <a:ext uri="{FF2B5EF4-FFF2-40B4-BE49-F238E27FC236}">
                <a16:creationId xmlns:a16="http://schemas.microsoft.com/office/drawing/2014/main" id="{D2F90CB3-00DD-FFE5-800E-F8A7722FE32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1" y="6558148"/>
            <a:ext cx="213277" cy="21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3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74" r:id="rId3"/>
    <p:sldLayoutId id="2147483663" r:id="rId4"/>
    <p:sldLayoutId id="2147483675" r:id="rId5"/>
    <p:sldLayoutId id="2147483676" r:id="rId6"/>
    <p:sldLayoutId id="2147483677" r:id="rId7"/>
    <p:sldLayoutId id="2147483678" r:id="rId8"/>
    <p:sldLayoutId id="2147483680" r:id="rId9"/>
    <p:sldLayoutId id="2147483679" r:id="rId10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12" userDrawn="1">
          <p15:clr>
            <a:srgbClr val="F26B43"/>
          </p15:clr>
        </p15:guide>
        <p15:guide id="3" orient="horz" pos="4269" userDrawn="1">
          <p15:clr>
            <a:srgbClr val="F26B43"/>
          </p15:clr>
        </p15:guide>
        <p15:guide id="4" pos="3650" userDrawn="1">
          <p15:clr>
            <a:srgbClr val="F26B43"/>
          </p15:clr>
        </p15:guide>
        <p15:guide id="5" pos="7188" userDrawn="1">
          <p15:clr>
            <a:srgbClr val="F26B43"/>
          </p15:clr>
        </p15:guide>
        <p15:guide id="6" orient="horz" pos="28" userDrawn="1">
          <p15:clr>
            <a:srgbClr val="F26B43"/>
          </p15:clr>
        </p15:guide>
        <p15:guide id="7" orient="horz" pos="686" userDrawn="1">
          <p15:clr>
            <a:srgbClr val="F26B43"/>
          </p15:clr>
        </p15:guide>
        <p15:guide id="8" orient="horz" pos="777" userDrawn="1">
          <p15:clr>
            <a:srgbClr val="F26B43"/>
          </p15:clr>
        </p15:guide>
        <p15:guide id="9" orient="horz" pos="4088" userDrawn="1">
          <p15:clr>
            <a:srgbClr val="F26B43"/>
          </p15:clr>
        </p15:guide>
        <p15:guide id="10" orient="horz" pos="3680" userDrawn="1">
          <p15:clr>
            <a:srgbClr val="F26B43"/>
          </p15:clr>
        </p15:guide>
        <p15:guide id="11" orient="horz" pos="35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za/powershell/module/microsoft.powershell.core/about/about_execution_policies?view=powershell-7.5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CBB3-70DE-25AF-3CEC-3ED8A96B1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800" y="4816800"/>
            <a:ext cx="8880061" cy="720000"/>
          </a:xfrm>
        </p:spPr>
        <p:txBody>
          <a:bodyPr/>
          <a:lstStyle/>
          <a:p>
            <a:r>
              <a:rPr lang="en-GB" sz="4000" dirty="0"/>
              <a:t>Freight </a:t>
            </a:r>
            <a:r>
              <a:rPr lang="en-GB" sz="4000" dirty="0" err="1"/>
              <a:t>api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6BDF8-4349-B815-9735-2D929BC184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301184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80091F-686E-F736-2C1B-63DD56A9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How to run the freight API using a python environment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633022-4311-F233-4B9A-E0C84BB9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Node.js</a:t>
            </a:r>
          </a:p>
          <a:p>
            <a:r>
              <a:rPr lang="en-ZA" dirty="0"/>
              <a:t>Python</a:t>
            </a:r>
          </a:p>
          <a:p>
            <a:r>
              <a:rPr lang="en-ZA" dirty="0"/>
              <a:t>Libraries (All) –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409023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78F6-63FE-AFEF-2164-B0D6789A3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F2E84-CE70-E4B8-4379-5CC157935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err="1"/>
              <a:t>Vscode</a:t>
            </a:r>
            <a:endParaRPr lang="en-ZA" dirty="0"/>
          </a:p>
          <a:p>
            <a:r>
              <a:rPr lang="en-ZA" dirty="0"/>
              <a:t>Python</a:t>
            </a:r>
          </a:p>
          <a:p>
            <a:r>
              <a:rPr lang="en-ZA" dirty="0"/>
              <a:t>Anaconda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BA338-BDB5-526F-15D2-76594741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6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57A3-5CDF-018A-3D77-2781A7E8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AIA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4929A-37EE-62D4-4938-0564C6E05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hlinkClick r:id="rId2"/>
              </a:rPr>
              <a:t>Update execution policy</a:t>
            </a:r>
            <a:r>
              <a:rPr lang="en-ZA" dirty="0"/>
              <a:t> – allows you to run node and python applications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D51B5-F10D-396D-2CD9-B3AF2DF9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11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541B-F50A-2C40-E946-8FC8C681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Utilities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06868-8FE0-E6DA-2F32-6AF17F03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2813B7-AB2A-4401-BDEF-0C1BE5625A59}"/>
              </a:ext>
            </a:extLst>
          </p:cNvPr>
          <p:cNvSpPr/>
          <p:nvPr/>
        </p:nvSpPr>
        <p:spPr>
          <a:xfrm>
            <a:off x="320040" y="1536192"/>
            <a:ext cx="3739896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dirty="0" err="1"/>
              <a:t>data_cleaning_utils</a:t>
            </a:r>
            <a:endParaRPr lang="en-Z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EC6982-3FB3-5658-EFBF-63E4BE95049E}"/>
              </a:ext>
            </a:extLst>
          </p:cNvPr>
          <p:cNvSpPr/>
          <p:nvPr/>
        </p:nvSpPr>
        <p:spPr>
          <a:xfrm>
            <a:off x="320040" y="2651760"/>
            <a:ext cx="3739896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dirty="0" err="1"/>
              <a:t>ftl_modelling_utils</a:t>
            </a:r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018951-4031-BA77-8492-58D0A2754D27}"/>
              </a:ext>
            </a:extLst>
          </p:cNvPr>
          <p:cNvSpPr/>
          <p:nvPr/>
        </p:nvSpPr>
        <p:spPr>
          <a:xfrm>
            <a:off x="320040" y="3593592"/>
            <a:ext cx="3739896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dirty="0" err="1"/>
              <a:t>hybrid_modelling_utils</a:t>
            </a:r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A25BB2-33F6-BD98-5AA2-251D55811DDA}"/>
              </a:ext>
            </a:extLst>
          </p:cNvPr>
          <p:cNvSpPr/>
          <p:nvPr/>
        </p:nvSpPr>
        <p:spPr>
          <a:xfrm>
            <a:off x="320040" y="4636008"/>
            <a:ext cx="3739896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/>
              <a:t>ltl_modelling_utils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47935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197DCD-6FEF-69ED-8C8A-D9B6E75F8C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6451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IA_2017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EF462F"/>
      </a:accent5>
      <a:accent6>
        <a:srgbClr val="FAA11C"/>
      </a:accent6>
      <a:hlink>
        <a:srgbClr val="0563C1"/>
      </a:hlink>
      <a:folHlink>
        <a:srgbClr val="954F7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16" ma:contentTypeDescription="Create a new document." ma:contentTypeScope="" ma:versionID="7a2739e5162f0f721726a4d476057ff4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c05f177e1659a403f60a653578ffea88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a30b523-d142-43af-a6dc-b2b30496af70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FA9FA0-2CB2-436E-A336-3A77ADFE4CF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265cb39c-7109-435c-af5d-13dc21a2db6b"/>
    <ds:schemaRef ds:uri="http://purl.org/dc/terms/"/>
    <ds:schemaRef ds:uri="http://schemas.openxmlformats.org/package/2006/metadata/core-properties"/>
    <ds:schemaRef ds:uri="http://www.w3.org/XML/1998/namespace"/>
    <ds:schemaRef ds:uri="62b85a0e-09bb-4b0f-bd28-e34020cdc070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6985604-F733-4710-8D6E-9F62C6A0C979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69</Words>
  <Application>Microsoft Office PowerPoint</Application>
  <PresentationFormat>Custom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Lato</vt:lpstr>
      <vt:lpstr>Office Theme</vt:lpstr>
      <vt:lpstr>Freight api</vt:lpstr>
      <vt:lpstr>How to run the freight API using a python environment</vt:lpstr>
      <vt:lpstr>Tools</vt:lpstr>
      <vt:lpstr>AIA context</vt:lpstr>
      <vt:lpstr>Utilities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Brown</dc:creator>
  <cp:lastModifiedBy>Nigel Zhuwaki</cp:lastModifiedBy>
  <cp:revision>16</cp:revision>
  <dcterms:created xsi:type="dcterms:W3CDTF">2017-11-16T09:19:07Z</dcterms:created>
  <dcterms:modified xsi:type="dcterms:W3CDTF">2025-10-26T14:29:21Z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0x010100CBF303568E0A0643BB28A5FF33C5BC81</vt:lpwstr>
  </property>
  <property fmtid="{D5CDD505-2E9C-101B-9397-08002B2CF9AE}" pid="3" name="MediaServiceImageTags">
    <vt:lpwstr/>
  </property>
</Properties>
</file>