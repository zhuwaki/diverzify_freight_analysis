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0"/>
  </p:notesMasterIdLst>
  <p:handoutMasterIdLst>
    <p:handoutMasterId r:id="rId11"/>
  </p:handoutMasterIdLst>
  <p:sldIdLst>
    <p:sldId id="263" r:id="rId5"/>
    <p:sldId id="557" r:id="rId6"/>
    <p:sldId id="555" r:id="rId7"/>
    <p:sldId id="558" r:id="rId8"/>
    <p:sldId id="529" r:id="rId9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DC3D4C5-D226-49DE-9530-32E480AC583C}">
          <p14:sldIdLst>
            <p14:sldId id="263"/>
            <p14:sldId id="557"/>
            <p14:sldId id="555"/>
            <p14:sldId id="558"/>
            <p14:sldId id="52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460B812-FB11-E744-2EAF-0F2DA0ECD4BF}" name="Henry Gilfillan" initials="HG" userId="S::Henry.G@africaia.com::20d8d1d5-b81d-4db2-8d49-9db47f87700a" providerId="AD"/>
  <p188:author id="{9572AD3E-F084-4D10-1840-DBF614DB812E}" name="Paayal" initials="PKG" userId="Paayal" providerId="None"/>
  <p188:author id="{79DE144E-B764-F176-BA11-B9193ABDC8E5}" name="Davies Tsikayi" initials="DT" userId="S::Davies.T@africaia.com::87c07fce-c37d-4ded-b6b5-65d5c8b951c1" providerId="AD"/>
  <p188:author id="{DDF86F4E-A26F-72EA-E802-E9C9CF914913}" name="Nigel Zhuwaki" initials="NZ" userId="S::Nigel.Z@africaia.com::601ab1a4-89ec-42bd-bbbd-3cbdd75d5043" providerId="AD"/>
  <p188:author id="{68AE2466-B378-7AA2-581F-E86841585307}" name="Paayal Kanjee Govind" initials="PK" userId="S::Paayal.KG@africaia.com::50637073-a9d2-4dfa-96c0-927604d7cc3c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BEC1"/>
    <a:srgbClr val="F0F0F0"/>
    <a:srgbClr val="0B8CB2"/>
    <a:srgbClr val="FFFFFF"/>
    <a:srgbClr val="2D6196"/>
    <a:srgbClr val="07546B"/>
    <a:srgbClr val="214A75"/>
    <a:srgbClr val="295A8C"/>
    <a:srgbClr val="7087AA"/>
    <a:srgbClr val="AEC7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47F7BA6-51C2-8E60-F28C-47C02827041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9508ADD-8D77-525F-ED3B-8EE36FD234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F6E27AE1-25FA-45E2-ADD5-6C150999DACF}" type="datetimeFigureOut">
              <a:rPr lang="en-ZA" smtClean="0"/>
              <a:t>2025/06/23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5C969-8FA5-09FE-27E8-B072DE1357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E71657-E6E1-E72F-3D23-0489A4850AC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C2130FBB-6033-4801-B9B9-39071560410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4632946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024" userDrawn="1">
          <p15:clr>
            <a:srgbClr val="F26B43"/>
          </p15:clr>
        </p15:guide>
        <p15:guide id="2" pos="2304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CEFB254C-AD13-469F-A5D0-899BAF83CA7D}" type="datetimeFigureOut">
              <a:rPr lang="en-US" smtClean="0"/>
              <a:t>6/23/2025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74AA95D1-5949-40DF-9C17-B829C014E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467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glass wall in a room with a table and chairs&#10;&#10;AI-generated content may be incorrect.">
            <a:extLst>
              <a:ext uri="{FF2B5EF4-FFF2-40B4-BE49-F238E27FC236}">
                <a16:creationId xmlns:a16="http://schemas.microsoft.com/office/drawing/2014/main" id="{4198B84C-5BEC-CA50-F6FC-B641FFD188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62"/>
          <a:stretch/>
        </p:blipFill>
        <p:spPr>
          <a:xfrm>
            <a:off x="0" y="0"/>
            <a:ext cx="12192000" cy="6941976"/>
          </a:xfrm>
          <a:prstGeom prst="rect">
            <a:avLst/>
          </a:prstGeom>
        </p:spPr>
      </p:pic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9DD085C3-821D-43EE-9C30-6EBF170EF3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0278" y="76200"/>
            <a:ext cx="1492006" cy="4219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AFE1DCF-74C7-460C-4D2B-0D7FCB523514}"/>
              </a:ext>
            </a:extLst>
          </p:cNvPr>
          <p:cNvSpPr/>
          <p:nvPr userDrawn="1"/>
        </p:nvSpPr>
        <p:spPr>
          <a:xfrm>
            <a:off x="12700" y="0"/>
            <a:ext cx="12192000" cy="6941976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056" y="5653841"/>
            <a:ext cx="7751330" cy="720000"/>
          </a:xfrm>
          <a:solidFill>
            <a:schemeClr val="bg1">
              <a:alpha val="0"/>
            </a:schemeClr>
          </a:solidFill>
        </p:spPr>
        <p:txBody>
          <a:bodyPr anchor="ctr">
            <a:noAutofit/>
          </a:bodyPr>
          <a:lstStyle>
            <a:lvl1pPr algn="l">
              <a:defRPr sz="32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056" y="6289964"/>
            <a:ext cx="7751330" cy="462136"/>
          </a:xfrm>
          <a:solidFill>
            <a:schemeClr val="bg1">
              <a:alpha val="0"/>
            </a:schemeClr>
          </a:solidFill>
        </p:spPr>
        <p:txBody>
          <a:bodyPr anchor="b">
            <a:normAutofit/>
          </a:bodyPr>
          <a:lstStyle>
            <a:lvl1pPr marL="0" indent="0" algn="l">
              <a:buNone/>
              <a:defRPr sz="1800" cap="all" baseline="0">
                <a:solidFill>
                  <a:schemeClr val="tx1"/>
                </a:solidFill>
              </a:defRPr>
            </a:lvl1pPr>
            <a:lvl2pPr marL="434569" indent="0" algn="ctr">
              <a:buNone/>
              <a:defRPr sz="1901"/>
            </a:lvl2pPr>
            <a:lvl3pPr marL="869137" indent="0" algn="ctr">
              <a:buNone/>
              <a:defRPr sz="1711"/>
            </a:lvl3pPr>
            <a:lvl4pPr marL="1303706" indent="0" algn="ctr">
              <a:buNone/>
              <a:defRPr sz="1521"/>
            </a:lvl4pPr>
            <a:lvl5pPr marL="1738274" indent="0" algn="ctr">
              <a:buNone/>
              <a:defRPr sz="1521"/>
            </a:lvl5pPr>
            <a:lvl6pPr marL="2172843" indent="0" algn="ctr">
              <a:buNone/>
              <a:defRPr sz="1521"/>
            </a:lvl6pPr>
            <a:lvl7pPr marL="2607412" indent="0" algn="ctr">
              <a:buNone/>
              <a:defRPr sz="1521"/>
            </a:lvl7pPr>
            <a:lvl8pPr marL="3041980" indent="0" algn="ctr">
              <a:buNone/>
              <a:defRPr sz="1521"/>
            </a:lvl8pPr>
            <a:lvl9pPr marL="3476549" indent="0" algn="ctr">
              <a:buNone/>
              <a:defRPr sz="1521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337354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5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162D61D-4029-465F-A617-B26A9FBB36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12190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95991" y="1233488"/>
            <a:ext cx="4308953" cy="2276475"/>
          </a:xfrm>
        </p:spPr>
        <p:txBody>
          <a:bodyPr anchor="b">
            <a:noAutofit/>
          </a:bodyPr>
          <a:lstStyle>
            <a:lvl1pPr algn="ctr">
              <a:defRPr sz="40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95991" y="3602038"/>
            <a:ext cx="4308953" cy="1655762"/>
          </a:xfrm>
        </p:spPr>
        <p:txBody>
          <a:bodyPr/>
          <a:lstStyle>
            <a:lvl1pPr marL="0" indent="0" algn="ctr">
              <a:buNone/>
              <a:defRPr sz="2281" cap="all" baseline="0">
                <a:solidFill>
                  <a:schemeClr val="accent3">
                    <a:lumMod val="75000"/>
                  </a:schemeClr>
                </a:solidFill>
              </a:defRPr>
            </a:lvl1pPr>
            <a:lvl2pPr marL="434569" indent="0" algn="ctr">
              <a:buNone/>
              <a:defRPr sz="1901"/>
            </a:lvl2pPr>
            <a:lvl3pPr marL="869137" indent="0" algn="ctr">
              <a:buNone/>
              <a:defRPr sz="1711"/>
            </a:lvl3pPr>
            <a:lvl4pPr marL="1303706" indent="0" algn="ctr">
              <a:buNone/>
              <a:defRPr sz="1521"/>
            </a:lvl4pPr>
            <a:lvl5pPr marL="1738274" indent="0" algn="ctr">
              <a:buNone/>
              <a:defRPr sz="1521"/>
            </a:lvl5pPr>
            <a:lvl6pPr marL="2172843" indent="0" algn="ctr">
              <a:buNone/>
              <a:defRPr sz="1521"/>
            </a:lvl6pPr>
            <a:lvl7pPr marL="2607412" indent="0" algn="ctr">
              <a:buNone/>
              <a:defRPr sz="1521"/>
            </a:lvl7pPr>
            <a:lvl8pPr marL="3041980" indent="0" algn="ctr">
              <a:buNone/>
              <a:defRPr sz="1521"/>
            </a:lvl8pPr>
            <a:lvl9pPr marL="3476549" indent="0" algn="ctr">
              <a:buNone/>
              <a:defRPr sz="1521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C4362B-915C-4E89-9FDD-BF4440292F09}"/>
              </a:ext>
            </a:extLst>
          </p:cNvPr>
          <p:cNvSpPr/>
          <p:nvPr userDrawn="1"/>
        </p:nvSpPr>
        <p:spPr>
          <a:xfrm>
            <a:off x="9551816" y="1"/>
            <a:ext cx="2639683" cy="108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A27D03-AE6B-43B5-8B92-9D2BF9DC6B3E}"/>
              </a:ext>
            </a:extLst>
          </p:cNvPr>
          <p:cNvSpPr/>
          <p:nvPr userDrawn="1"/>
        </p:nvSpPr>
        <p:spPr>
          <a:xfrm>
            <a:off x="8156513" y="5397300"/>
            <a:ext cx="3387909" cy="1321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sz="1800" b="1"/>
          </a:p>
        </p:txBody>
      </p:sp>
      <p:pic>
        <p:nvPicPr>
          <p:cNvPr id="11" name="Picture 10" descr="Text&#10;&#10;Description automatically generated">
            <a:extLst>
              <a:ext uri="{FF2B5EF4-FFF2-40B4-BE49-F238E27FC236}">
                <a16:creationId xmlns:a16="http://schemas.microsoft.com/office/drawing/2014/main" id="{C1D96638-3D4C-45E0-9A82-500308DEFE1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2613" y="5661026"/>
            <a:ext cx="2695318" cy="761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274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460789-817F-4161-99E1-BBB95ED4BD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5E48029D-87D6-48C3-BA4B-1065A63511DF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2" name="Picture 1" descr="A glass wall in a room with a table and chairs&#10;&#10;AI-generated content may be incorrect.">
            <a:extLst>
              <a:ext uri="{FF2B5EF4-FFF2-40B4-BE49-F238E27FC236}">
                <a16:creationId xmlns:a16="http://schemas.microsoft.com/office/drawing/2014/main" id="{23A5E277-32C3-E0A8-6B8C-53572A3A5C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62" r="70489" b="1025"/>
          <a:stretch/>
        </p:blipFill>
        <p:spPr>
          <a:xfrm>
            <a:off x="0" y="0"/>
            <a:ext cx="3598027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257AD74-B80A-46C1-B508-BBF3FDEF0BB0}"/>
              </a:ext>
            </a:extLst>
          </p:cNvPr>
          <p:cNvSpPr/>
          <p:nvPr userDrawn="1"/>
        </p:nvSpPr>
        <p:spPr>
          <a:xfrm>
            <a:off x="0" y="0"/>
            <a:ext cx="3598027" cy="6858000"/>
          </a:xfrm>
          <a:prstGeom prst="rect">
            <a:avLst/>
          </a:prstGeom>
          <a:solidFill>
            <a:schemeClr val="bg2">
              <a:alpha val="4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2800" b="1">
              <a:solidFill>
                <a:schemeClr val="tx1"/>
              </a:solidFill>
            </a:endParaRPr>
          </a:p>
          <a:p>
            <a:pPr algn="ctr"/>
            <a:endParaRPr lang="en-GB" sz="2800" b="1">
              <a:solidFill>
                <a:schemeClr val="tx1"/>
              </a:solidFill>
            </a:endParaRPr>
          </a:p>
          <a:p>
            <a:pPr algn="ctr"/>
            <a:r>
              <a:rPr lang="en-GB" sz="2800" b="1">
                <a:solidFill>
                  <a:schemeClr val="tx1"/>
                </a:solidFill>
              </a:rPr>
              <a:t>AGENDA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61BAA2-1015-439D-B53A-ED3DC019E093}"/>
              </a:ext>
            </a:extLst>
          </p:cNvPr>
          <p:cNvSpPr/>
          <p:nvPr userDrawn="1"/>
        </p:nvSpPr>
        <p:spPr>
          <a:xfrm>
            <a:off x="-1" y="5583985"/>
            <a:ext cx="3598027" cy="866830"/>
          </a:xfrm>
          <a:prstGeom prst="rect">
            <a:avLst/>
          </a:prstGeom>
          <a:solidFill>
            <a:schemeClr val="bg1"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 baseline="-250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4FC8D6-72B7-40D6-89CC-331B0BF40A6F}"/>
              </a:ext>
            </a:extLst>
          </p:cNvPr>
          <p:cNvSpPr/>
          <p:nvPr userDrawn="1"/>
        </p:nvSpPr>
        <p:spPr>
          <a:xfrm>
            <a:off x="9551816" y="1"/>
            <a:ext cx="2639683" cy="1089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10E3C38D-2678-4687-849A-17FF691CD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6436" y="762761"/>
            <a:ext cx="7808508" cy="53324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lnSpc>
                <a:spcPct val="200000"/>
              </a:lnSpc>
              <a:buNone/>
              <a:defRPr b="1"/>
            </a:lvl1pPr>
          </a:lstStyle>
          <a:p>
            <a:pPr lvl="0"/>
            <a:endParaRPr lang="en-US"/>
          </a:p>
        </p:txBody>
      </p:sp>
      <p:pic>
        <p:nvPicPr>
          <p:cNvPr id="11" name="Picture 10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CAA14E9E-D170-631B-7EEF-AC2E2274B9E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722" y="5747400"/>
            <a:ext cx="2590579" cy="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6247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A65E4EDC-57F8-4D5C-B13E-A981C5F2F71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B6C18BBB-DDBD-DED6-A786-FF0E07A3B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057" y="44451"/>
            <a:ext cx="10480944" cy="1013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70050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&amp; Kic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057" y="1233488"/>
            <a:ext cx="11817888" cy="44185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A65E4EDC-57F8-4D5C-B13E-A981C5F2F71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3D819F-558F-4D51-9F0E-210A74975D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824800"/>
            <a:ext cx="12192000" cy="6649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37C86A07-9A8D-BBCA-8599-8E85EDD09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057" y="44451"/>
            <a:ext cx="10480944" cy="1013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0028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5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Content &amp;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057" y="1233488"/>
            <a:ext cx="11817888" cy="52562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/>
            </a:lvl1pPr>
          </a:lstStyle>
          <a:p>
            <a:fld id="{A65E4EDC-57F8-4D5C-B13E-A981C5F2F71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25184CD-A2F1-4EC8-A326-3D39AFC0BC7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7055" y="6489700"/>
            <a:ext cx="10970617" cy="278630"/>
          </a:xfrm>
        </p:spPr>
        <p:txBody>
          <a:bodyPr anchor="ctr">
            <a:normAutofit/>
          </a:bodyPr>
          <a:lstStyle>
            <a:lvl1pPr marL="0" indent="0">
              <a:buNone/>
              <a:defRPr sz="800">
                <a:solidFill>
                  <a:schemeClr val="tx1"/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43F89ED0-2EEF-4505-4642-7FAC2A78E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057" y="44451"/>
            <a:ext cx="10480944" cy="1013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60174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50">
          <p15:clr>
            <a:srgbClr val="FBAE40"/>
          </p15:clr>
        </p15:guide>
        <p15:guide id="3" pos="67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, Content, Kicker &amp;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7057" y="1233488"/>
            <a:ext cx="11817888" cy="441851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57672" y="6489700"/>
            <a:ext cx="847272" cy="287338"/>
          </a:xfrm>
        </p:spPr>
        <p:txBody>
          <a:bodyPr/>
          <a:lstStyle>
            <a:lvl1pPr>
              <a:defRPr sz="1200"/>
            </a:lvl1pPr>
          </a:lstStyle>
          <a:p>
            <a:fld id="{A65E4EDC-57F8-4D5C-B13E-A981C5F2F71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3D819F-558F-4D51-9F0E-210A74975D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824800"/>
            <a:ext cx="12192000" cy="66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29497904-88CE-46F9-A887-67689400F79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7055" y="6489700"/>
            <a:ext cx="10970617" cy="287338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endParaRPr lang="en-GB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4CD31AB-3F1B-1DC3-D5F2-B7795279B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057" y="44451"/>
            <a:ext cx="10480944" cy="1013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21107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65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6EE290-ACE2-454C-B513-628EF80E30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5" y="0"/>
            <a:ext cx="1218873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FF4782-2238-47DE-9111-08C62C52261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7055" y="4746625"/>
            <a:ext cx="4824803" cy="914400"/>
          </a:xfrm>
        </p:spPr>
        <p:txBody>
          <a:bodyPr anchor="ctr"/>
          <a:lstStyle>
            <a:lvl1pPr marL="0" indent="0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1227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4D17CD5-D3AB-4072-A9F6-F43315C2DE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5" y="0"/>
            <a:ext cx="12188730" cy="6858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5CD9D-84B2-44A8-8E31-4684A5F529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7055" y="4746625"/>
            <a:ext cx="4824803" cy="914400"/>
          </a:xfrm>
        </p:spPr>
        <p:txBody>
          <a:bodyPr anchor="ctr"/>
          <a:lstStyle>
            <a:lvl1pPr marL="0" indent="0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4454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1DF114-C65A-4848-939F-A0D5C4A469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1" y="0"/>
            <a:ext cx="12190999" cy="6858000"/>
          </a:xfrm>
          <a:prstGeom prst="rect">
            <a:avLst/>
          </a:prstGeom>
        </p:spPr>
      </p:pic>
      <p:pic>
        <p:nvPicPr>
          <p:cNvPr id="2" name="Picture 1" descr="A glass wall in a room with a table and chairs&#10;&#10;AI-generated content may be incorrect.">
            <a:extLst>
              <a:ext uri="{FF2B5EF4-FFF2-40B4-BE49-F238E27FC236}">
                <a16:creationId xmlns:a16="http://schemas.microsoft.com/office/drawing/2014/main" id="{ADEC3044-F6EB-67BD-EC2B-2A947C1251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62"/>
          <a:stretch/>
        </p:blipFill>
        <p:spPr>
          <a:xfrm>
            <a:off x="0" y="0"/>
            <a:ext cx="12192000" cy="6941976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B008A63-164A-4488-AA27-EFB0CDAC1C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0" y="2637025"/>
            <a:ext cx="5908945" cy="1582175"/>
          </a:xfrm>
        </p:spPr>
        <p:txBody>
          <a:bodyPr anchor="ctr"/>
          <a:lstStyle>
            <a:lvl1pPr marL="0" indent="0" algn="r">
              <a:buNone/>
              <a:defRPr b="1" cap="all" baseline="0">
                <a:solidFill>
                  <a:schemeClr val="bg1"/>
                </a:solidFill>
              </a:defRPr>
            </a:lvl1pPr>
          </a:lstStyle>
          <a:p>
            <a:pPr lvl="0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4462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7057" y="44451"/>
            <a:ext cx="10480944" cy="10139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7057" y="1233488"/>
            <a:ext cx="11817888" cy="5256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57671" y="6520966"/>
            <a:ext cx="847272" cy="287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48029D-87D6-48C3-BA4B-1065A63511D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F56E22-0F71-4D9E-BCBB-36F814707DD1}"/>
              </a:ext>
            </a:extLst>
          </p:cNvPr>
          <p:cNvSpPr/>
          <p:nvPr userDrawn="1"/>
        </p:nvSpPr>
        <p:spPr>
          <a:xfrm>
            <a:off x="0" y="1"/>
            <a:ext cx="94685" cy="1089025"/>
          </a:xfrm>
          <a:prstGeom prst="rect">
            <a:avLst/>
          </a:prstGeom>
          <a:solidFill>
            <a:srgbClr val="1057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800"/>
          </a:p>
        </p:txBody>
      </p:sp>
      <p:pic>
        <p:nvPicPr>
          <p:cNvPr id="4" name="Picture 3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81C74129-E2DE-867A-9D0A-0E59648EAD2D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8040" y="178462"/>
            <a:ext cx="910722" cy="189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7474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defTabSz="869137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7284" indent="-217284" algn="l" defTabSz="869137" rtl="0" eaLnBrk="1" latinLnBrk="0" hangingPunct="1">
        <a:lnSpc>
          <a:spcPct val="90000"/>
        </a:lnSpc>
        <a:spcBef>
          <a:spcPts val="951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5185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86422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520990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955559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390127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824696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259265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693833" indent="-217284" algn="l" defTabSz="869137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1pPr>
      <a:lvl2pPr marL="43456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2pPr>
      <a:lvl3pPr marL="869137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3pPr>
      <a:lvl4pPr marL="1303706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4pPr>
      <a:lvl5pPr marL="1738274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5pPr>
      <a:lvl6pPr marL="2172843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6pPr>
      <a:lvl7pPr marL="2607412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7pPr>
      <a:lvl8pPr marL="3041980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8pPr>
      <a:lvl9pPr marL="3476549" algn="l" defTabSz="869137" rtl="0" eaLnBrk="1" latinLnBrk="0" hangingPunct="1">
        <a:defRPr sz="171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12">
          <p15:clr>
            <a:srgbClr val="F26B43"/>
          </p15:clr>
        </p15:guide>
        <p15:guide id="3" orient="horz" pos="4269">
          <p15:clr>
            <a:srgbClr val="F26B43"/>
          </p15:clr>
        </p15:guide>
        <p15:guide id="4" pos="3650">
          <p15:clr>
            <a:srgbClr val="F26B43"/>
          </p15:clr>
        </p15:guide>
        <p15:guide id="5" pos="7582" userDrawn="1">
          <p15:clr>
            <a:srgbClr val="F26B43"/>
          </p15:clr>
        </p15:guide>
        <p15:guide id="6" orient="horz" pos="28">
          <p15:clr>
            <a:srgbClr val="F26B43"/>
          </p15:clr>
        </p15:guide>
        <p15:guide id="7" orient="horz" pos="686">
          <p15:clr>
            <a:srgbClr val="F26B43"/>
          </p15:clr>
        </p15:guide>
        <p15:guide id="8" orient="horz" pos="777">
          <p15:clr>
            <a:srgbClr val="F26B43"/>
          </p15:clr>
        </p15:guide>
        <p15:guide id="9" orient="horz" pos="4088">
          <p15:clr>
            <a:srgbClr val="F26B43"/>
          </p15:clr>
        </p15:guide>
        <p15:guide id="10" orient="horz" pos="3680">
          <p15:clr>
            <a:srgbClr val="F26B43"/>
          </p15:clr>
        </p15:guide>
        <p15:guide id="11" orient="horz" pos="35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10" Type="http://schemas.openxmlformats.org/officeDocument/2006/relationships/image" Target="../media/image5.png"/><Relationship Id="rId4" Type="http://schemas.openxmlformats.org/officeDocument/2006/relationships/image" Target="../media/image10.svg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AC1D646-24B1-3D29-26EB-4848D1D56290}"/>
              </a:ext>
            </a:extLst>
          </p:cNvPr>
          <p:cNvSpPr/>
          <p:nvPr/>
        </p:nvSpPr>
        <p:spPr>
          <a:xfrm>
            <a:off x="0" y="4776103"/>
            <a:ext cx="12192000" cy="1207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45A8E209-B110-69C1-085E-342F6B5E72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056" y="5020063"/>
            <a:ext cx="8071420" cy="720000"/>
          </a:xfrm>
        </p:spPr>
        <p:txBody>
          <a:bodyPr/>
          <a:lstStyle/>
          <a:p>
            <a:r>
              <a:rPr lang="en-US" sz="2000" dirty="0"/>
              <a:t>Quantifying immediate cost savings and long-term structural value through self-performing freight – Phase 2 Team Charter </a:t>
            </a:r>
            <a:endParaRPr lang="en-GB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42D63-16C8-BAC8-938C-DADFCA45C9C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344275" y="6521450"/>
            <a:ext cx="847725" cy="287338"/>
          </a:xfrm>
        </p:spPr>
        <p:txBody>
          <a:bodyPr/>
          <a:lstStyle/>
          <a:p>
            <a:fld id="{A65E4EDC-57F8-4D5C-B13E-A981C5F2F71A}" type="slidenum">
              <a:rPr lang="en-GB" smtClean="0"/>
              <a:pPr/>
              <a:t>1</a:t>
            </a:fld>
            <a:endParaRPr lang="en-GB"/>
          </a:p>
        </p:txBody>
      </p:sp>
      <p:pic>
        <p:nvPicPr>
          <p:cNvPr id="12" name="Picture 11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396EE4CD-CC9E-F37E-2FBB-8AF085A0CA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0525" y="5147893"/>
            <a:ext cx="2227612" cy="464341"/>
          </a:xfrm>
          <a:prstGeom prst="rect">
            <a:avLst/>
          </a:prstGeom>
        </p:spPr>
      </p:pic>
      <p:sp>
        <p:nvSpPr>
          <p:cNvPr id="5" name="Subtitle 4">
            <a:extLst>
              <a:ext uri="{FF2B5EF4-FFF2-40B4-BE49-F238E27FC236}">
                <a16:creationId xmlns:a16="http://schemas.microsoft.com/office/drawing/2014/main" id="{BFFF2AF3-D263-1881-5ECF-64A7D43FDD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114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3FE80-D297-92FC-D33D-B049E9DEA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Rectangle 68">
            <a:extLst>
              <a:ext uri="{FF2B5EF4-FFF2-40B4-BE49-F238E27FC236}">
                <a16:creationId xmlns:a16="http://schemas.microsoft.com/office/drawing/2014/main" id="{B0CB6F3C-EE09-4377-3971-4133DCA7376F}"/>
              </a:ext>
            </a:extLst>
          </p:cNvPr>
          <p:cNvSpPr/>
          <p:nvPr/>
        </p:nvSpPr>
        <p:spPr>
          <a:xfrm>
            <a:off x="184621" y="1638262"/>
            <a:ext cx="8765033" cy="4903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0" rIns="274320" bIns="0" rtlCol="0" anchor="ctr"/>
          <a:lstStyle/>
          <a:p>
            <a:r>
              <a:rPr lang="en-US" sz="900" dirty="0">
                <a:solidFill>
                  <a:sysClr val="windowText" lastClr="000000"/>
                </a:solidFill>
              </a:rPr>
              <a:t>The objective of this project is to optimize Diverzify’s freight and logistics operations by transitioning to a self-performing freight model in partnership with Xpress Global Systems (XGS). This initiative is structured into two distinct phases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475F39-9B7F-23C0-88C2-E21643AE5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6BB5B0-CE8C-FE09-1199-20A51A1A0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project charter covers project objectives, KPIs, stakeholders, and cadence — anchored in an agile, sprint-based implementation approach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0A1B8F9-546F-2378-9908-C86155B1C3C0}"/>
              </a:ext>
            </a:extLst>
          </p:cNvPr>
          <p:cNvSpPr/>
          <p:nvPr/>
        </p:nvSpPr>
        <p:spPr>
          <a:xfrm>
            <a:off x="216152" y="1281023"/>
            <a:ext cx="4536557" cy="3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Project Overview 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697B6B92-4937-1970-D0EE-2F12212B2C18}"/>
              </a:ext>
            </a:extLst>
          </p:cNvPr>
          <p:cNvCxnSpPr>
            <a:cxnSpLocks/>
          </p:cNvCxnSpPr>
          <p:nvPr/>
        </p:nvCxnSpPr>
        <p:spPr>
          <a:xfrm>
            <a:off x="186440" y="1578545"/>
            <a:ext cx="26402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91C2AFF9-C6B4-BA67-A050-C8DC1639B2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7055" y="6520966"/>
            <a:ext cx="10970617" cy="247364"/>
          </a:xfrm>
        </p:spPr>
        <p:txBody>
          <a:bodyPr/>
          <a:lstStyle/>
          <a:p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8740AA-774C-828E-F757-B4F58B9A18B3}"/>
              </a:ext>
            </a:extLst>
          </p:cNvPr>
          <p:cNvSpPr/>
          <p:nvPr/>
        </p:nvSpPr>
        <p:spPr>
          <a:xfrm>
            <a:off x="184622" y="2842818"/>
            <a:ext cx="4536557" cy="3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ZA" sz="1200" b="1" dirty="0">
                <a:solidFill>
                  <a:schemeClr val="tx1"/>
                </a:solidFill>
              </a:rPr>
              <a:t>Sprint Objectives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AF3499-412D-9BB8-D1B7-9F5B6913BA7C}"/>
              </a:ext>
            </a:extLst>
          </p:cNvPr>
          <p:cNvCxnSpPr>
            <a:cxnSpLocks/>
          </p:cNvCxnSpPr>
          <p:nvPr/>
        </p:nvCxnSpPr>
        <p:spPr>
          <a:xfrm>
            <a:off x="154910" y="3140340"/>
            <a:ext cx="26402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77FD3DDD-7C83-EB27-1BB1-43931687B34D}"/>
              </a:ext>
            </a:extLst>
          </p:cNvPr>
          <p:cNvSpPr/>
          <p:nvPr/>
        </p:nvSpPr>
        <p:spPr>
          <a:xfrm>
            <a:off x="322122" y="3290409"/>
            <a:ext cx="5356783" cy="1558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0" rIns="274320" bIns="0" rtlCol="0" anchor="t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Onboard EVP with the new freight strategy through structured, interactive sessions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Collaborate with site teams to co-develop and validate pilot strategies tailored to local needs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Establish baseline metrics for freight cost, class adherence, and shipment performance per site prior to rollout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Equip relevant stakeholders (EVP, ops teams, salesforce users) with the training and documentation to sustain the new freight logic and tools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Develop mechanisms for surfacing and resolving edge cases or misclassifications during early rollouts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Integrate optimized freight costing into IFS and Salesforce through incremental system enhancements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Deliver measurable XGS savings for the Top 10 sites using data-driven sprints and continuous feedback loops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Develop and implement a dashboard for monitoring freight policy adherence and shipment tracking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B09C5CD-77BD-2042-5AE4-F9331F4BA605}"/>
              </a:ext>
            </a:extLst>
          </p:cNvPr>
          <p:cNvSpPr/>
          <p:nvPr/>
        </p:nvSpPr>
        <p:spPr>
          <a:xfrm>
            <a:off x="5966853" y="3320889"/>
            <a:ext cx="2603433" cy="17319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0" rIns="27432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Baseline data documented for 100% of rollout sites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Data reviewed and validated with EVPs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100% of target user training manual developed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100% of all data edge cases resolved in 4-weeks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Freight logic active an operational in both systems for pilot sites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Dashboard live and accessible by the end of sprint</a:t>
            </a:r>
          </a:p>
          <a:p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41C1E85-ABC9-7403-E808-3B1A52640D26}"/>
              </a:ext>
            </a:extLst>
          </p:cNvPr>
          <p:cNvSpPr/>
          <p:nvPr/>
        </p:nvSpPr>
        <p:spPr>
          <a:xfrm>
            <a:off x="5900583" y="2842818"/>
            <a:ext cx="4536557" cy="3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ZA" sz="1200" b="1" dirty="0">
                <a:solidFill>
                  <a:schemeClr val="tx1"/>
                </a:solidFill>
              </a:rPr>
              <a:t>Key measures of success (KPIs) 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B6A095B-ECB2-FAAC-92F6-258298C3D115}"/>
              </a:ext>
            </a:extLst>
          </p:cNvPr>
          <p:cNvCxnSpPr>
            <a:cxnSpLocks/>
          </p:cNvCxnSpPr>
          <p:nvPr/>
        </p:nvCxnSpPr>
        <p:spPr>
          <a:xfrm>
            <a:off x="5895733" y="3180980"/>
            <a:ext cx="26402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F86A4A93-45F0-8328-0326-F47D1FDFC2D7}"/>
              </a:ext>
            </a:extLst>
          </p:cNvPr>
          <p:cNvSpPr/>
          <p:nvPr/>
        </p:nvSpPr>
        <p:spPr>
          <a:xfrm>
            <a:off x="216153" y="5902548"/>
            <a:ext cx="2784360" cy="570824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0" rIns="27432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900" dirty="0">
              <a:solidFill>
                <a:schemeClr val="tx1"/>
              </a:solidFill>
            </a:endParaRPr>
          </a:p>
          <a:p>
            <a:r>
              <a:rPr lang="en-US" sz="900" dirty="0">
                <a:solidFill>
                  <a:schemeClr val="tx1"/>
                </a:solidFill>
              </a:rPr>
              <a:t>Project management support: Assists project manger in executing project goals   </a:t>
            </a:r>
          </a:p>
          <a:p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7459788-5AC6-2477-DAE0-272F05DC1753}"/>
              </a:ext>
            </a:extLst>
          </p:cNvPr>
          <p:cNvSpPr/>
          <p:nvPr/>
        </p:nvSpPr>
        <p:spPr>
          <a:xfrm>
            <a:off x="216152" y="5252793"/>
            <a:ext cx="4536557" cy="3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Project Governance  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EE10698-9843-A31E-A26F-B3D7161B4413}"/>
              </a:ext>
            </a:extLst>
          </p:cNvPr>
          <p:cNvCxnSpPr>
            <a:cxnSpLocks/>
          </p:cNvCxnSpPr>
          <p:nvPr/>
        </p:nvCxnSpPr>
        <p:spPr>
          <a:xfrm>
            <a:off x="186440" y="5550315"/>
            <a:ext cx="26402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1252BDA0-3754-1ABF-B4A4-8D4CEE55730D}"/>
              </a:ext>
            </a:extLst>
          </p:cNvPr>
          <p:cNvSpPr/>
          <p:nvPr/>
        </p:nvSpPr>
        <p:spPr>
          <a:xfrm>
            <a:off x="735732" y="2185440"/>
            <a:ext cx="4586470" cy="5458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0" rIns="274320" bIns="0" rtlCol="0" anchor="ctr"/>
          <a:lstStyle/>
          <a:p>
            <a:r>
              <a:rPr lang="en-US" sz="900" b="1" dirty="0">
                <a:solidFill>
                  <a:schemeClr val="accent3"/>
                </a:solidFill>
              </a:rPr>
              <a:t>Analysis and Modelling </a:t>
            </a:r>
            <a:r>
              <a:rPr lang="en-US" sz="900" dirty="0">
                <a:solidFill>
                  <a:schemeClr val="accent3"/>
                </a:solidFill>
              </a:rPr>
              <a:t>— This phase involved a comprehensive assessment of Diverzify’s freight data, rate structures, and logistics patterns. A data-driven freight model was developed to identify cost-saving opportunities and optimize route performance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112A41E-2D78-92CF-CA4A-71FF17AF2C0E}"/>
              </a:ext>
            </a:extLst>
          </p:cNvPr>
          <p:cNvSpPr/>
          <p:nvPr/>
        </p:nvSpPr>
        <p:spPr>
          <a:xfrm>
            <a:off x="6150825" y="2207358"/>
            <a:ext cx="3871764" cy="4581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0" rIns="274320" bIns="0" rtlCol="0" anchor="ctr"/>
          <a:lstStyle/>
          <a:p>
            <a:r>
              <a:rPr lang="en-US" sz="900" b="1" dirty="0">
                <a:solidFill>
                  <a:sysClr val="windowText" lastClr="000000"/>
                </a:solidFill>
              </a:rPr>
              <a:t>Implementation and Roll-Out </a:t>
            </a:r>
            <a:r>
              <a:rPr lang="en-US" sz="900" dirty="0">
                <a:solidFill>
                  <a:sysClr val="windowText" lastClr="000000"/>
                </a:solidFill>
              </a:rPr>
              <a:t>— This charter supports the launch of the second phase, which will operationalize the findings from Phase 1 across Diverzify’s top 10 sites. The implementation will be led by a joint working group comprising team members from Africa International Advisors (AIA) and Diverzify.</a:t>
            </a:r>
          </a:p>
        </p:txBody>
      </p:sp>
      <p:pic>
        <p:nvPicPr>
          <p:cNvPr id="46" name="Graphic 45" descr="Research with solid fill">
            <a:extLst>
              <a:ext uri="{FF2B5EF4-FFF2-40B4-BE49-F238E27FC236}">
                <a16:creationId xmlns:a16="http://schemas.microsoft.com/office/drawing/2014/main" id="{B8A71FDF-8761-5EA5-C901-D594794F8A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8808" y="2233829"/>
            <a:ext cx="360000" cy="360000"/>
          </a:xfrm>
          <a:prstGeom prst="rect">
            <a:avLst/>
          </a:prstGeom>
        </p:spPr>
      </p:pic>
      <p:pic>
        <p:nvPicPr>
          <p:cNvPr id="48" name="Graphic 47" descr="Flowchart with solid fill">
            <a:extLst>
              <a:ext uri="{FF2B5EF4-FFF2-40B4-BE49-F238E27FC236}">
                <a16:creationId xmlns:a16="http://schemas.microsoft.com/office/drawing/2014/main" id="{48CFD395-5802-07EB-09FF-2230815415C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63703" y="2078895"/>
            <a:ext cx="360000" cy="360000"/>
          </a:xfrm>
          <a:prstGeom prst="rect">
            <a:avLst/>
          </a:prstGeom>
        </p:spPr>
      </p:pic>
      <p:pic>
        <p:nvPicPr>
          <p:cNvPr id="50" name="Graphic 49" descr="Badge Tick1 with solid fill">
            <a:extLst>
              <a:ext uri="{FF2B5EF4-FFF2-40B4-BE49-F238E27FC236}">
                <a16:creationId xmlns:a16="http://schemas.microsoft.com/office/drawing/2014/main" id="{C0D59FDA-465F-E7AB-670F-48AB3ED56C6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386188" y="2246520"/>
            <a:ext cx="216000" cy="216000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7EF9379-EBDC-F140-8748-16A2FFFE3396}"/>
              </a:ext>
            </a:extLst>
          </p:cNvPr>
          <p:cNvCxnSpPr>
            <a:cxnSpLocks/>
          </p:cNvCxnSpPr>
          <p:nvPr/>
        </p:nvCxnSpPr>
        <p:spPr>
          <a:xfrm>
            <a:off x="5772610" y="3311905"/>
            <a:ext cx="0" cy="19204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4F007B28-E979-A356-3719-44FD78D594F1}"/>
              </a:ext>
            </a:extLst>
          </p:cNvPr>
          <p:cNvSpPr/>
          <p:nvPr/>
        </p:nvSpPr>
        <p:spPr>
          <a:xfrm>
            <a:off x="3264601" y="5902548"/>
            <a:ext cx="2368122" cy="570824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0" rIns="274320" bIns="0" rtlCol="0" anchor="ctr"/>
          <a:lstStyle/>
          <a:p>
            <a:r>
              <a:rPr lang="en-US" sz="900" dirty="0">
                <a:solidFill>
                  <a:schemeClr val="tx1"/>
                </a:solidFill>
              </a:rPr>
              <a:t>Project Management: Defines project goals and facilitate team meetings 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8A8F95A-64BF-6F51-A5A2-F3FC4AA5EACB}"/>
              </a:ext>
            </a:extLst>
          </p:cNvPr>
          <p:cNvSpPr/>
          <p:nvPr/>
        </p:nvSpPr>
        <p:spPr>
          <a:xfrm>
            <a:off x="6135395" y="5339150"/>
            <a:ext cx="4536557" cy="3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Cadence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1EBD77FF-8263-CC38-E1CB-70AD401CE7DD}"/>
              </a:ext>
            </a:extLst>
          </p:cNvPr>
          <p:cNvCxnSpPr>
            <a:cxnSpLocks/>
          </p:cNvCxnSpPr>
          <p:nvPr/>
        </p:nvCxnSpPr>
        <p:spPr>
          <a:xfrm>
            <a:off x="6105683" y="5636672"/>
            <a:ext cx="26402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84AFE6E8-A490-60F0-B44C-F5440699E373}"/>
              </a:ext>
            </a:extLst>
          </p:cNvPr>
          <p:cNvSpPr/>
          <p:nvPr/>
        </p:nvSpPr>
        <p:spPr>
          <a:xfrm>
            <a:off x="6105683" y="5683314"/>
            <a:ext cx="2347243" cy="752526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0" rIns="27432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Steercom Cadence</a:t>
            </a:r>
          </a:p>
          <a:p>
            <a:r>
              <a:rPr lang="en-US" sz="900" dirty="0">
                <a:solidFill>
                  <a:schemeClr val="tx1"/>
                </a:solidFill>
              </a:rPr>
              <a:t>Team : AIA – Diverzify 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DD35F22-9525-B0B6-12A1-6560BE5426E4}"/>
              </a:ext>
            </a:extLst>
          </p:cNvPr>
          <p:cNvSpPr/>
          <p:nvPr/>
        </p:nvSpPr>
        <p:spPr>
          <a:xfrm>
            <a:off x="8925886" y="5683314"/>
            <a:ext cx="2347243" cy="752526"/>
          </a:xfrm>
          <a:prstGeom prst="rect">
            <a:avLst/>
          </a:prstGeom>
          <a:solidFill>
            <a:schemeClr val="bg1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0" rIns="274320" bIns="0" rtlCol="0" anchor="ctr"/>
          <a:lstStyle/>
          <a:p>
            <a:r>
              <a:rPr lang="en-US" sz="900" b="1" dirty="0">
                <a:solidFill>
                  <a:schemeClr val="tx1"/>
                </a:solidFill>
              </a:rPr>
              <a:t>Working com Cadence</a:t>
            </a:r>
          </a:p>
          <a:p>
            <a:r>
              <a:rPr lang="en-US" sz="900" dirty="0">
                <a:solidFill>
                  <a:schemeClr val="tx1"/>
                </a:solidFill>
              </a:rPr>
              <a:t>Team: </a:t>
            </a:r>
            <a:r>
              <a:rPr lang="en-US" sz="900" dirty="0" err="1">
                <a:solidFill>
                  <a:schemeClr val="tx1"/>
                </a:solidFill>
              </a:rPr>
              <a:t>Divezify</a:t>
            </a:r>
            <a:r>
              <a:rPr lang="en-US" sz="900" dirty="0">
                <a:solidFill>
                  <a:schemeClr val="tx1"/>
                </a:solidFill>
              </a:rPr>
              <a:t> – IT support 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183AEB2-1144-F75C-3B0B-0F2B4C2074D2}"/>
              </a:ext>
            </a:extLst>
          </p:cNvPr>
          <p:cNvSpPr/>
          <p:nvPr/>
        </p:nvSpPr>
        <p:spPr>
          <a:xfrm>
            <a:off x="5863703" y="1981200"/>
            <a:ext cx="4536557" cy="842149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 descr="A black text on a black background&#10;&#10;AI-generated content may be incorrect.">
            <a:extLst>
              <a:ext uri="{FF2B5EF4-FFF2-40B4-BE49-F238E27FC236}">
                <a16:creationId xmlns:a16="http://schemas.microsoft.com/office/drawing/2014/main" id="{868E8D0E-CCC2-7A3B-B669-1FE4C7A13DF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301" y="5623117"/>
            <a:ext cx="910722" cy="189838"/>
          </a:xfrm>
          <a:prstGeom prst="rect">
            <a:avLst/>
          </a:prstGeom>
        </p:spPr>
      </p:pic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06370A3F-509A-FA00-087E-037B00A22C1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027" y="5582477"/>
            <a:ext cx="956613" cy="27024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8BF1141-0081-4B7E-BF04-C1CA39FED4D5}"/>
              </a:ext>
            </a:extLst>
          </p:cNvPr>
          <p:cNvSpPr/>
          <p:nvPr/>
        </p:nvSpPr>
        <p:spPr>
          <a:xfrm>
            <a:off x="5863704" y="3227622"/>
            <a:ext cx="2672274" cy="2051834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D8AFC58-8C3D-8EEF-C1E6-001CF5248376}"/>
              </a:ext>
            </a:extLst>
          </p:cNvPr>
          <p:cNvSpPr/>
          <p:nvPr/>
        </p:nvSpPr>
        <p:spPr>
          <a:xfrm>
            <a:off x="280502" y="3210530"/>
            <a:ext cx="5356782" cy="2068926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8D17A7-B494-ECE1-6708-C2227ACB20EC}"/>
              </a:ext>
            </a:extLst>
          </p:cNvPr>
          <p:cNvSpPr/>
          <p:nvPr/>
        </p:nvSpPr>
        <p:spPr>
          <a:xfrm>
            <a:off x="8865547" y="3320889"/>
            <a:ext cx="2603433" cy="17319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0" rIns="274320" bIns="0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Daily stand-up with working committee and weekly check-ins with steering committee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Continuous improvement check-in to discuss what went wrong and action items for process improvement 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900" dirty="0">
              <a:solidFill>
                <a:schemeClr val="tx1"/>
              </a:solidFill>
            </a:endParaRPr>
          </a:p>
          <a:p>
            <a:endParaRPr lang="en-US" sz="900" b="1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686B201-752D-9FCE-848F-75D1CA6A6B0E}"/>
              </a:ext>
            </a:extLst>
          </p:cNvPr>
          <p:cNvSpPr/>
          <p:nvPr/>
        </p:nvSpPr>
        <p:spPr>
          <a:xfrm>
            <a:off x="8799277" y="2842818"/>
            <a:ext cx="2635395" cy="313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r>
              <a:rPr lang="en-ZA" sz="1200" b="1" dirty="0">
                <a:solidFill>
                  <a:schemeClr val="tx1"/>
                </a:solidFill>
              </a:rPr>
              <a:t>Agile Methods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CE78B5F-F65E-A769-67CC-5E1DB3E9E3F4}"/>
              </a:ext>
            </a:extLst>
          </p:cNvPr>
          <p:cNvCxnSpPr>
            <a:cxnSpLocks/>
          </p:cNvCxnSpPr>
          <p:nvPr/>
        </p:nvCxnSpPr>
        <p:spPr>
          <a:xfrm>
            <a:off x="8794427" y="3180980"/>
            <a:ext cx="26402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62FA9E7-A211-119D-A81A-7BE26E3152D1}"/>
              </a:ext>
            </a:extLst>
          </p:cNvPr>
          <p:cNvCxnSpPr>
            <a:cxnSpLocks/>
          </p:cNvCxnSpPr>
          <p:nvPr/>
        </p:nvCxnSpPr>
        <p:spPr>
          <a:xfrm>
            <a:off x="8671304" y="3311905"/>
            <a:ext cx="0" cy="19204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E244D244-6286-B662-6112-52DE8BAD3672}"/>
              </a:ext>
            </a:extLst>
          </p:cNvPr>
          <p:cNvSpPr/>
          <p:nvPr/>
        </p:nvSpPr>
        <p:spPr>
          <a:xfrm>
            <a:off x="8762398" y="3227622"/>
            <a:ext cx="2672274" cy="2051833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B5E6197-4A61-B6CD-36D2-D394782B04C0}"/>
              </a:ext>
            </a:extLst>
          </p:cNvPr>
          <p:cNvCxnSpPr>
            <a:stCxn id="5" idx="3"/>
            <a:endCxn id="2" idx="1"/>
          </p:cNvCxnSpPr>
          <p:nvPr/>
        </p:nvCxnSpPr>
        <p:spPr>
          <a:xfrm>
            <a:off x="2323719" y="5717599"/>
            <a:ext cx="1432503" cy="43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7732171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543018-28AA-5534-20EE-AF83CE094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901079-6859-4AD1-E238-341391177F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578935F-391B-84FF-5A4B-5EEDBD4E5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milestones and deliverables are distributed across the project team</a:t>
            </a:r>
            <a:endParaRPr lang="en-ZA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6FA6BB6-DB78-EF7A-1B34-7EBFAB88BF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250090"/>
              </p:ext>
            </p:extLst>
          </p:nvPr>
        </p:nvGraphicFramePr>
        <p:xfrm>
          <a:off x="4085588" y="1412512"/>
          <a:ext cx="7605668" cy="4995381"/>
        </p:xfrm>
        <a:graphic>
          <a:graphicData uri="http://schemas.openxmlformats.org/drawingml/2006/table">
            <a:tbl>
              <a:tblPr/>
              <a:tblGrid>
                <a:gridCol w="1081527">
                  <a:extLst>
                    <a:ext uri="{9D8B030D-6E8A-4147-A177-3AD203B41FA5}">
                      <a16:colId xmlns:a16="http://schemas.microsoft.com/office/drawing/2014/main" val="1116707899"/>
                    </a:ext>
                  </a:extLst>
                </a:gridCol>
                <a:gridCol w="3152581">
                  <a:extLst>
                    <a:ext uri="{9D8B030D-6E8A-4147-A177-3AD203B41FA5}">
                      <a16:colId xmlns:a16="http://schemas.microsoft.com/office/drawing/2014/main" val="3134502207"/>
                    </a:ext>
                  </a:extLst>
                </a:gridCol>
                <a:gridCol w="1685780">
                  <a:extLst>
                    <a:ext uri="{9D8B030D-6E8A-4147-A177-3AD203B41FA5}">
                      <a16:colId xmlns:a16="http://schemas.microsoft.com/office/drawing/2014/main" val="4037719161"/>
                    </a:ext>
                  </a:extLst>
                </a:gridCol>
                <a:gridCol w="1685780">
                  <a:extLst>
                    <a:ext uri="{9D8B030D-6E8A-4147-A177-3AD203B41FA5}">
                      <a16:colId xmlns:a16="http://schemas.microsoft.com/office/drawing/2014/main" val="4033162101"/>
                    </a:ext>
                  </a:extLst>
                </a:gridCol>
              </a:tblGrid>
              <a:tr h="241701">
                <a:tc>
                  <a:txBody>
                    <a:bodyPr/>
                    <a:lstStyle/>
                    <a:p>
                      <a:r>
                        <a:rPr lang="en-GB" sz="1100" b="1"/>
                        <a:t>Sprint</a:t>
                      </a:r>
                      <a:endParaRPr lang="en-GB" sz="1100"/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b="1"/>
                        <a:t>Milestone</a:t>
                      </a:r>
                      <a:endParaRPr lang="en-GB" sz="1100"/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b="1" dirty="0"/>
                        <a:t>Linked Objective</a:t>
                      </a:r>
                      <a:endParaRPr lang="en-GB" sz="1100" dirty="0"/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b="1" dirty="0"/>
                        <a:t>Project team 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529376"/>
                  </a:ext>
                </a:extLst>
              </a:tr>
              <a:tr h="532041"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accent4"/>
                          </a:solidFill>
                        </a:rPr>
                        <a:t>Sprint 1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accent4"/>
                          </a:solidFill>
                        </a:rPr>
                        <a:t>EVP onboarding session completed + materials signed off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accent4"/>
                          </a:solidFill>
                        </a:rPr>
                        <a:t>EVP Onboarding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accent4"/>
                          </a:solidFill>
                        </a:rPr>
                        <a:t>Diverzify 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3205129"/>
                  </a:ext>
                </a:extLst>
              </a:tr>
              <a:tr h="373257"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chemeClr val="accent4"/>
                          </a:solidFill>
                        </a:rPr>
                        <a:t>Sprint 2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accent4"/>
                          </a:solidFill>
                        </a:rPr>
                        <a:t>Site-specific pilot templates designed and distributed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accent4"/>
                          </a:solidFill>
                        </a:rPr>
                        <a:t>Pilot Strategy Co-Design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accent4"/>
                          </a:solidFill>
                        </a:rPr>
                        <a:t>AIA - Diverzify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5658577"/>
                  </a:ext>
                </a:extLst>
              </a:tr>
              <a:tr h="532041"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chemeClr val="accent5"/>
                          </a:solidFill>
                        </a:rPr>
                        <a:t>Sprint 3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accent5"/>
                          </a:solidFill>
                        </a:rPr>
                        <a:t>IFS integration test environment live with optimized freight logic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accent5"/>
                          </a:solidFill>
                        </a:rPr>
                        <a:t>System Integration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accent5"/>
                          </a:solidFill>
                        </a:rPr>
                        <a:t>AIA - Diverzify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7891675"/>
                  </a:ext>
                </a:extLst>
              </a:tr>
              <a:tr h="373257">
                <a:tc>
                  <a:txBody>
                    <a:bodyPr/>
                    <a:lstStyle/>
                    <a:p>
                      <a:r>
                        <a:rPr lang="en-GB" sz="1100"/>
                        <a:t>Sprint 4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Salesforce quoting logic tested and refined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System Integration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AIA - Diverzify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0823958"/>
                  </a:ext>
                </a:extLst>
              </a:tr>
              <a:tr h="532041">
                <a:tc>
                  <a:txBody>
                    <a:bodyPr/>
                    <a:lstStyle/>
                    <a:p>
                      <a:r>
                        <a:rPr lang="en-GB" sz="1100"/>
                        <a:t>Sprint 5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Dashboard MVP (tracking cost, class compliance) deployed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Compliance &amp; Tracking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AIA- Diverzify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5894603"/>
                  </a:ext>
                </a:extLst>
              </a:tr>
              <a:tr h="373257">
                <a:tc>
                  <a:txBody>
                    <a:bodyPr/>
                    <a:lstStyle/>
                    <a:p>
                      <a:r>
                        <a:rPr lang="en-GB" sz="1100"/>
                        <a:t>Sprint 6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Site 1–3 rollout of XGS freight costing logic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XGS Savings at Top 10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AIA- Diverzify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46539"/>
                  </a:ext>
                </a:extLst>
              </a:tr>
              <a:tr h="532041">
                <a:tc>
                  <a:txBody>
                    <a:bodyPr/>
                    <a:lstStyle/>
                    <a:p>
                      <a:r>
                        <a:rPr lang="en-GB" sz="1100"/>
                        <a:t>Sprint 7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Post-rollout feedback loop + corrective actions from Sites 1–3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Exception Handling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AIA - Diverzify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560899"/>
                  </a:ext>
                </a:extLst>
              </a:tr>
              <a:tr h="532041">
                <a:tc>
                  <a:txBody>
                    <a:bodyPr/>
                    <a:lstStyle/>
                    <a:p>
                      <a:r>
                        <a:rPr lang="en-GB" sz="1100"/>
                        <a:t>Sprint 8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Final 7 site rollouts and baseline-to-actual savings comparison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XGS Savings Realization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AIA - Diverzify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6386492"/>
                  </a:ext>
                </a:extLst>
              </a:tr>
              <a:tr h="532041">
                <a:tc>
                  <a:txBody>
                    <a:bodyPr/>
                    <a:lstStyle/>
                    <a:p>
                      <a:r>
                        <a:rPr lang="en-GB" sz="1100"/>
                        <a:t>Sprint 9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Training completion for all users + adoption metrics collected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Change Management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Diverzify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078693"/>
                  </a:ext>
                </a:extLst>
              </a:tr>
              <a:tr h="419902">
                <a:tc>
                  <a:txBody>
                    <a:bodyPr/>
                    <a:lstStyle/>
                    <a:p>
                      <a:r>
                        <a:rPr lang="en-GB" sz="1100"/>
                        <a:t>Sprint 10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Final dashboard version + transition to BAU monitoring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Compliance &amp; Long-Term Oversight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/>
                        <a:t>AIA - Diverzify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5070919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F2F902EF-BA2D-61BB-DC8F-DD667665675A}"/>
              </a:ext>
            </a:extLst>
          </p:cNvPr>
          <p:cNvSpPr/>
          <p:nvPr/>
        </p:nvSpPr>
        <p:spPr>
          <a:xfrm>
            <a:off x="187055" y="1412512"/>
            <a:ext cx="3531891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r>
              <a:rPr lang="en-US" sz="1100" b="1">
                <a:solidFill>
                  <a:schemeClr val="tx1"/>
                </a:solidFill>
              </a:rPr>
              <a:t>Onboard EVP </a:t>
            </a:r>
            <a:r>
              <a:rPr lang="en-US" sz="1100">
                <a:solidFill>
                  <a:schemeClr val="tx1"/>
                </a:solidFill>
              </a:rPr>
              <a:t>with the new freight strategy through structured, interactive sessions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6F9FCE1-4144-552E-CA79-874577B91F3F}"/>
              </a:ext>
            </a:extLst>
          </p:cNvPr>
          <p:cNvSpPr/>
          <p:nvPr/>
        </p:nvSpPr>
        <p:spPr>
          <a:xfrm>
            <a:off x="187055" y="2040186"/>
            <a:ext cx="3531891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r>
              <a:rPr lang="en-US" sz="1100" b="1">
                <a:solidFill>
                  <a:schemeClr val="tx1"/>
                </a:solidFill>
              </a:rPr>
              <a:t>Collaborate</a:t>
            </a:r>
            <a:r>
              <a:rPr lang="en-US" sz="1100">
                <a:solidFill>
                  <a:schemeClr val="tx1"/>
                </a:solidFill>
              </a:rPr>
              <a:t> with site teams</a:t>
            </a:r>
            <a:r>
              <a:rPr lang="en-US" sz="1100" b="1">
                <a:solidFill>
                  <a:schemeClr val="tx1"/>
                </a:solidFill>
              </a:rPr>
              <a:t> to co-develop and validate pilot strategies </a:t>
            </a:r>
            <a:r>
              <a:rPr lang="en-US" sz="1100">
                <a:solidFill>
                  <a:schemeClr val="tx1"/>
                </a:solidFill>
              </a:rPr>
              <a:t>tailored to local needs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B21DEB-72BD-14E4-0468-AF71A500977C}"/>
              </a:ext>
            </a:extLst>
          </p:cNvPr>
          <p:cNvSpPr/>
          <p:nvPr/>
        </p:nvSpPr>
        <p:spPr>
          <a:xfrm>
            <a:off x="187055" y="2667860"/>
            <a:ext cx="3531891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r>
              <a:rPr lang="en-US" sz="1100" b="1">
                <a:solidFill>
                  <a:schemeClr val="tx1"/>
                </a:solidFill>
              </a:rPr>
              <a:t>Establish baseline metrics </a:t>
            </a:r>
            <a:r>
              <a:rPr lang="en-US" sz="1100">
                <a:solidFill>
                  <a:schemeClr val="tx1"/>
                </a:solidFill>
              </a:rPr>
              <a:t>for freight cost, class adherence, and shipment performance per site prior to rollout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C66EA1-6331-8336-82A8-F96E0ABFE679}"/>
              </a:ext>
            </a:extLst>
          </p:cNvPr>
          <p:cNvSpPr/>
          <p:nvPr/>
        </p:nvSpPr>
        <p:spPr>
          <a:xfrm>
            <a:off x="187055" y="3324168"/>
            <a:ext cx="3531891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r>
              <a:rPr lang="en-US" sz="1100" b="1">
                <a:solidFill>
                  <a:schemeClr val="tx1"/>
                </a:solidFill>
              </a:rPr>
              <a:t>Integrate</a:t>
            </a:r>
            <a:r>
              <a:rPr lang="en-US" sz="1100">
                <a:solidFill>
                  <a:schemeClr val="tx1"/>
                </a:solidFill>
              </a:rPr>
              <a:t> optimized </a:t>
            </a:r>
            <a:r>
              <a:rPr lang="en-US" sz="1100" b="1">
                <a:solidFill>
                  <a:schemeClr val="tx1"/>
                </a:solidFill>
              </a:rPr>
              <a:t>freight costing into IFS (OH) and Salesforce (market) </a:t>
            </a:r>
            <a:r>
              <a:rPr lang="en-US" sz="1100">
                <a:solidFill>
                  <a:schemeClr val="tx1"/>
                </a:solidFill>
              </a:rPr>
              <a:t>through incremental system enhancements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FC623A-BA20-FB21-1B98-6EA571F55175}"/>
              </a:ext>
            </a:extLst>
          </p:cNvPr>
          <p:cNvSpPr/>
          <p:nvPr/>
        </p:nvSpPr>
        <p:spPr>
          <a:xfrm>
            <a:off x="187055" y="4585244"/>
            <a:ext cx="3531891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r>
              <a:rPr lang="en-US" sz="1100" b="1">
                <a:solidFill>
                  <a:schemeClr val="tx1"/>
                </a:solidFill>
              </a:rPr>
              <a:t>Develop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b="1">
                <a:solidFill>
                  <a:schemeClr val="tx1"/>
                </a:solidFill>
              </a:rPr>
              <a:t>mechanisms</a:t>
            </a:r>
            <a:r>
              <a:rPr lang="en-US" sz="1100">
                <a:solidFill>
                  <a:schemeClr val="tx1"/>
                </a:solidFill>
              </a:rPr>
              <a:t> for surfacing and </a:t>
            </a:r>
            <a:r>
              <a:rPr lang="en-US" sz="1100" b="1">
                <a:solidFill>
                  <a:schemeClr val="tx1"/>
                </a:solidFill>
              </a:rPr>
              <a:t>resolving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b="1">
                <a:solidFill>
                  <a:schemeClr val="tx1"/>
                </a:solidFill>
              </a:rPr>
              <a:t>edge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b="1">
                <a:solidFill>
                  <a:schemeClr val="tx1"/>
                </a:solidFill>
              </a:rPr>
              <a:t>cases</a:t>
            </a:r>
            <a:r>
              <a:rPr lang="en-US" sz="1100">
                <a:solidFill>
                  <a:schemeClr val="tx1"/>
                </a:solidFill>
              </a:rPr>
              <a:t> or misclassifications during early rollouts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268D5C9-6323-B585-87A4-0D0D7C17E021}"/>
              </a:ext>
            </a:extLst>
          </p:cNvPr>
          <p:cNvSpPr/>
          <p:nvPr/>
        </p:nvSpPr>
        <p:spPr>
          <a:xfrm>
            <a:off x="187055" y="5212918"/>
            <a:ext cx="3531891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r>
              <a:rPr lang="en-US" sz="1100" b="1">
                <a:solidFill>
                  <a:schemeClr val="tx1"/>
                </a:solidFill>
              </a:rPr>
              <a:t>Equip stakeholders with the training </a:t>
            </a:r>
            <a:r>
              <a:rPr lang="en-US" sz="1100">
                <a:solidFill>
                  <a:schemeClr val="tx1"/>
                </a:solidFill>
              </a:rPr>
              <a:t>and </a:t>
            </a:r>
            <a:r>
              <a:rPr lang="en-US" sz="1100" b="1">
                <a:solidFill>
                  <a:schemeClr val="tx1"/>
                </a:solidFill>
              </a:rPr>
              <a:t>documentation</a:t>
            </a:r>
            <a:r>
              <a:rPr lang="en-US" sz="1100">
                <a:solidFill>
                  <a:schemeClr val="tx1"/>
                </a:solidFill>
              </a:rPr>
              <a:t> to sustain the new freight logic and tools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BC35F44-7744-0BD4-6374-99E332C0327F}"/>
              </a:ext>
            </a:extLst>
          </p:cNvPr>
          <p:cNvSpPr/>
          <p:nvPr/>
        </p:nvSpPr>
        <p:spPr>
          <a:xfrm>
            <a:off x="187055" y="5829656"/>
            <a:ext cx="3531891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r>
              <a:rPr lang="en-US" sz="1100" b="1">
                <a:solidFill>
                  <a:schemeClr val="tx1"/>
                </a:solidFill>
              </a:rPr>
              <a:t>Develop and implement a dashboard </a:t>
            </a:r>
            <a:r>
              <a:rPr lang="en-US" sz="1100">
                <a:solidFill>
                  <a:schemeClr val="tx1"/>
                </a:solidFill>
              </a:rPr>
              <a:t>for monitoring freight policy adherence and shipment tracking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0CA1DAC-3894-162B-B42F-1E9EF6272B57}"/>
              </a:ext>
            </a:extLst>
          </p:cNvPr>
          <p:cNvSpPr/>
          <p:nvPr/>
        </p:nvSpPr>
        <p:spPr>
          <a:xfrm>
            <a:off x="81479" y="1010098"/>
            <a:ext cx="3224463" cy="2786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Implementation Objective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268051-772E-2B0B-6A99-D60806FD8F58}"/>
              </a:ext>
            </a:extLst>
          </p:cNvPr>
          <p:cNvSpPr/>
          <p:nvPr/>
        </p:nvSpPr>
        <p:spPr>
          <a:xfrm>
            <a:off x="4085587" y="1008521"/>
            <a:ext cx="5254356" cy="269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Sprint planning and milestones linked to implementation objective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DEE2F5A-0E9B-2A72-E2BA-3584239A041C}"/>
              </a:ext>
            </a:extLst>
          </p:cNvPr>
          <p:cNvCxnSpPr>
            <a:cxnSpLocks/>
          </p:cNvCxnSpPr>
          <p:nvPr/>
        </p:nvCxnSpPr>
        <p:spPr>
          <a:xfrm>
            <a:off x="78098" y="1292083"/>
            <a:ext cx="29714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0F5F759-9D84-DDED-6C13-AD63B4AD7771}"/>
              </a:ext>
            </a:extLst>
          </p:cNvPr>
          <p:cNvCxnSpPr>
            <a:cxnSpLocks/>
          </p:cNvCxnSpPr>
          <p:nvPr/>
        </p:nvCxnSpPr>
        <p:spPr>
          <a:xfrm>
            <a:off x="4155574" y="1292083"/>
            <a:ext cx="72907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C82E7D4-D543-11E6-5729-1B641E56AD9E}"/>
              </a:ext>
            </a:extLst>
          </p:cNvPr>
          <p:cNvCxnSpPr/>
          <p:nvPr/>
        </p:nvCxnSpPr>
        <p:spPr>
          <a:xfrm>
            <a:off x="3875873" y="1336067"/>
            <a:ext cx="0" cy="4911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90943B35-FA15-67DA-F541-3E75D9B6661E}"/>
              </a:ext>
            </a:extLst>
          </p:cNvPr>
          <p:cNvSpPr/>
          <p:nvPr/>
        </p:nvSpPr>
        <p:spPr>
          <a:xfrm>
            <a:off x="187055" y="3958376"/>
            <a:ext cx="3531891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r>
              <a:rPr lang="en-US" sz="1100">
                <a:solidFill>
                  <a:schemeClr val="tx1"/>
                </a:solidFill>
              </a:rPr>
              <a:t>Establish </a:t>
            </a:r>
            <a:r>
              <a:rPr lang="en-US" sz="1100" b="1">
                <a:solidFill>
                  <a:schemeClr val="tx1"/>
                </a:solidFill>
              </a:rPr>
              <a:t>a unified UOM structure </a:t>
            </a:r>
            <a:r>
              <a:rPr lang="en-US" sz="1100">
                <a:solidFill>
                  <a:schemeClr val="tx1"/>
                </a:solidFill>
              </a:rPr>
              <a:t>for all </a:t>
            </a:r>
            <a:r>
              <a:rPr lang="en-US" sz="1100" b="1">
                <a:solidFill>
                  <a:schemeClr val="tx1"/>
                </a:solidFill>
              </a:rPr>
              <a:t>inventory data </a:t>
            </a:r>
            <a:r>
              <a:rPr lang="en-US" sz="1100">
                <a:solidFill>
                  <a:schemeClr val="tx1"/>
                </a:solidFill>
              </a:rPr>
              <a:t>to support accurate freight modeling and reporting</a:t>
            </a:r>
          </a:p>
        </p:txBody>
      </p:sp>
    </p:spTree>
    <p:extLst>
      <p:ext uri="{BB962C8B-B14F-4D97-AF65-F5344CB8AC3E}">
        <p14:creationId xmlns:p14="http://schemas.microsoft.com/office/powerpoint/2010/main" val="3778374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E3B4B-C185-BB93-71D1-F3D98FC5A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F269E4A-FE39-031A-B6DD-DC3D0A3F71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E4EDC-57F8-4D5C-B13E-A981C5F2F71A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1B356A-A34A-589F-F710-1AE7D7A9BE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6B7BD9E-525D-E7CB-F015-6B88ED714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Sprint milestones and deliverables are distributed across the project team</a:t>
            </a:r>
            <a:endParaRPr lang="en-ZA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BA4916D-3DA7-D988-9944-ABC66579A5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18546"/>
              </p:ext>
            </p:extLst>
          </p:nvPr>
        </p:nvGraphicFramePr>
        <p:xfrm>
          <a:off x="4085588" y="1412512"/>
          <a:ext cx="7605668" cy="5033943"/>
        </p:xfrm>
        <a:graphic>
          <a:graphicData uri="http://schemas.openxmlformats.org/drawingml/2006/table">
            <a:tbl>
              <a:tblPr/>
              <a:tblGrid>
                <a:gridCol w="1081527">
                  <a:extLst>
                    <a:ext uri="{9D8B030D-6E8A-4147-A177-3AD203B41FA5}">
                      <a16:colId xmlns:a16="http://schemas.microsoft.com/office/drawing/2014/main" val="1116707899"/>
                    </a:ext>
                  </a:extLst>
                </a:gridCol>
                <a:gridCol w="3152581">
                  <a:extLst>
                    <a:ext uri="{9D8B030D-6E8A-4147-A177-3AD203B41FA5}">
                      <a16:colId xmlns:a16="http://schemas.microsoft.com/office/drawing/2014/main" val="3134502207"/>
                    </a:ext>
                  </a:extLst>
                </a:gridCol>
                <a:gridCol w="1685780">
                  <a:extLst>
                    <a:ext uri="{9D8B030D-6E8A-4147-A177-3AD203B41FA5}">
                      <a16:colId xmlns:a16="http://schemas.microsoft.com/office/drawing/2014/main" val="4037719161"/>
                    </a:ext>
                  </a:extLst>
                </a:gridCol>
                <a:gridCol w="1685780">
                  <a:extLst>
                    <a:ext uri="{9D8B030D-6E8A-4147-A177-3AD203B41FA5}">
                      <a16:colId xmlns:a16="http://schemas.microsoft.com/office/drawing/2014/main" val="4033162101"/>
                    </a:ext>
                  </a:extLst>
                </a:gridCol>
              </a:tblGrid>
              <a:tr h="217142">
                <a:tc>
                  <a:txBody>
                    <a:bodyPr/>
                    <a:lstStyle/>
                    <a:p>
                      <a:r>
                        <a:rPr lang="en-GB" sz="1100" b="1"/>
                        <a:t>Sprint</a:t>
                      </a:r>
                      <a:endParaRPr lang="en-GB" sz="1100"/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b="1"/>
                        <a:t>Milestone</a:t>
                      </a:r>
                      <a:endParaRPr lang="en-GB" sz="1100"/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b="1" dirty="0"/>
                        <a:t>Linked Objective</a:t>
                      </a:r>
                      <a:endParaRPr lang="en-GB" sz="1100" dirty="0"/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b="1" dirty="0"/>
                        <a:t>Project team 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529376"/>
                  </a:ext>
                </a:extLst>
              </a:tr>
              <a:tr h="477981"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accent4"/>
                          </a:solidFill>
                        </a:rPr>
                        <a:t>Sprint 1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accent4"/>
                          </a:solidFill>
                        </a:rPr>
                        <a:t>EVP onboarding session completed + materials signed off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accent4"/>
                          </a:solidFill>
                        </a:rPr>
                        <a:t>EVP Onboarding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accent4"/>
                          </a:solidFill>
                        </a:rPr>
                        <a:t>Diverzify 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3205129"/>
                  </a:ext>
                </a:extLst>
              </a:tr>
              <a:tr h="354880"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chemeClr val="accent4"/>
                          </a:solidFill>
                        </a:rPr>
                        <a:t>Sprint 2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accent4"/>
                          </a:solidFill>
                        </a:rPr>
                        <a:t>Site-specific pilot templates designed and distributed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accent4"/>
                          </a:solidFill>
                        </a:rPr>
                        <a:t>Pilot Strategy Co-Design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accent4"/>
                          </a:solidFill>
                        </a:rPr>
                        <a:t>AIA - Diverzify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5658577"/>
                  </a:ext>
                </a:extLst>
              </a:tr>
              <a:tr h="477981"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chemeClr val="accent5"/>
                          </a:solidFill>
                        </a:rPr>
                        <a:t>Sprint 3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accent5"/>
                          </a:solidFill>
                        </a:rPr>
                        <a:t>Data cleaning and preparation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accent5"/>
                          </a:solidFill>
                        </a:rPr>
                        <a:t>System Integration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accent5"/>
                          </a:solidFill>
                        </a:rPr>
                        <a:t>AIA - Diverzify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7891675"/>
                  </a:ext>
                </a:extLst>
              </a:tr>
              <a:tr h="477981"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accent5"/>
                          </a:solidFill>
                        </a:rPr>
                        <a:t>Sprint 4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accent5"/>
                          </a:solidFill>
                        </a:rPr>
                        <a:t>IFS integration test environment live with optimized freight logic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accent5"/>
                          </a:solidFill>
                        </a:rPr>
                        <a:t>System Integration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accent5"/>
                          </a:solidFill>
                        </a:rPr>
                        <a:t>AIA - Diverzify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5212296"/>
                  </a:ext>
                </a:extLst>
              </a:tr>
              <a:tr h="335331"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accent3"/>
                          </a:solidFill>
                        </a:rPr>
                        <a:t>Sprint 4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accent3"/>
                          </a:solidFill>
                        </a:rPr>
                        <a:t>Salesforce quoting logic tested and refined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accent3"/>
                          </a:solidFill>
                        </a:rPr>
                        <a:t>System Integration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accent3"/>
                          </a:solidFill>
                        </a:rPr>
                        <a:t>AIA - Diverzify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0823958"/>
                  </a:ext>
                </a:extLst>
              </a:tr>
              <a:tr h="477981"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accent3"/>
                          </a:solidFill>
                        </a:rPr>
                        <a:t>Sprint 5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accent3"/>
                          </a:solidFill>
                        </a:rPr>
                        <a:t>Dashboard MVP (tracking cost, class compliance) deployed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accent3"/>
                          </a:solidFill>
                        </a:rPr>
                        <a:t>Compliance &amp; Tracking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accent3"/>
                          </a:solidFill>
                        </a:rPr>
                        <a:t>AIA- Diverzify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5894603"/>
                  </a:ext>
                </a:extLst>
              </a:tr>
              <a:tr h="335331"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chemeClr val="accent3"/>
                          </a:solidFill>
                        </a:rPr>
                        <a:t>Sprint 6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Site 1–3 rollout of XGS freight costing logic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accent3"/>
                          </a:solidFill>
                        </a:rPr>
                        <a:t>XGS Savings at Top 10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accent3"/>
                          </a:solidFill>
                        </a:rPr>
                        <a:t>AIA- Diverzify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46539"/>
                  </a:ext>
                </a:extLst>
              </a:tr>
              <a:tr h="477981"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chemeClr val="accent3"/>
                          </a:solidFill>
                        </a:rPr>
                        <a:t>Sprint 7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Post-rollout feedback loop + corrective actions from Sites 1–3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accent3"/>
                          </a:solidFill>
                        </a:rPr>
                        <a:t>Exception Handling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accent3"/>
                          </a:solidFill>
                        </a:rPr>
                        <a:t>AIA - Diverzify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560899"/>
                  </a:ext>
                </a:extLst>
              </a:tr>
              <a:tr h="477981"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chemeClr val="accent3"/>
                          </a:solidFill>
                        </a:rPr>
                        <a:t>Sprint 8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accent3"/>
                          </a:solidFill>
                        </a:rPr>
                        <a:t>Final 7 site rollouts and baseline-to-actual savings comparison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accent3"/>
                          </a:solidFill>
                        </a:rPr>
                        <a:t>XGS Savings Realization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accent3"/>
                          </a:solidFill>
                        </a:rPr>
                        <a:t>AIA - Diverzify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6386492"/>
                  </a:ext>
                </a:extLst>
              </a:tr>
              <a:tr h="477981"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chemeClr val="accent3"/>
                          </a:solidFill>
                        </a:rPr>
                        <a:t>Sprint 9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chemeClr val="accent3"/>
                          </a:solidFill>
                        </a:rPr>
                        <a:t>Training completion for all users + adoption metrics collected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accent3"/>
                          </a:solidFill>
                        </a:rPr>
                        <a:t>Change Management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accent3"/>
                          </a:solidFill>
                        </a:rPr>
                        <a:t>Diverzify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078693"/>
                  </a:ext>
                </a:extLst>
              </a:tr>
              <a:tr h="377236">
                <a:tc>
                  <a:txBody>
                    <a:bodyPr/>
                    <a:lstStyle/>
                    <a:p>
                      <a:r>
                        <a:rPr lang="en-GB" sz="1100">
                          <a:solidFill>
                            <a:schemeClr val="accent3"/>
                          </a:solidFill>
                        </a:rPr>
                        <a:t>Sprint 10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solidFill>
                            <a:schemeClr val="accent3"/>
                          </a:solidFill>
                        </a:rPr>
                        <a:t>Final dashboard version + transition to BAU monitoring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accent3"/>
                          </a:solidFill>
                        </a:rPr>
                        <a:t>Compliance &amp; Long-Term Oversight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100" dirty="0">
                          <a:solidFill>
                            <a:schemeClr val="accent3"/>
                          </a:solidFill>
                        </a:rPr>
                        <a:t>AIA - Diverzify</a:t>
                      </a:r>
                    </a:p>
                  </a:txBody>
                  <a:tcPr marL="59738" marR="59738" marT="29869" marB="2986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95070919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D1FF721B-2900-B996-41C8-9B0A38821719}"/>
              </a:ext>
            </a:extLst>
          </p:cNvPr>
          <p:cNvSpPr/>
          <p:nvPr/>
        </p:nvSpPr>
        <p:spPr>
          <a:xfrm>
            <a:off x="187055" y="1412512"/>
            <a:ext cx="3531891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r>
              <a:rPr lang="en-US" sz="1100" b="1">
                <a:solidFill>
                  <a:schemeClr val="tx1"/>
                </a:solidFill>
              </a:rPr>
              <a:t>Onboard EVP </a:t>
            </a:r>
            <a:r>
              <a:rPr lang="en-US" sz="1100">
                <a:solidFill>
                  <a:schemeClr val="tx1"/>
                </a:solidFill>
              </a:rPr>
              <a:t>with the new freight strategy through structured, interactive sessions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92B5B9-ECFB-7FE4-B3B8-1A25CD2BB5D7}"/>
              </a:ext>
            </a:extLst>
          </p:cNvPr>
          <p:cNvSpPr/>
          <p:nvPr/>
        </p:nvSpPr>
        <p:spPr>
          <a:xfrm>
            <a:off x="187055" y="2040186"/>
            <a:ext cx="3531891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r>
              <a:rPr lang="en-US" sz="1100" b="1">
                <a:solidFill>
                  <a:schemeClr val="tx1"/>
                </a:solidFill>
              </a:rPr>
              <a:t>Collaborate</a:t>
            </a:r>
            <a:r>
              <a:rPr lang="en-US" sz="1100">
                <a:solidFill>
                  <a:schemeClr val="tx1"/>
                </a:solidFill>
              </a:rPr>
              <a:t> with site teams</a:t>
            </a:r>
            <a:r>
              <a:rPr lang="en-US" sz="1100" b="1">
                <a:solidFill>
                  <a:schemeClr val="tx1"/>
                </a:solidFill>
              </a:rPr>
              <a:t> to co-develop and validate pilot strategies </a:t>
            </a:r>
            <a:r>
              <a:rPr lang="en-US" sz="1100">
                <a:solidFill>
                  <a:schemeClr val="tx1"/>
                </a:solidFill>
              </a:rPr>
              <a:t>tailored to local needs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104EB7-1A5D-203A-8A67-B1BC8B3D82BE}"/>
              </a:ext>
            </a:extLst>
          </p:cNvPr>
          <p:cNvSpPr/>
          <p:nvPr/>
        </p:nvSpPr>
        <p:spPr>
          <a:xfrm>
            <a:off x="187055" y="2667860"/>
            <a:ext cx="3531891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r>
              <a:rPr lang="en-US" sz="1100" b="1">
                <a:solidFill>
                  <a:schemeClr val="tx1"/>
                </a:solidFill>
              </a:rPr>
              <a:t>Establish baseline metrics </a:t>
            </a:r>
            <a:r>
              <a:rPr lang="en-US" sz="1100">
                <a:solidFill>
                  <a:schemeClr val="tx1"/>
                </a:solidFill>
              </a:rPr>
              <a:t>for freight cost, class adherence, and shipment performance per site prior to rollout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DA2A5D-4BBC-B9B5-A880-5D75DB41CDA6}"/>
              </a:ext>
            </a:extLst>
          </p:cNvPr>
          <p:cNvSpPr/>
          <p:nvPr/>
        </p:nvSpPr>
        <p:spPr>
          <a:xfrm>
            <a:off x="187055" y="3324168"/>
            <a:ext cx="3531891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r>
              <a:rPr lang="en-US" sz="1100" b="1">
                <a:solidFill>
                  <a:schemeClr val="tx1"/>
                </a:solidFill>
              </a:rPr>
              <a:t>Integrate</a:t>
            </a:r>
            <a:r>
              <a:rPr lang="en-US" sz="1100">
                <a:solidFill>
                  <a:schemeClr val="tx1"/>
                </a:solidFill>
              </a:rPr>
              <a:t> optimized </a:t>
            </a:r>
            <a:r>
              <a:rPr lang="en-US" sz="1100" b="1">
                <a:solidFill>
                  <a:schemeClr val="tx1"/>
                </a:solidFill>
              </a:rPr>
              <a:t>freight costing into IFS (OH) and Salesforce (market) </a:t>
            </a:r>
            <a:r>
              <a:rPr lang="en-US" sz="1100">
                <a:solidFill>
                  <a:schemeClr val="tx1"/>
                </a:solidFill>
              </a:rPr>
              <a:t>through incremental system enhancements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48E7FB3-EF53-2760-961D-5E55909F0328}"/>
              </a:ext>
            </a:extLst>
          </p:cNvPr>
          <p:cNvSpPr/>
          <p:nvPr/>
        </p:nvSpPr>
        <p:spPr>
          <a:xfrm>
            <a:off x="187055" y="4585244"/>
            <a:ext cx="3531891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r>
              <a:rPr lang="en-US" sz="1100" b="1">
                <a:solidFill>
                  <a:schemeClr val="tx1"/>
                </a:solidFill>
              </a:rPr>
              <a:t>Develop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b="1">
                <a:solidFill>
                  <a:schemeClr val="tx1"/>
                </a:solidFill>
              </a:rPr>
              <a:t>mechanisms</a:t>
            </a:r>
            <a:r>
              <a:rPr lang="en-US" sz="1100">
                <a:solidFill>
                  <a:schemeClr val="tx1"/>
                </a:solidFill>
              </a:rPr>
              <a:t> for surfacing and </a:t>
            </a:r>
            <a:r>
              <a:rPr lang="en-US" sz="1100" b="1">
                <a:solidFill>
                  <a:schemeClr val="tx1"/>
                </a:solidFill>
              </a:rPr>
              <a:t>resolving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b="1">
                <a:solidFill>
                  <a:schemeClr val="tx1"/>
                </a:solidFill>
              </a:rPr>
              <a:t>edge</a:t>
            </a:r>
            <a:r>
              <a:rPr lang="en-US" sz="1100">
                <a:solidFill>
                  <a:schemeClr val="tx1"/>
                </a:solidFill>
              </a:rPr>
              <a:t> </a:t>
            </a:r>
            <a:r>
              <a:rPr lang="en-US" sz="1100" b="1">
                <a:solidFill>
                  <a:schemeClr val="tx1"/>
                </a:solidFill>
              </a:rPr>
              <a:t>cases</a:t>
            </a:r>
            <a:r>
              <a:rPr lang="en-US" sz="1100">
                <a:solidFill>
                  <a:schemeClr val="tx1"/>
                </a:solidFill>
              </a:rPr>
              <a:t> or misclassifications during early rollouts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6B1F767-DC78-B8BB-581F-5018A2D416FF}"/>
              </a:ext>
            </a:extLst>
          </p:cNvPr>
          <p:cNvSpPr/>
          <p:nvPr/>
        </p:nvSpPr>
        <p:spPr>
          <a:xfrm>
            <a:off x="187055" y="5212918"/>
            <a:ext cx="3531891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r>
              <a:rPr lang="en-US" sz="1100" b="1">
                <a:solidFill>
                  <a:schemeClr val="tx1"/>
                </a:solidFill>
              </a:rPr>
              <a:t>Equip stakeholders with the training </a:t>
            </a:r>
            <a:r>
              <a:rPr lang="en-US" sz="1100">
                <a:solidFill>
                  <a:schemeClr val="tx1"/>
                </a:solidFill>
              </a:rPr>
              <a:t>and </a:t>
            </a:r>
            <a:r>
              <a:rPr lang="en-US" sz="1100" b="1">
                <a:solidFill>
                  <a:schemeClr val="tx1"/>
                </a:solidFill>
              </a:rPr>
              <a:t>documentation</a:t>
            </a:r>
            <a:r>
              <a:rPr lang="en-US" sz="1100">
                <a:solidFill>
                  <a:schemeClr val="tx1"/>
                </a:solidFill>
              </a:rPr>
              <a:t> to sustain the new freight logic and tools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A821E1-B7B2-DF08-7FE0-8C49629E5AED}"/>
              </a:ext>
            </a:extLst>
          </p:cNvPr>
          <p:cNvSpPr/>
          <p:nvPr/>
        </p:nvSpPr>
        <p:spPr>
          <a:xfrm>
            <a:off x="187055" y="5829656"/>
            <a:ext cx="3531891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r>
              <a:rPr lang="en-US" sz="1100" b="1">
                <a:solidFill>
                  <a:schemeClr val="tx1"/>
                </a:solidFill>
              </a:rPr>
              <a:t>Develop and implement a dashboard </a:t>
            </a:r>
            <a:r>
              <a:rPr lang="en-US" sz="1100">
                <a:solidFill>
                  <a:schemeClr val="tx1"/>
                </a:solidFill>
              </a:rPr>
              <a:t>for monitoring freight policy adherence and shipment tracking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2256DF-1443-7A59-1307-74FB4C1D238D}"/>
              </a:ext>
            </a:extLst>
          </p:cNvPr>
          <p:cNvSpPr/>
          <p:nvPr/>
        </p:nvSpPr>
        <p:spPr>
          <a:xfrm>
            <a:off x="81479" y="1010098"/>
            <a:ext cx="3224463" cy="27863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Implementation Objective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6DA8F2-A8AD-C94E-3982-3F667C9CEF49}"/>
              </a:ext>
            </a:extLst>
          </p:cNvPr>
          <p:cNvSpPr/>
          <p:nvPr/>
        </p:nvSpPr>
        <p:spPr>
          <a:xfrm>
            <a:off x="4085587" y="1008521"/>
            <a:ext cx="5254356" cy="2691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1200" b="1">
                <a:solidFill>
                  <a:schemeClr val="tx1"/>
                </a:solidFill>
              </a:rPr>
              <a:t>Sprint planning and milestones linked to implementation objective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F545633-31AC-1EBE-D718-A12337B7AC7A}"/>
              </a:ext>
            </a:extLst>
          </p:cNvPr>
          <p:cNvCxnSpPr>
            <a:cxnSpLocks/>
          </p:cNvCxnSpPr>
          <p:nvPr/>
        </p:nvCxnSpPr>
        <p:spPr>
          <a:xfrm>
            <a:off x="78098" y="1292083"/>
            <a:ext cx="297140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B33DE86-4494-374E-0AE6-CEAD2F7EE039}"/>
              </a:ext>
            </a:extLst>
          </p:cNvPr>
          <p:cNvCxnSpPr>
            <a:cxnSpLocks/>
          </p:cNvCxnSpPr>
          <p:nvPr/>
        </p:nvCxnSpPr>
        <p:spPr>
          <a:xfrm>
            <a:off x="4155574" y="1292083"/>
            <a:ext cx="72907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49DC3D0-8EA6-885C-0A53-6E126E67193A}"/>
              </a:ext>
            </a:extLst>
          </p:cNvPr>
          <p:cNvCxnSpPr/>
          <p:nvPr/>
        </p:nvCxnSpPr>
        <p:spPr>
          <a:xfrm>
            <a:off x="3875873" y="1336067"/>
            <a:ext cx="0" cy="4911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B9FCA62-8AFC-6616-6DA1-CA802ED7C708}"/>
              </a:ext>
            </a:extLst>
          </p:cNvPr>
          <p:cNvSpPr/>
          <p:nvPr/>
        </p:nvSpPr>
        <p:spPr>
          <a:xfrm>
            <a:off x="187055" y="3958376"/>
            <a:ext cx="3531891" cy="5486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r>
              <a:rPr lang="en-US" sz="1100">
                <a:solidFill>
                  <a:schemeClr val="tx1"/>
                </a:solidFill>
              </a:rPr>
              <a:t>Establish </a:t>
            </a:r>
            <a:r>
              <a:rPr lang="en-US" sz="1100" b="1">
                <a:solidFill>
                  <a:schemeClr val="tx1"/>
                </a:solidFill>
              </a:rPr>
              <a:t>a unified UOM structure </a:t>
            </a:r>
            <a:r>
              <a:rPr lang="en-US" sz="1100">
                <a:solidFill>
                  <a:schemeClr val="tx1"/>
                </a:solidFill>
              </a:rPr>
              <a:t>for all </a:t>
            </a:r>
            <a:r>
              <a:rPr lang="en-US" sz="1100" b="1">
                <a:solidFill>
                  <a:schemeClr val="tx1"/>
                </a:solidFill>
              </a:rPr>
              <a:t>inventory data </a:t>
            </a:r>
            <a:r>
              <a:rPr lang="en-US" sz="1100">
                <a:solidFill>
                  <a:schemeClr val="tx1"/>
                </a:solidFill>
              </a:rPr>
              <a:t>to support accurate freight modeling and reporting</a:t>
            </a:r>
          </a:p>
        </p:txBody>
      </p:sp>
    </p:spTree>
    <p:extLst>
      <p:ext uri="{BB962C8B-B14F-4D97-AF65-F5344CB8AC3E}">
        <p14:creationId xmlns:p14="http://schemas.microsoft.com/office/powerpoint/2010/main" val="3613521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5BAA2C9-F258-6A64-07C7-7DB3FF4C4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7BBD259-0BF6-FF56-B307-0E585019EE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96000" y="2637025"/>
            <a:ext cx="5908945" cy="1582175"/>
          </a:xfrm>
        </p:spPr>
        <p:txBody>
          <a:bodyPr/>
          <a:lstStyle/>
          <a:p>
            <a:r>
              <a:rPr lang="en-GB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63763695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TOOLS EXPORT" val="YE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TOOLS EXPORT" val="YES"/>
</p:tagLst>
</file>

<file path=ppt/theme/theme1.xml><?xml version="1.0" encoding="utf-8"?>
<a:theme xmlns:a="http://schemas.openxmlformats.org/drawingml/2006/main" name="1_Office Theme">
  <a:themeElements>
    <a:clrScheme name="AIA_2017">
      <a:dk1>
        <a:sysClr val="windowText" lastClr="000000"/>
      </a:dk1>
      <a:lt1>
        <a:sysClr val="window" lastClr="FFFFFF"/>
      </a:lt1>
      <a:dk2>
        <a:srgbClr val="11151A"/>
      </a:dk2>
      <a:lt2>
        <a:srgbClr val="E7E6E6"/>
      </a:lt2>
      <a:accent1>
        <a:srgbClr val="103959"/>
      </a:accent1>
      <a:accent2>
        <a:srgbClr val="2D6196"/>
      </a:accent2>
      <a:accent3>
        <a:srgbClr val="BDBEC1"/>
      </a:accent3>
      <a:accent4>
        <a:srgbClr val="0B8CB2"/>
      </a:accent4>
      <a:accent5>
        <a:srgbClr val="EF462F"/>
      </a:accent5>
      <a:accent6>
        <a:srgbClr val="FAA11C"/>
      </a:accent6>
      <a:hlink>
        <a:srgbClr val="0563C1"/>
      </a:hlink>
      <a:folHlink>
        <a:srgbClr val="954F72"/>
      </a:folHlink>
    </a:clrScheme>
    <a:fontScheme name="AIA_2017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B14DAA3CC024F49A081857B4C9CD92A" ma:contentTypeVersion="20" ma:contentTypeDescription="Create a new document." ma:contentTypeScope="" ma:versionID="970c494613c9de11ff0ed973b723722e">
  <xsd:schema xmlns:xsd="http://www.w3.org/2001/XMLSchema" xmlns:xs="http://www.w3.org/2001/XMLSchema" xmlns:p="http://schemas.microsoft.com/office/2006/metadata/properties" xmlns:ns2="265cb39c-7109-435c-af5d-13dc21a2db6b" xmlns:ns3="62b85a0e-09bb-4b0f-bd28-e34020cdc070" targetNamespace="http://schemas.microsoft.com/office/2006/metadata/properties" ma:root="true" ma:fieldsID="1a896a53711a7280dbf4746c89d8ce56" ns2:_="" ns3:_="">
    <xsd:import namespace="265cb39c-7109-435c-af5d-13dc21a2db6b"/>
    <xsd:import namespace="62b85a0e-09bb-4b0f-bd28-e34020cdc0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  <xsd:element ref="ns2:Archive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5cb39c-7109-435c-af5d-13dc21a2db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df3d1728-64fa-4f01-bb7d-5585de3a980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Archive" ma:index="26" nillable="true" ma:displayName="Archive" ma:default="0" ma:description="Folder to be backed up, archived and removed from SharePoint" ma:format="Dropdown" ma:internalName="Archive">
      <xsd:simpleType>
        <xsd:restriction base="dms:Boolean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b85a0e-09bb-4b0f-bd28-e34020cdc070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744b13c9-2708-4b8b-a658-00962d7928c2}" ma:internalName="TaxCatchAll" ma:showField="CatchAllData" ma:web="62b85a0e-09bb-4b0f-bd28-e34020cdc0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65cb39c-7109-435c-af5d-13dc21a2db6b">
      <Terms xmlns="http://schemas.microsoft.com/office/infopath/2007/PartnerControls"/>
    </lcf76f155ced4ddcb4097134ff3c332f>
    <Archive xmlns="265cb39c-7109-435c-af5d-13dc21a2db6b">false</Archive>
    <TaxCatchAll xmlns="62b85a0e-09bb-4b0f-bd28-e34020cdc07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037FE82-80ED-4A2C-8BB0-8E87C3A5427F}">
  <ds:schemaRefs>
    <ds:schemaRef ds:uri="265cb39c-7109-435c-af5d-13dc21a2db6b"/>
    <ds:schemaRef ds:uri="62b85a0e-09bb-4b0f-bd28-e34020cdc07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00D15C0-869B-4AD3-B6C3-A7C52546C23F}">
  <ds:schemaRefs>
    <ds:schemaRef ds:uri="http://purl.org/dc/terms/"/>
    <ds:schemaRef ds:uri="http://schemas.microsoft.com/office/infopath/2007/PartnerControls"/>
    <ds:schemaRef ds:uri="http://purl.org/dc/dcmitype/"/>
    <ds:schemaRef ds:uri="265cb39c-7109-435c-af5d-13dc21a2db6b"/>
    <ds:schemaRef ds:uri="http://purl.org/dc/elements/1.1/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62b85a0e-09bb-4b0f-bd28-e34020cdc070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0BADB573-2CF3-49A4-B589-0C1CC216946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332</TotalTime>
  <Words>1029</Words>
  <Application>Microsoft Office PowerPoint</Application>
  <PresentationFormat>Widescreen</PresentationFormat>
  <Paragraphs>153</Paragraphs>
  <Slides>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Arial</vt:lpstr>
      <vt:lpstr>Lato</vt:lpstr>
      <vt:lpstr>1_Office Theme</vt:lpstr>
      <vt:lpstr>Quantifying immediate cost savings and long-term structural value through self-performing freight – Phase 2 Team Charter </vt:lpstr>
      <vt:lpstr>The project charter covers project objectives, KPIs, stakeholders, and cadence — anchored in an agile, sprint-based implementation approach</vt:lpstr>
      <vt:lpstr>Sprint milestones and deliverables are distributed across the project team</vt:lpstr>
      <vt:lpstr>Sprint milestones and deliverables are distributed across the project team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Foundations practice</dc:title>
  <dc:creator>Manish Ramjeawon</dc:creator>
  <cp:lastModifiedBy>Nigel Zhuwaki</cp:lastModifiedBy>
  <cp:revision>2</cp:revision>
  <cp:lastPrinted>2025-04-29T09:58:40Z</cp:lastPrinted>
  <dcterms:created xsi:type="dcterms:W3CDTF">2024-02-06T08:42:57Z</dcterms:created>
  <dcterms:modified xsi:type="dcterms:W3CDTF">2025-06-23T13:09:04Z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0x010100BB14DAA3CC024F49A081857B4C9CD92A</vt:lpwstr>
  </property>
  <property fmtid="{D5CDD505-2E9C-101B-9397-08002B2CF9AE}" pid="3" name="MediaServiceImageTags">
    <vt:lpwstr/>
  </property>
</Properties>
</file>