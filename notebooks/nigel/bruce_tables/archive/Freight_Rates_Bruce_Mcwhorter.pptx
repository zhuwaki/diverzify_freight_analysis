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63" r:id="rId5"/>
    <p:sldId id="629" r:id="rId6"/>
    <p:sldId id="563" r:id="rId7"/>
    <p:sldId id="608" r:id="rId8"/>
    <p:sldId id="2147483630" r:id="rId9"/>
    <p:sldId id="279" r:id="rId10"/>
    <p:sldId id="280" r:id="rId11"/>
    <p:sldId id="2147483631" r:id="rId12"/>
    <p:sldId id="281" r:id="rId13"/>
    <p:sldId id="282" r:id="rId14"/>
    <p:sldId id="283" r:id="rId1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C3D4C5-D226-49DE-9530-32E480AC583C}">
          <p14:sldIdLst>
            <p14:sldId id="263"/>
            <p14:sldId id="629"/>
            <p14:sldId id="563"/>
            <p14:sldId id="608"/>
            <p14:sldId id="2147483630"/>
          </p14:sldIdLst>
        </p14:section>
        <p14:section name="SPJ" id="{8570A8EB-31B1-4BF0-B5BB-F8865384D41F}">
          <p14:sldIdLst>
            <p14:sldId id="279"/>
            <p14:sldId id="280"/>
            <p14:sldId id="2147483631"/>
            <p14:sldId id="281"/>
            <p14:sldId id="282"/>
            <p14:sldId id="283"/>
          </p14:sldIdLst>
        </p14:section>
        <p14:section name="SPN" id="{74FF30AC-C26E-4711-9E3F-4FFB6689DD8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9572AD3E-F084-4D10-1840-DBF614DB812E}" name="Paayal" initials="PKG" userId="Paayal" providerId="None"/>
  <p188:author id="{79DE144E-B764-F176-BA11-B9193ABDC8E5}" name="Davies Tsikayi" initials="DT" userId="S::Davies.T@africaia.com::87c07fce-c37d-4ded-b6b5-65d5c8b951c1" providerId="AD"/>
  <p188:author id="{DDF86F4E-A26F-72EA-E802-E9C9CF914913}" name="Nigel Zhuwaki" initials="NZ" userId="S::Nigel.Z@africaia.com::601ab1a4-89ec-42bd-bbbd-3cbdd75d5043" providerId="AD"/>
  <p188:author id="{68AE2466-B378-7AA2-581F-E86841585307}" name="Paayal Kanjee Govind" initials="PK" userId="S::Paayal.KG@africaia.com::50637073-a9d2-4dfa-96c0-927604d7cc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959"/>
    <a:srgbClr val="FFFFFF"/>
    <a:srgbClr val="3333FF"/>
    <a:srgbClr val="105782"/>
    <a:srgbClr val="0B8CB2"/>
    <a:srgbClr val="BDBEC1"/>
    <a:srgbClr val="548BB9"/>
    <a:srgbClr val="2D6196"/>
    <a:srgbClr val="7087A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6" autoAdjust="0"/>
    <p:restoredTop sz="94660"/>
  </p:normalViewPr>
  <p:slideViewPr>
    <p:cSldViewPr snapToGrid="0">
      <p:cViewPr varScale="1">
        <p:scale>
          <a:sx n="91" d="100"/>
          <a:sy n="91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SPL</c:v>
                </c:pt>
                <c:pt idx="1">
                  <c:v>SPLA</c:v>
                </c:pt>
                <c:pt idx="2">
                  <c:v>SPWV</c:v>
                </c:pt>
                <c:pt idx="3">
                  <c:v>SPSA</c:v>
                </c:pt>
                <c:pt idx="4">
                  <c:v>SPLV</c:v>
                </c:pt>
                <c:pt idx="5">
                  <c:v>SPP</c:v>
                </c:pt>
                <c:pt idx="6">
                  <c:v>SPJ</c:v>
                </c:pt>
                <c:pt idx="7">
                  <c:v>SPD</c:v>
                </c:pt>
                <c:pt idx="8">
                  <c:v>SPTM</c:v>
                </c:pt>
                <c:pt idx="9">
                  <c:v>DIT</c:v>
                </c:pt>
                <c:pt idx="10">
                  <c:v>SPHU</c:v>
                </c:pt>
                <c:pt idx="11">
                  <c:v>SPW</c:v>
                </c:pt>
                <c:pt idx="12">
                  <c:v>SPT</c:v>
                </c:pt>
                <c:pt idx="13">
                  <c:v>SPCP</c:v>
                </c:pt>
                <c:pt idx="14">
                  <c:v>SPN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559198.43999999994</c:v>
                </c:pt>
                <c:pt idx="1">
                  <c:v>560841.81000000006</c:v>
                </c:pt>
                <c:pt idx="2">
                  <c:v>565195.30000000005</c:v>
                </c:pt>
                <c:pt idx="3">
                  <c:v>661474.42000000004</c:v>
                </c:pt>
                <c:pt idx="4">
                  <c:v>716522.1</c:v>
                </c:pt>
                <c:pt idx="5">
                  <c:v>722888.99</c:v>
                </c:pt>
                <c:pt idx="6">
                  <c:v>742490.97</c:v>
                </c:pt>
                <c:pt idx="7">
                  <c:v>1064013.3899999999</c:v>
                </c:pt>
                <c:pt idx="8">
                  <c:v>1512580.23</c:v>
                </c:pt>
                <c:pt idx="9">
                  <c:v>1552038.83</c:v>
                </c:pt>
                <c:pt idx="10">
                  <c:v>2608723.94</c:v>
                </c:pt>
                <c:pt idx="11">
                  <c:v>3028388.09</c:v>
                </c:pt>
                <c:pt idx="12">
                  <c:v>3068243.45</c:v>
                </c:pt>
                <c:pt idx="13">
                  <c:v>3712076.95</c:v>
                </c:pt>
                <c:pt idx="14">
                  <c:v>4508993.93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2-4375-ADFF-CFF88D1EB3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290</c:v>
                </c:pt>
                <c:pt idx="1">
                  <c:v>1WOOD</c:v>
                </c:pt>
                <c:pt idx="2">
                  <c:v>1TRAN</c:v>
                </c:pt>
                <c:pt idx="3">
                  <c:v>1FLPR</c:v>
                </c:pt>
                <c:pt idx="4">
                  <c:v>1SUN</c:v>
                </c:pt>
                <c:pt idx="5">
                  <c:v>1BASE</c:v>
                </c:pt>
                <c:pt idx="6">
                  <c:v>400</c:v>
                </c:pt>
                <c:pt idx="7">
                  <c:v>1ADH</c:v>
                </c:pt>
                <c:pt idx="8">
                  <c:v>1CBL</c:v>
                </c:pt>
                <c:pt idx="9">
                  <c:v>GM</c:v>
                </c:pt>
                <c:pt idx="10">
                  <c:v>1RBF</c:v>
                </c:pt>
                <c:pt idx="11">
                  <c:v>1CNS</c:v>
                </c:pt>
                <c:pt idx="12">
                  <c:v>1CPT</c:v>
                </c:pt>
                <c:pt idx="13">
                  <c:v>1VNL</c:v>
                </c:pt>
              </c:strCache>
            </c:strRef>
          </c:cat>
          <c:val>
            <c:numRef>
              <c:f>Sheet1!$B$2:$B$15</c:f>
              <c:numCache>
                <c:formatCode>_(* #,##0.0_);_(* \(#,##0.0\);_(* "-"??_);_(@_)</c:formatCode>
                <c:ptCount val="14"/>
                <c:pt idx="0">
                  <c:v>1722785.58</c:v>
                </c:pt>
                <c:pt idx="1">
                  <c:v>1892945.04</c:v>
                </c:pt>
                <c:pt idx="2">
                  <c:v>2077609.79</c:v>
                </c:pt>
                <c:pt idx="3">
                  <c:v>2639940.75</c:v>
                </c:pt>
                <c:pt idx="4">
                  <c:v>3513629.93</c:v>
                </c:pt>
                <c:pt idx="5">
                  <c:v>5973206.75</c:v>
                </c:pt>
                <c:pt idx="6">
                  <c:v>6125455.8300000001</c:v>
                </c:pt>
                <c:pt idx="7">
                  <c:v>7014146.2699999996</c:v>
                </c:pt>
                <c:pt idx="8">
                  <c:v>10842858.57</c:v>
                </c:pt>
                <c:pt idx="9">
                  <c:v>11544652.48</c:v>
                </c:pt>
                <c:pt idx="10">
                  <c:v>13203952.050000001</c:v>
                </c:pt>
                <c:pt idx="11">
                  <c:v>30734033.73</c:v>
                </c:pt>
                <c:pt idx="12">
                  <c:v>50195030.369999997</c:v>
                </c:pt>
                <c:pt idx="13">
                  <c:v>56831819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4-4B55-B859-11BDF5E239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Tilebar LLC</c:v>
                </c:pt>
                <c:pt idx="1">
                  <c:v>Garden State Tile Distributors</c:v>
                </c:pt>
                <c:pt idx="2">
                  <c:v>Porcelanosa</c:v>
                </c:pt>
                <c:pt idx="3">
                  <c:v>AHF Products</c:v>
                </c:pt>
                <c:pt idx="4">
                  <c:v>Architectural Ceramics, Inc.</c:v>
                </c:pt>
                <c:pt idx="5">
                  <c:v>Thorntree LP</c:v>
                </c:pt>
                <c:pt idx="6">
                  <c:v>BPI-Building Plastics, Inc</c:v>
                </c:pt>
                <c:pt idx="7">
                  <c:v>Emser Tile LLC</c:v>
                </c:pt>
                <c:pt idx="8">
                  <c:v>Concept Surfaces</c:v>
                </c:pt>
                <c:pt idx="9">
                  <c:v>Specialty Tile Products Inc</c:v>
                </c:pt>
                <c:pt idx="10">
                  <c:v>Trinity Surfaces</c:v>
                </c:pt>
                <c:pt idx="11">
                  <c:v>Trinity Tile</c:v>
                </c:pt>
                <c:pt idx="12">
                  <c:v>AHF, LLC dba AHF Products</c:v>
                </c:pt>
                <c:pt idx="13">
                  <c:v>Ceramic Technics LLC dba Stone Source</c:v>
                </c:pt>
                <c:pt idx="14">
                  <c:v>Dal Tile Corporation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394191.62</c:v>
                </c:pt>
                <c:pt idx="1">
                  <c:v>408499.47</c:v>
                </c:pt>
                <c:pt idx="2">
                  <c:v>418437.67</c:v>
                </c:pt>
                <c:pt idx="3">
                  <c:v>424851.51</c:v>
                </c:pt>
                <c:pt idx="4">
                  <c:v>445255.49</c:v>
                </c:pt>
                <c:pt idx="5">
                  <c:v>481605.79</c:v>
                </c:pt>
                <c:pt idx="6">
                  <c:v>489620.18</c:v>
                </c:pt>
                <c:pt idx="7">
                  <c:v>490187.8</c:v>
                </c:pt>
                <c:pt idx="8">
                  <c:v>636071.56999999995</c:v>
                </c:pt>
                <c:pt idx="9">
                  <c:v>744253.2</c:v>
                </c:pt>
                <c:pt idx="10">
                  <c:v>912534.11</c:v>
                </c:pt>
                <c:pt idx="11">
                  <c:v>1108024.1599999999</c:v>
                </c:pt>
                <c:pt idx="12">
                  <c:v>1522543.78</c:v>
                </c:pt>
                <c:pt idx="13">
                  <c:v>1713666.19</c:v>
                </c:pt>
                <c:pt idx="14">
                  <c:v>11961969.51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8A-43CB-B8A8-6686DD34F8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32786605180811E-2"/>
          <c:y val="0.11196432534815591"/>
          <c:w val="0.89574495919184305"/>
          <c:h val="0.81762280404673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Sheet1!$B$2:$B$23</c:f>
              <c:numCache>
                <c:formatCode>_(* #,##0_);_(* \(#,##0\);_(* "-"??_);_(@_)</c:formatCode>
                <c:ptCount val="22"/>
                <c:pt idx="0">
                  <c:v>417656.03</c:v>
                </c:pt>
                <c:pt idx="1">
                  <c:v>386682.65</c:v>
                </c:pt>
                <c:pt idx="2">
                  <c:v>252988.2</c:v>
                </c:pt>
                <c:pt idx="3">
                  <c:v>189856.72</c:v>
                </c:pt>
                <c:pt idx="4">
                  <c:v>189529.01</c:v>
                </c:pt>
                <c:pt idx="5">
                  <c:v>177441.79</c:v>
                </c:pt>
                <c:pt idx="6">
                  <c:v>174733.78</c:v>
                </c:pt>
                <c:pt idx="7">
                  <c:v>151572.14000000001</c:v>
                </c:pt>
                <c:pt idx="8">
                  <c:v>128433.75</c:v>
                </c:pt>
                <c:pt idx="9">
                  <c:v>116668.16</c:v>
                </c:pt>
                <c:pt idx="10">
                  <c:v>116233.60000000001</c:v>
                </c:pt>
                <c:pt idx="11">
                  <c:v>105246.53</c:v>
                </c:pt>
                <c:pt idx="12">
                  <c:v>103518.85</c:v>
                </c:pt>
                <c:pt idx="13">
                  <c:v>102684.75</c:v>
                </c:pt>
                <c:pt idx="14">
                  <c:v>94069.33</c:v>
                </c:pt>
                <c:pt idx="15">
                  <c:v>83131.91</c:v>
                </c:pt>
                <c:pt idx="16">
                  <c:v>74645.75</c:v>
                </c:pt>
                <c:pt idx="17">
                  <c:v>69181.679999999993</c:v>
                </c:pt>
                <c:pt idx="18">
                  <c:v>68240.22</c:v>
                </c:pt>
                <c:pt idx="19">
                  <c:v>57332.14</c:v>
                </c:pt>
                <c:pt idx="20">
                  <c:v>54803.66</c:v>
                </c:pt>
                <c:pt idx="21">
                  <c:v>51001.34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9-40A1-A3D6-3036990E32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Sheet1!$C$2:$C$23</c:f>
              <c:numCache>
                <c:formatCode>_(* #,##0_);_(* \(#,##0\);_(* "-"??_);_(@_)</c:formatCode>
                <c:ptCount val="22"/>
                <c:pt idx="0">
                  <c:v>264705.38698113232</c:v>
                </c:pt>
                <c:pt idx="1">
                  <c:v>294447.80575471791</c:v>
                </c:pt>
                <c:pt idx="2">
                  <c:v>228244.43900943513</c:v>
                </c:pt>
                <c:pt idx="3">
                  <c:v>160312.25962264166</c:v>
                </c:pt>
                <c:pt idx="4">
                  <c:v>192771.82198113247</c:v>
                </c:pt>
                <c:pt idx="5">
                  <c:v>352853.80216980883</c:v>
                </c:pt>
                <c:pt idx="6">
                  <c:v>170879.33466981188</c:v>
                </c:pt>
                <c:pt idx="7">
                  <c:v>169771.8349056603</c:v>
                </c:pt>
                <c:pt idx="8">
                  <c:v>134600.93943396231</c:v>
                </c:pt>
                <c:pt idx="9">
                  <c:v>117320.15749999994</c:v>
                </c:pt>
                <c:pt idx="10">
                  <c:v>96550.20787735848</c:v>
                </c:pt>
                <c:pt idx="11">
                  <c:v>98277.159433962312</c:v>
                </c:pt>
                <c:pt idx="12">
                  <c:v>88058.769386792555</c:v>
                </c:pt>
                <c:pt idx="13">
                  <c:v>78334.62245283027</c:v>
                </c:pt>
                <c:pt idx="14">
                  <c:v>81170.191650943423</c:v>
                </c:pt>
                <c:pt idx="15">
                  <c:v>89360.699999999881</c:v>
                </c:pt>
                <c:pt idx="16">
                  <c:v>56562.662264150946</c:v>
                </c:pt>
                <c:pt idx="17">
                  <c:v>77804.51735849063</c:v>
                </c:pt>
                <c:pt idx="18">
                  <c:v>45026.307122641425</c:v>
                </c:pt>
                <c:pt idx="19">
                  <c:v>50041.623726415011</c:v>
                </c:pt>
                <c:pt idx="20">
                  <c:v>30441.178301886754</c:v>
                </c:pt>
                <c:pt idx="21">
                  <c:v>27674.827028301846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717359"/>
        <c:axId val="25071159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PCT Savings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Sheet1!$D$2:$D$23</c:f>
              <c:numCache>
                <c:formatCode>0%</c:formatCode>
                <c:ptCount val="22"/>
                <c:pt idx="0">
                  <c:v>0.36621198314523962</c:v>
                </c:pt>
                <c:pt idx="1">
                  <c:v>0.23852853042483835</c:v>
                </c:pt>
                <c:pt idx="2">
                  <c:v>9.780598854240985E-2</c:v>
                </c:pt>
                <c:pt idx="3">
                  <c:v>0.15561450960154766</c:v>
                </c:pt>
                <c:pt idx="4">
                  <c:v>-1.7109844984324329E-2</c:v>
                </c:pt>
                <c:pt idx="5">
                  <c:v>-0.98856088055586455</c:v>
                </c:pt>
                <c:pt idx="6">
                  <c:v>2.2058959236091136E-2</c:v>
                </c:pt>
                <c:pt idx="7">
                  <c:v>-0.12007282410646369</c:v>
                </c:pt>
                <c:pt idx="8">
                  <c:v>-4.8018448686286241E-2</c:v>
                </c:pt>
                <c:pt idx="9">
                  <c:v>-5.588478467475122E-3</c:v>
                </c:pt>
                <c:pt idx="10">
                  <c:v>0.16934339229484008</c:v>
                </c:pt>
                <c:pt idx="11">
                  <c:v>6.621948073763273E-2</c:v>
                </c:pt>
                <c:pt idx="12">
                  <c:v>0.14934555989761722</c:v>
                </c:pt>
                <c:pt idx="13">
                  <c:v>0.23713479895670708</c:v>
                </c:pt>
                <c:pt idx="14">
                  <c:v>0.13712374000172611</c:v>
                </c:pt>
                <c:pt idx="15">
                  <c:v>-7.4926583546557346E-2</c:v>
                </c:pt>
                <c:pt idx="16">
                  <c:v>0.24225207377310909</c:v>
                </c:pt>
                <c:pt idx="17">
                  <c:v>-0.12464047358333352</c:v>
                </c:pt>
                <c:pt idx="18">
                  <c:v>0.34017933818734136</c:v>
                </c:pt>
                <c:pt idx="19">
                  <c:v>0.12716281432343168</c:v>
                </c:pt>
                <c:pt idx="20">
                  <c:v>0.44454114375049492</c:v>
                </c:pt>
                <c:pt idx="21">
                  <c:v>0.45737059010014547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B9-40A1-A3D6-3036990E32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Breakeven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586271"/>
        <c:axId val="273597311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80%</c:v>
                      </c:pt>
                    </c:strCache>
                  </c:strRef>
                </c:tx>
                <c:spPr>
                  <a:ln w="6350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Sheet1!$F$2:$F$23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0.8</c:v>
                      </c:pt>
                      <c:pt idx="1">
                        <c:v>0.8</c:v>
                      </c:pt>
                      <c:pt idx="2">
                        <c:v>0.8</c:v>
                      </c:pt>
                      <c:pt idx="3">
                        <c:v>0.8</c:v>
                      </c:pt>
                      <c:pt idx="4">
                        <c:v>0.8</c:v>
                      </c:pt>
                      <c:pt idx="5">
                        <c:v>0.8</c:v>
                      </c:pt>
                      <c:pt idx="6">
                        <c:v>0.8</c:v>
                      </c:pt>
                      <c:pt idx="7">
                        <c:v>0.8</c:v>
                      </c:pt>
                      <c:pt idx="8">
                        <c:v>0.8</c:v>
                      </c:pt>
                      <c:pt idx="9">
                        <c:v>0.8</c:v>
                      </c:pt>
                      <c:pt idx="10">
                        <c:v>0.8</c:v>
                      </c:pt>
                      <c:pt idx="11">
                        <c:v>0.8</c:v>
                      </c:pt>
                      <c:pt idx="12">
                        <c:v>0.8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7E2C-41D8-89D9-A851B7840C6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90%</c:v>
                      </c:pt>
                    </c:strCache>
                  </c:strRef>
                </c:tx>
                <c:spPr>
                  <a:ln w="9525" cap="rnd">
                    <a:solidFill>
                      <a:schemeClr val="accent5">
                        <a:lumMod val="40000"/>
                        <a:lumOff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0.9</c:v>
                      </c:pt>
                      <c:pt idx="1">
                        <c:v>0.9</c:v>
                      </c:pt>
                      <c:pt idx="2">
                        <c:v>0.9</c:v>
                      </c:pt>
                      <c:pt idx="3">
                        <c:v>0.9</c:v>
                      </c:pt>
                      <c:pt idx="4">
                        <c:v>0.9</c:v>
                      </c:pt>
                      <c:pt idx="5">
                        <c:v>0.9</c:v>
                      </c:pt>
                      <c:pt idx="6">
                        <c:v>0.9</c:v>
                      </c:pt>
                      <c:pt idx="7">
                        <c:v>0.9</c:v>
                      </c:pt>
                      <c:pt idx="8">
                        <c:v>0.9</c:v>
                      </c:pt>
                      <c:pt idx="9">
                        <c:v>0.9</c:v>
                      </c:pt>
                      <c:pt idx="10">
                        <c:v>0.9</c:v>
                      </c:pt>
                      <c:pt idx="11">
                        <c:v>0.9</c:v>
                      </c:pt>
                      <c:pt idx="12">
                        <c:v>0.9</c:v>
                      </c:pt>
                      <c:pt idx="13">
                        <c:v>0.9</c:v>
                      </c:pt>
                      <c:pt idx="14">
                        <c:v>0.9</c:v>
                      </c:pt>
                      <c:pt idx="15">
                        <c:v>0.9</c:v>
                      </c:pt>
                      <c:pt idx="16">
                        <c:v>0.9</c:v>
                      </c:pt>
                      <c:pt idx="17">
                        <c:v>0.9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E2C-41D8-89D9-A851B7840C6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Sheet1!$H$1</c15:sqref>
                        </c15:formulaRef>
                      </c:ext>
                    </c:extLst>
                    <c:strCache>
                      <c:ptCount val="1"/>
                      <c:pt idx="0">
                        <c:v>Cumulative</c:v>
                      </c:pt>
                    </c:strCache>
                  </c:strRef>
                </c:tx>
                <c:spPr>
                  <a:ln w="952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Sheet1!$H$2:$H$23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0.1354692209735624</c:v>
                      </c:pt>
                      <c:pt idx="1">
                        <c:v>0.24820821079194033</c:v>
                      </c:pt>
                      <c:pt idx="2">
                        <c:v>0.32995767208252053</c:v>
                      </c:pt>
                      <c:pt idx="3">
                        <c:v>0.39138073262605866</c:v>
                      </c:pt>
                      <c:pt idx="4">
                        <c:v>0.45258204958604786</c:v>
                      </c:pt>
                      <c:pt idx="5">
                        <c:v>0.50988236325789549</c:v>
                      </c:pt>
                      <c:pt idx="6">
                        <c:v>0.56634656766703773</c:v>
                      </c:pt>
                      <c:pt idx="7">
                        <c:v>0.61559464491589733</c:v>
                      </c:pt>
                      <c:pt idx="8">
                        <c:v>0.65719099609059073</c:v>
                      </c:pt>
                      <c:pt idx="9">
                        <c:v>0.69476251826067126</c:v>
                      </c:pt>
                      <c:pt idx="10">
                        <c:v>0.72886535443897815</c:v>
                      </c:pt>
                      <c:pt idx="11">
                        <c:v>0.76130550440941946</c:v>
                      </c:pt>
                      <c:pt idx="12">
                        <c:v>0.79161345921045134</c:v>
                      </c:pt>
                      <c:pt idx="13">
                        <c:v>0.81867167832168275</c:v>
                      </c:pt>
                      <c:pt idx="14">
                        <c:v>0.8409867425387052</c:v>
                      </c:pt>
                      <c:pt idx="15">
                        <c:v>0.86187503238481156</c:v>
                      </c:pt>
                      <c:pt idx="16">
                        <c:v>0.88051755965534617</c:v>
                      </c:pt>
                      <c:pt idx="17">
                        <c:v>0.89707213173704503</c:v>
                      </c:pt>
                      <c:pt idx="18">
                        <c:v>0.91106908014529064</c:v>
                      </c:pt>
                      <c:pt idx="19">
                        <c:v>0.92465295169319672</c:v>
                      </c:pt>
                      <c:pt idx="20">
                        <c:v>0.93583623538360061</c:v>
                      </c:pt>
                      <c:pt idx="21">
                        <c:v>0.94511082549752734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E2C-41D8-89D9-A851B7840C6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Sheet1!$I$1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Sheet1!$I$2:$I$23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3.258316230604389E-2</c:v>
                      </c:pt>
                      <c:pt idx="1">
                        <c:v>3.258316230604389E-2</c:v>
                      </c:pt>
                      <c:pt idx="2">
                        <c:v>3.258316230604389E-2</c:v>
                      </c:pt>
                      <c:pt idx="3">
                        <c:v>3.258316230604389E-2</c:v>
                      </c:pt>
                      <c:pt idx="4">
                        <c:v>3.258316230604389E-2</c:v>
                      </c:pt>
                      <c:pt idx="5">
                        <c:v>3.258316230604389E-2</c:v>
                      </c:pt>
                      <c:pt idx="6">
                        <c:v>3.258316230604389E-2</c:v>
                      </c:pt>
                      <c:pt idx="7">
                        <c:v>3.258316230604389E-2</c:v>
                      </c:pt>
                      <c:pt idx="8">
                        <c:v>3.258316230604389E-2</c:v>
                      </c:pt>
                      <c:pt idx="9">
                        <c:v>3.258316230604389E-2</c:v>
                      </c:pt>
                      <c:pt idx="10">
                        <c:v>3.258316230604389E-2</c:v>
                      </c:pt>
                      <c:pt idx="11">
                        <c:v>3.258316230604389E-2</c:v>
                      </c:pt>
                      <c:pt idx="12">
                        <c:v>3.258316230604389E-2</c:v>
                      </c:pt>
                      <c:pt idx="13">
                        <c:v>3.258316230604389E-2</c:v>
                      </c:pt>
                      <c:pt idx="14">
                        <c:v>3.258316230604389E-2</c:v>
                      </c:pt>
                      <c:pt idx="15">
                        <c:v>3.258316230604389E-2</c:v>
                      </c:pt>
                      <c:pt idx="16">
                        <c:v>3.258316230604389E-2</c:v>
                      </c:pt>
                      <c:pt idx="17">
                        <c:v>3.258316230604389E-2</c:v>
                      </c:pt>
                      <c:pt idx="18">
                        <c:v>3.258316230604389E-2</c:v>
                      </c:pt>
                      <c:pt idx="19">
                        <c:v>3.258316230604389E-2</c:v>
                      </c:pt>
                      <c:pt idx="20">
                        <c:v>3.258316230604389E-2</c:v>
                      </c:pt>
                      <c:pt idx="21">
                        <c:v>3.258316230604389E-2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E2C-41D8-89D9-A851B7840C6B}"/>
                  </c:ext>
                </c:extLst>
              </c15:ser>
            </c15:filteredLineSeries>
          </c:ext>
        </c:extLst>
      </c:lineChart>
      <c:catAx>
        <c:axId val="27358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97311"/>
        <c:crosses val="autoZero"/>
        <c:auto val="1"/>
        <c:lblAlgn val="ctr"/>
        <c:lblOffset val="100"/>
        <c:noMultiLvlLbl val="0"/>
      </c:catAx>
      <c:valAx>
        <c:axId val="2735973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86271"/>
        <c:crosses val="autoZero"/>
        <c:crossBetween val="between"/>
      </c:valAx>
      <c:valAx>
        <c:axId val="250711599"/>
        <c:scaling>
          <c:orientation val="minMax"/>
        </c:scaling>
        <c:delete val="0"/>
        <c:axPos val="r"/>
        <c:numFmt formatCode="_(* #,##0_);_(* \(#,##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717359"/>
        <c:crosses val="max"/>
        <c:crossBetween val="between"/>
        <c:dispUnits>
          <c:builtInUnit val="thousands"/>
        </c:dispUnits>
      </c:valAx>
      <c:catAx>
        <c:axId val="250717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0711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4678721315985566"/>
          <c:y val="1.6845184355289256E-2"/>
          <c:w val="0.34949773701049086"/>
          <c:h val="4.686321445025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7F7BA6-51C2-8E60-F28C-47C028270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08ADD-8D77-525F-ED3B-8EE36FD23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6E27AE1-25FA-45E2-ADD5-6C150999DACF}" type="datetimeFigureOut">
              <a:rPr lang="en-ZA" smtClean="0"/>
              <a:t>2025/06/20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5C969-8FA5-09FE-27E8-B072DE1357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1657-E6E1-E72F-3D23-0489A4850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2130FBB-6033-4801-B9B9-3907156041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329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EFB254C-AD13-469F-A5D0-899BAF83CA7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AA95D1-5949-40DF-9C17-B829C014E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9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38551-33D2-54BF-E261-69E2A20F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AB30B-35C4-B2F7-ED71-7A64BCF73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1D92E-3DEC-07B6-AD1F-14390592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FBB9-2D74-F536-7685-CC7CBEE8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8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4198B84C-5BEC-CA50-F6FC-B641FFD188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DD085C3-821D-43EE-9C30-6EBF170EF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78" y="76200"/>
            <a:ext cx="1492006" cy="421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FE1DCF-74C7-460C-4D2B-0D7FCB523514}"/>
              </a:ext>
            </a:extLst>
          </p:cNvPr>
          <p:cNvSpPr/>
          <p:nvPr userDrawn="1"/>
        </p:nvSpPr>
        <p:spPr>
          <a:xfrm>
            <a:off x="12700" y="0"/>
            <a:ext cx="12192000" cy="69419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056" y="5653841"/>
            <a:ext cx="7751330" cy="720000"/>
          </a:xfrm>
          <a:solidFill>
            <a:schemeClr val="bg1">
              <a:alpha val="0"/>
            </a:schemeClr>
          </a:solidFill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056" y="6289964"/>
            <a:ext cx="7751330" cy="462136"/>
          </a:xfrm>
          <a:solidFill>
            <a:schemeClr val="bg1">
              <a:alpha val="0"/>
            </a:schemeClr>
          </a:solidFill>
        </p:spPr>
        <p:txBody>
          <a:bodyPr anchor="b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735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991" y="1233488"/>
            <a:ext cx="4308953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991" y="3602038"/>
            <a:ext cx="4308953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8156513" y="5397300"/>
            <a:ext cx="3387909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 b="1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1D96638-3D4C-45E0-9A82-500308DEF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613" y="5661026"/>
            <a:ext cx="2695318" cy="7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23A5E277-32C3-E0A8-6B8C-53572A3A5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 r="70489" b="1025"/>
          <a:stretch/>
        </p:blipFill>
        <p:spPr>
          <a:xfrm>
            <a:off x="0" y="0"/>
            <a:ext cx="35980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598027" cy="6858000"/>
          </a:xfrm>
          <a:prstGeom prst="rect">
            <a:avLst/>
          </a:prstGeom>
          <a:solidFill>
            <a:schemeClr val="bg2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r>
              <a:rPr lang="en-GB" sz="2800" b="1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 userDrawn="1"/>
        </p:nvSpPr>
        <p:spPr>
          <a:xfrm>
            <a:off x="-1" y="5583985"/>
            <a:ext cx="3598027" cy="86683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436" y="762761"/>
            <a:ext cx="7808508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  <p:pic>
        <p:nvPicPr>
          <p:cNvPr id="11" name="Picture 1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CAA14E9E-D170-631B-7EEF-AC2E2274B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2" y="5747400"/>
            <a:ext cx="259057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6CF87-1A71-072A-16D4-BF30206F66B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7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18BBB-DDBD-DED6-A786-FF0E07A3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32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7C86A07-9A8D-BBCA-8599-8E85EDD0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0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F89ED0-2EEF-4505-4642-7FAC2A7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28C12-ADC8-49D5-D30B-610BF15D1A8E}"/>
              </a:ext>
            </a:extLst>
          </p:cNvPr>
          <p:cNvSpPr txBox="1"/>
          <p:nvPr userDrawn="1"/>
        </p:nvSpPr>
        <p:spPr>
          <a:xfrm>
            <a:off x="187055" y="1055015"/>
            <a:ext cx="26151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900">
                <a:solidFill>
                  <a:srgbClr val="FF0000"/>
                </a:solidFill>
              </a:rPr>
              <a:t>Draft - Under review</a:t>
            </a:r>
          </a:p>
        </p:txBody>
      </p:sp>
    </p:spTree>
    <p:extLst>
      <p:ext uri="{BB962C8B-B14F-4D97-AF65-F5344CB8AC3E}">
        <p14:creationId xmlns:p14="http://schemas.microsoft.com/office/powerpoint/2010/main" val="396017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  <p15:guide id="3" pos="6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672" y="6489700"/>
            <a:ext cx="847272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055" y="6489700"/>
            <a:ext cx="10970617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4CD31AB-3F1B-1DC3-D5F2-B7795279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0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45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" y="0"/>
            <a:ext cx="12190999" cy="6858000"/>
          </a:xfrm>
          <a:prstGeom prst="rect">
            <a:avLst/>
          </a:prstGeom>
        </p:spPr>
      </p:pic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ADEC3044-F6EB-67BD-EC2B-2A947C1251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46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D25524A0-B28E-5F81-492D-40A4BD2DA74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B8A347B-743E-669D-2059-654B053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365125"/>
            <a:ext cx="11887200" cy="277548"/>
          </a:xfrm>
        </p:spPr>
        <p:txBody>
          <a:bodyPr>
            <a:noAutofit/>
          </a:bodyPr>
          <a:lstStyle>
            <a:lvl1pPr>
              <a:defRPr sz="1400" b="1">
                <a:solidFill>
                  <a:srgbClr val="0F4C8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E70827-6979-C265-30C7-290EF284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195411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D2D6F58-FF38-7E29-90A4-9388DDBE8085}"/>
              </a:ext>
            </a:extLst>
          </p:cNvPr>
          <p:cNvSpPr txBox="1">
            <a:spLocks/>
          </p:cNvSpPr>
          <p:nvPr userDrawn="1"/>
        </p:nvSpPr>
        <p:spPr>
          <a:xfrm>
            <a:off x="92994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6A3BC3-B702-46E1-B6A0-B0756C30E39A}" type="slidenum">
              <a:rPr lang="en-US" sz="900" smtClean="0">
                <a:solidFill>
                  <a:srgbClr val="0A487F"/>
                </a:solidFill>
              </a:rPr>
              <a:pPr/>
              <a:t>‹#›</a:t>
            </a:fld>
            <a:endParaRPr lang="en-US" sz="900">
              <a:solidFill>
                <a:srgbClr val="0A487F"/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978F00C-C184-2CFB-315C-135DAEE89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834" y="662394"/>
            <a:ext cx="11637591" cy="246940"/>
          </a:xfrm>
        </p:spPr>
        <p:txBody>
          <a:bodyPr/>
          <a:lstStyle>
            <a:lvl1pPr marL="0" indent="0">
              <a:buFontTx/>
              <a:buNone/>
              <a:defRPr b="0"/>
            </a:lvl1pPr>
            <a:lvl2pPr marL="457200" indent="0">
              <a:buFontTx/>
              <a:buNone/>
              <a:defRPr b="0"/>
            </a:lvl2pPr>
            <a:lvl3pPr marL="914400" indent="0">
              <a:buFontTx/>
              <a:buNone/>
              <a:defRPr b="0"/>
            </a:lvl3pPr>
            <a:lvl4pPr marL="1371600" indent="0">
              <a:buFontTx/>
              <a:buNone/>
              <a:defRPr b="0"/>
            </a:lvl4pPr>
            <a:lvl5pPr marL="1828800" indent="0">
              <a:buFontTx/>
              <a:buNone/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4825D33-BB48-0D7F-519F-93F9D5F0DF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52" y="6356350"/>
            <a:ext cx="7662736" cy="42386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900" b="0">
                <a:solidFill>
                  <a:srgbClr val="0A487F"/>
                </a:solidFill>
              </a:defRPr>
            </a:lvl1pPr>
            <a:lvl2pPr marL="457200" indent="0">
              <a:buFontTx/>
              <a:buNone/>
              <a:defRPr sz="900" b="0">
                <a:solidFill>
                  <a:srgbClr val="0A487F"/>
                </a:solidFill>
              </a:defRPr>
            </a:lvl2pPr>
            <a:lvl3pPr marL="914400" indent="0">
              <a:buFontTx/>
              <a:buNone/>
              <a:defRPr sz="900" b="0">
                <a:solidFill>
                  <a:srgbClr val="0A487F"/>
                </a:solidFill>
              </a:defRPr>
            </a:lvl3pPr>
            <a:lvl4pPr marL="1371600" indent="0">
              <a:buFontTx/>
              <a:buNone/>
              <a:defRPr sz="900" b="0">
                <a:solidFill>
                  <a:srgbClr val="0A487F"/>
                </a:solidFill>
              </a:defRPr>
            </a:lvl4pPr>
            <a:lvl5pPr marL="1828800" indent="0">
              <a:buFontTx/>
              <a:buNone/>
              <a:defRPr sz="900" b="0">
                <a:solidFill>
                  <a:srgbClr val="0A487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61D7B793-8CD8-A975-861A-C1A9BFA7E0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874" y="1195410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3C37F-E0CE-AFA0-77B7-251E9321A745}"/>
              </a:ext>
            </a:extLst>
          </p:cNvPr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9781899-A420-F0D5-B5B1-2140CB8EF331}"/>
              </a:ext>
            </a:extLst>
          </p:cNvPr>
          <p:cNvSpPr/>
          <p:nvPr userDrawn="1"/>
        </p:nvSpPr>
        <p:spPr>
          <a:xfrm>
            <a:off x="0" y="0"/>
            <a:ext cx="223666" cy="2286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A1EA637E-1788-1869-B14D-1402298EBAB6}"/>
              </a:ext>
            </a:extLst>
          </p:cNvPr>
          <p:cNvSpPr/>
          <p:nvPr userDrawn="1"/>
        </p:nvSpPr>
        <p:spPr>
          <a:xfrm flipH="1" flipV="1">
            <a:off x="11734800" y="0"/>
            <a:ext cx="457200" cy="4572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631EE8A-EE5A-7C54-5452-C96EFFFCF5EE}"/>
              </a:ext>
            </a:extLst>
          </p:cNvPr>
          <p:cNvSpPr/>
          <p:nvPr userDrawn="1"/>
        </p:nvSpPr>
        <p:spPr>
          <a:xfrm>
            <a:off x="0" y="6629400"/>
            <a:ext cx="223666" cy="228600"/>
          </a:xfrm>
          <a:prstGeom prst="rtTriangle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57" y="1233488"/>
            <a:ext cx="11817888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7671" y="6520966"/>
            <a:ext cx="847272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1"/>
            <a:ext cx="94685" cy="1089025"/>
          </a:xfrm>
          <a:prstGeom prst="rect">
            <a:avLst/>
          </a:prstGeom>
          <a:solidFill>
            <a:srgbClr val="1057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4" name="Picture 3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1C74129-E2DE-867A-9D0A-0E59648EAD2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040" y="178462"/>
            <a:ext cx="910722" cy="1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12">
          <p15:clr>
            <a:srgbClr val="F26B43"/>
          </p15:clr>
        </p15:guide>
        <p15:guide id="3" orient="horz" pos="4269">
          <p15:clr>
            <a:srgbClr val="F26B43"/>
          </p15:clr>
        </p15:guide>
        <p15:guide id="4" pos="3650">
          <p15:clr>
            <a:srgbClr val="F26B43"/>
          </p15:clr>
        </p15:guide>
        <p15:guide id="5" pos="7582" userDrawn="1">
          <p15:clr>
            <a:srgbClr val="F26B43"/>
          </p15:clr>
        </p15:guide>
        <p15:guide id="6" orient="horz" pos="2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777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0">
          <p15:clr>
            <a:srgbClr val="F26B43"/>
          </p15:clr>
        </p15:guide>
        <p15:guide id="11" orient="horz" pos="35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C1D646-24B1-3D29-26EB-4848D1D56290}"/>
              </a:ext>
            </a:extLst>
          </p:cNvPr>
          <p:cNvSpPr/>
          <p:nvPr/>
        </p:nvSpPr>
        <p:spPr>
          <a:xfrm>
            <a:off x="0" y="4776103"/>
            <a:ext cx="12192000" cy="120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A8E209-B110-69C1-085E-342F6B5E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56" y="5020063"/>
            <a:ext cx="8071420" cy="720000"/>
          </a:xfrm>
        </p:spPr>
        <p:txBody>
          <a:bodyPr/>
          <a:lstStyle/>
          <a:p>
            <a:r>
              <a:rPr lang="en-US" sz="2000"/>
              <a:t>Quantifying immediate cost savings and long-term structural value through self-performing freight</a:t>
            </a:r>
            <a:endParaRPr lang="en-GB" sz="20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5DA7E8-3CC2-F704-A034-0757A6E73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55" y="6131766"/>
            <a:ext cx="9120573" cy="462136"/>
          </a:xfrm>
        </p:spPr>
        <p:txBody>
          <a:bodyPr>
            <a:normAutofit fontScale="92500"/>
          </a:bodyPr>
          <a:lstStyle/>
          <a:p>
            <a:r>
              <a:rPr lang="en-US" b="1"/>
              <a:t>Pilot outcomes, modeling insights, and roadmap for site-level rollout</a:t>
            </a:r>
            <a:endParaRPr lang="en-ZA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2D63-16C8-BAC8-938C-DADFCA45C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4275" y="6521450"/>
            <a:ext cx="847725" cy="287338"/>
          </a:xfrm>
        </p:spPr>
        <p:txBody>
          <a:bodyPr/>
          <a:lstStyle/>
          <a:p>
            <a:fld id="{A65E4EDC-57F8-4D5C-B13E-A981C5F2F71A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12" name="Picture 1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96EE4CD-CC9E-F37E-2FBB-8AF085A0C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25" y="5147893"/>
            <a:ext cx="2227612" cy="46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4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C3D97-4C05-FAD2-B146-84ADC9CC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C36916-E3B4-232C-B5AE-D4F9B619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~8k invoices and 10 key sites form the modeling base—covering 95% of priority products invoice value and $2M in spend</a:t>
            </a:r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6DF43-FD75-61C8-2A40-AE497EFC6069}"/>
              </a:ext>
            </a:extLst>
          </p:cNvPr>
          <p:cNvSpPr/>
          <p:nvPr/>
        </p:nvSpPr>
        <p:spPr>
          <a:xfrm>
            <a:off x="555171" y="4421533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conversion 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C126B-9863-A89A-B913-30B3A116BCAC}"/>
              </a:ext>
            </a:extLst>
          </p:cNvPr>
          <p:cNvSpPr/>
          <p:nvPr/>
        </p:nvSpPr>
        <p:spPr>
          <a:xfrm>
            <a:off x="555171" y="35429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IFS commodity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4822D4-4C31-1827-F4E9-1E79282312E5}"/>
              </a:ext>
            </a:extLst>
          </p:cNvPr>
          <p:cNvSpPr/>
          <p:nvPr/>
        </p:nvSpPr>
        <p:spPr>
          <a:xfrm>
            <a:off x="555171" y="2664417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XGS freight rates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B3CFC2-0B38-5D21-ABAB-E72295368A61}"/>
              </a:ext>
            </a:extLst>
          </p:cNvPr>
          <p:cNvSpPr/>
          <p:nvPr/>
        </p:nvSpPr>
        <p:spPr>
          <a:xfrm>
            <a:off x="555171" y="17826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Historical freight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803DF-C541-992D-5EAA-4422F144324D}"/>
              </a:ext>
            </a:extLst>
          </p:cNvPr>
          <p:cNvSpPr/>
          <p:nvPr/>
        </p:nvSpPr>
        <p:spPr>
          <a:xfrm>
            <a:off x="555171" y="5300091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manufacturers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F16E5-4E76-EA6F-D660-F849AE7A0835}"/>
              </a:ext>
            </a:extLst>
          </p:cNvPr>
          <p:cNvSpPr/>
          <p:nvPr/>
        </p:nvSpPr>
        <p:spPr>
          <a:xfrm>
            <a:off x="2201949" y="4421533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conversion rates for 1CBL,1CPT and 1VNL commodities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C1E5D-20C2-3FE5-B08E-489265297D77}"/>
              </a:ext>
            </a:extLst>
          </p:cNvPr>
          <p:cNvSpPr/>
          <p:nvPr/>
        </p:nvSpPr>
        <p:spPr>
          <a:xfrm>
            <a:off x="2201949" y="35429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IFS commodity matrix with focus on 1VNL(70), 1CPT(100) and 1CBL(10)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8A58F-C223-3F7B-3C78-0C59D58A4A94}"/>
              </a:ext>
            </a:extLst>
          </p:cNvPr>
          <p:cNvSpPr/>
          <p:nvPr/>
        </p:nvSpPr>
        <p:spPr>
          <a:xfrm>
            <a:off x="2201949" y="2664417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XGS freight rates for 10  sites (SPN,SPJ,SPW,SPT,DIT)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04C3A-55E5-BE08-7D53-3EF51EA83EAD}"/>
              </a:ext>
            </a:extLst>
          </p:cNvPr>
          <p:cNvSpPr/>
          <p:nvPr/>
        </p:nvSpPr>
        <p:spPr>
          <a:xfrm>
            <a:off x="2201949" y="17826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Sample size from historical freight data from January 2024 - YTD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8B661-CA47-6A2B-926D-C826F0062CF7}"/>
              </a:ext>
            </a:extLst>
          </p:cNvPr>
          <p:cNvSpPr/>
          <p:nvPr/>
        </p:nvSpPr>
        <p:spPr>
          <a:xfrm>
            <a:off x="2201949" y="5300091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manufacturers providing key commodities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710F13-257C-46E2-1A36-6070A7F92DAA}"/>
              </a:ext>
            </a:extLst>
          </p:cNvPr>
          <p:cNvSpPr/>
          <p:nvPr/>
        </p:nvSpPr>
        <p:spPr>
          <a:xfrm>
            <a:off x="555171" y="1200102"/>
            <a:ext cx="192024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D15AE-EECA-B7C3-78B6-AC5416CCE363}"/>
              </a:ext>
            </a:extLst>
          </p:cNvPr>
          <p:cNvSpPr/>
          <p:nvPr/>
        </p:nvSpPr>
        <p:spPr>
          <a:xfrm>
            <a:off x="2201949" y="1200102"/>
            <a:ext cx="1063173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46B966-92A6-BE20-7A96-8889ECF74F94}"/>
              </a:ext>
            </a:extLst>
          </p:cNvPr>
          <p:cNvCxnSpPr>
            <a:cxnSpLocks/>
          </p:cNvCxnSpPr>
          <p:nvPr/>
        </p:nvCxnSpPr>
        <p:spPr>
          <a:xfrm>
            <a:off x="555171" y="1640973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0B764D-4BB9-A664-B83F-2D8A2721749F}"/>
              </a:ext>
            </a:extLst>
          </p:cNvPr>
          <p:cNvCxnSpPr>
            <a:cxnSpLocks/>
          </p:cNvCxnSpPr>
          <p:nvPr/>
        </p:nvCxnSpPr>
        <p:spPr>
          <a:xfrm>
            <a:off x="555171" y="2401369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E57533-846E-F47C-D5B9-E1BD278FDDBA}"/>
              </a:ext>
            </a:extLst>
          </p:cNvPr>
          <p:cNvCxnSpPr>
            <a:cxnSpLocks/>
          </p:cNvCxnSpPr>
          <p:nvPr/>
        </p:nvCxnSpPr>
        <p:spPr>
          <a:xfrm>
            <a:off x="555171" y="3258017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642079-9D30-E3B2-16E5-DF1EBE3B1298}"/>
              </a:ext>
            </a:extLst>
          </p:cNvPr>
          <p:cNvCxnSpPr>
            <a:cxnSpLocks/>
          </p:cNvCxnSpPr>
          <p:nvPr/>
        </p:nvCxnSpPr>
        <p:spPr>
          <a:xfrm>
            <a:off x="555171" y="4162792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060933-1F37-278E-0634-575EABF83A4D}"/>
              </a:ext>
            </a:extLst>
          </p:cNvPr>
          <p:cNvCxnSpPr>
            <a:cxnSpLocks/>
          </p:cNvCxnSpPr>
          <p:nvPr/>
        </p:nvCxnSpPr>
        <p:spPr>
          <a:xfrm>
            <a:off x="555171" y="5067566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935769-74B0-B08E-507D-681FAE680355}"/>
              </a:ext>
            </a:extLst>
          </p:cNvPr>
          <p:cNvCxnSpPr>
            <a:cxnSpLocks/>
          </p:cNvCxnSpPr>
          <p:nvPr/>
        </p:nvCxnSpPr>
        <p:spPr>
          <a:xfrm>
            <a:off x="555171" y="5924214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6A2376F-011F-AFEB-5D8D-D6E026C1EA75}"/>
              </a:ext>
            </a:extLst>
          </p:cNvPr>
          <p:cNvSpPr/>
          <p:nvPr/>
        </p:nvSpPr>
        <p:spPr>
          <a:xfrm>
            <a:off x="187057" y="1855979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4D097D-9ACF-D5A6-257A-6B0C9FC655B7}"/>
              </a:ext>
            </a:extLst>
          </p:cNvPr>
          <p:cNvSpPr/>
          <p:nvPr/>
        </p:nvSpPr>
        <p:spPr>
          <a:xfrm>
            <a:off x="187057" y="2713037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ECACA6-D7AC-0F5C-1008-4D8F3060EB20}"/>
              </a:ext>
            </a:extLst>
          </p:cNvPr>
          <p:cNvSpPr/>
          <p:nvPr/>
        </p:nvSpPr>
        <p:spPr>
          <a:xfrm>
            <a:off x="187057" y="360665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C0903B-8F93-F7EE-8D3E-8FF1BAEE5B92}"/>
              </a:ext>
            </a:extLst>
          </p:cNvPr>
          <p:cNvSpPr/>
          <p:nvPr/>
        </p:nvSpPr>
        <p:spPr>
          <a:xfrm>
            <a:off x="187057" y="447828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9FE909-F0EF-86CA-0E5E-4D22CBBE52EB}"/>
              </a:ext>
            </a:extLst>
          </p:cNvPr>
          <p:cNvSpPr/>
          <p:nvPr/>
        </p:nvSpPr>
        <p:spPr>
          <a:xfrm>
            <a:off x="187057" y="5356841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5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659861-6E85-5BE5-5160-5069C5CA3360}"/>
              </a:ext>
            </a:extLst>
          </p:cNvPr>
          <p:cNvCxnSpPr/>
          <p:nvPr/>
        </p:nvCxnSpPr>
        <p:spPr>
          <a:xfrm>
            <a:off x="4514249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2E4F50C-A236-0CC7-8A2C-9BFD9E04E2E0}"/>
              </a:ext>
            </a:extLst>
          </p:cNvPr>
          <p:cNvGrpSpPr/>
          <p:nvPr/>
        </p:nvGrpSpPr>
        <p:grpSpPr>
          <a:xfrm>
            <a:off x="4357323" y="1281023"/>
            <a:ext cx="313851" cy="313851"/>
            <a:chOff x="8739739" y="1163045"/>
            <a:chExt cx="415500" cy="4155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5E7257-C8FA-82DE-021E-D2B998BDE929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42" name="Graphic 41" descr="Caret Right with solid fill">
              <a:extLst>
                <a:ext uri="{FF2B5EF4-FFF2-40B4-BE49-F238E27FC236}">
                  <a16:creationId xmlns:a16="http://schemas.microsoft.com/office/drawing/2014/main" id="{96670C21-7BA6-A8FE-A8A3-E5CF0D4C7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7BA374B-2EEB-12A0-4C59-CC4B8A4F9322}"/>
              </a:ext>
            </a:extLst>
          </p:cNvPr>
          <p:cNvSpPr/>
          <p:nvPr/>
        </p:nvSpPr>
        <p:spPr>
          <a:xfrm flipV="1">
            <a:off x="5171413" y="1631871"/>
            <a:ext cx="1692250" cy="4892246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11E8B1-F0F8-A996-EB19-6B76C70D16C0}"/>
              </a:ext>
            </a:extLst>
          </p:cNvPr>
          <p:cNvSpPr/>
          <p:nvPr/>
        </p:nvSpPr>
        <p:spPr>
          <a:xfrm>
            <a:off x="5171196" y="1200102"/>
            <a:ext cx="3051088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Criteria for developing sample size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1B4352-64A5-4CF2-4341-81C30F7D1211}"/>
              </a:ext>
            </a:extLst>
          </p:cNvPr>
          <p:cNvSpPr/>
          <p:nvPr/>
        </p:nvSpPr>
        <p:spPr>
          <a:xfrm>
            <a:off x="5252693" y="178267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unique invoices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94B41B-5FAF-8CD3-04F9-A6B8E2C07F94}"/>
              </a:ext>
            </a:extLst>
          </p:cNvPr>
          <p:cNvSpPr/>
          <p:nvPr/>
        </p:nvSpPr>
        <p:spPr>
          <a:xfrm>
            <a:off x="5252693" y="2597376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project freight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8C2E4E-6024-973C-9405-13A4682BF3FD}"/>
              </a:ext>
            </a:extLst>
          </p:cNvPr>
          <p:cNvSpPr/>
          <p:nvPr/>
        </p:nvSpPr>
        <p:spPr>
          <a:xfrm>
            <a:off x="5252693" y="3503910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at least one priority commodity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3CBC58-8658-1361-2368-2F9FD1CA722A}"/>
              </a:ext>
            </a:extLst>
          </p:cNvPr>
          <p:cNvSpPr/>
          <p:nvPr/>
        </p:nvSpPr>
        <p:spPr>
          <a:xfrm>
            <a:off x="5252693" y="443014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where priority commodities account for &gt;70% of invoices spend and correct conversions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57F9205-4B24-F166-32D9-DB5A2002560D}"/>
              </a:ext>
            </a:extLst>
          </p:cNvPr>
          <p:cNvSpPr/>
          <p:nvPr/>
        </p:nvSpPr>
        <p:spPr>
          <a:xfrm>
            <a:off x="5252693" y="5367651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All key manufacturers represented in the sample invoices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564735-F093-A304-0351-D657938629AB}"/>
              </a:ext>
            </a:extLst>
          </p:cNvPr>
          <p:cNvSpPr/>
          <p:nvPr/>
        </p:nvSpPr>
        <p:spPr>
          <a:xfrm>
            <a:off x="7599844" y="178267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188 087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339154-9E98-3B7A-4F59-25FD065E0747}"/>
              </a:ext>
            </a:extLst>
          </p:cNvPr>
          <p:cNvSpPr/>
          <p:nvPr/>
        </p:nvSpPr>
        <p:spPr>
          <a:xfrm>
            <a:off x="7599844" y="2597376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52 316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510DA2-CD48-B02F-FD43-5AC2670E7E95}"/>
              </a:ext>
            </a:extLst>
          </p:cNvPr>
          <p:cNvSpPr/>
          <p:nvPr/>
        </p:nvSpPr>
        <p:spPr>
          <a:xfrm>
            <a:off x="7599844" y="3503910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18 511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538CAE-C3A5-1649-3FDC-FB833AAF756C}"/>
              </a:ext>
            </a:extLst>
          </p:cNvPr>
          <p:cNvSpPr/>
          <p:nvPr/>
        </p:nvSpPr>
        <p:spPr>
          <a:xfrm>
            <a:off x="7599844" y="443014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17 976</a:t>
            </a:r>
            <a:endParaRPr lang="en-US" sz="2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18E946-02AA-1CF8-E21A-3FFDEE5C8715}"/>
              </a:ext>
            </a:extLst>
          </p:cNvPr>
          <p:cNvSpPr/>
          <p:nvPr/>
        </p:nvSpPr>
        <p:spPr>
          <a:xfrm>
            <a:off x="7599844" y="5367651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~10 000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FF75AC-2B8C-60B0-0728-D0FEE24653AC}"/>
              </a:ext>
            </a:extLst>
          </p:cNvPr>
          <p:cNvSpPr/>
          <p:nvPr/>
        </p:nvSpPr>
        <p:spPr>
          <a:xfrm>
            <a:off x="8903369" y="178267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From the records 188 087 invoices were observed with project value of up to $618m and not all invoices have freight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02F23-0F5A-54C3-5029-4CFE801CD2E4}"/>
              </a:ext>
            </a:extLst>
          </p:cNvPr>
          <p:cNvSpPr/>
          <p:nvPr/>
        </p:nvSpPr>
        <p:spPr>
          <a:xfrm>
            <a:off x="8903369" y="2597376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freight costs is $16,23m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61FDDA-0487-2694-B663-8BC30BF975BD}"/>
              </a:ext>
            </a:extLst>
          </p:cNvPr>
          <p:cNvSpPr/>
          <p:nvPr/>
        </p:nvSpPr>
        <p:spPr>
          <a:xfrm>
            <a:off x="8903369" y="3503910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1CBL,1VNL,1CNS and 1CPT are highest value products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3CCD49-9B92-1CCD-731E-1DB3E608B31B}"/>
              </a:ext>
            </a:extLst>
          </p:cNvPr>
          <p:cNvSpPr/>
          <p:nvPr/>
        </p:nvSpPr>
        <p:spPr>
          <a:xfrm>
            <a:off x="8903369" y="443014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Priority commodities dominate the total invoice value averaging 95%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3A1E36-847D-9A83-338A-8AFEAA136A1C}"/>
              </a:ext>
            </a:extLst>
          </p:cNvPr>
          <p:cNvSpPr/>
          <p:nvPr/>
        </p:nvSpPr>
        <p:spPr>
          <a:xfrm>
            <a:off x="8903369" y="5367651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Only manufacturers in Georgia are considered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26C54E-4556-F5AA-DF19-D8556313FA49}"/>
              </a:ext>
            </a:extLst>
          </p:cNvPr>
          <p:cNvCxnSpPr>
            <a:cxnSpLocks/>
          </p:cNvCxnSpPr>
          <p:nvPr/>
        </p:nvCxnSpPr>
        <p:spPr>
          <a:xfrm>
            <a:off x="5171196" y="1640973"/>
            <a:ext cx="683374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71C68E-07B4-1A69-A7F0-16C6FA9BB33A}"/>
              </a:ext>
            </a:extLst>
          </p:cNvPr>
          <p:cNvCxnSpPr>
            <a:cxnSpLocks/>
          </p:cNvCxnSpPr>
          <p:nvPr/>
        </p:nvCxnSpPr>
        <p:spPr>
          <a:xfrm>
            <a:off x="5171196" y="2401369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0C12DE-6FA0-0E55-0659-C1614CF7E5B2}"/>
              </a:ext>
            </a:extLst>
          </p:cNvPr>
          <p:cNvCxnSpPr>
            <a:cxnSpLocks/>
          </p:cNvCxnSpPr>
          <p:nvPr/>
        </p:nvCxnSpPr>
        <p:spPr>
          <a:xfrm>
            <a:off x="5171196" y="3258017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3D2124-41C4-FCA8-3784-018F557703FC}"/>
              </a:ext>
            </a:extLst>
          </p:cNvPr>
          <p:cNvCxnSpPr>
            <a:cxnSpLocks/>
          </p:cNvCxnSpPr>
          <p:nvPr/>
        </p:nvCxnSpPr>
        <p:spPr>
          <a:xfrm>
            <a:off x="5171196" y="4162792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75B596-F6BF-2DB0-853B-6088155531C8}"/>
              </a:ext>
            </a:extLst>
          </p:cNvPr>
          <p:cNvCxnSpPr>
            <a:cxnSpLocks/>
          </p:cNvCxnSpPr>
          <p:nvPr/>
        </p:nvCxnSpPr>
        <p:spPr>
          <a:xfrm>
            <a:off x="5171195" y="5067566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83CBE9-39E4-C5F8-E78B-D8F64212080E}"/>
              </a:ext>
            </a:extLst>
          </p:cNvPr>
          <p:cNvCxnSpPr>
            <a:cxnSpLocks/>
          </p:cNvCxnSpPr>
          <p:nvPr/>
        </p:nvCxnSpPr>
        <p:spPr>
          <a:xfrm>
            <a:off x="5171196" y="5924214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82F3269-9BBB-CE3B-7F8E-9FD8CF553C94}"/>
              </a:ext>
            </a:extLst>
          </p:cNvPr>
          <p:cNvSpPr/>
          <p:nvPr/>
        </p:nvSpPr>
        <p:spPr>
          <a:xfrm>
            <a:off x="555171" y="6089496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76A9267-615B-26F6-1461-DFB4C28DEB80}"/>
              </a:ext>
            </a:extLst>
          </p:cNvPr>
          <p:cNvSpPr/>
          <p:nvPr/>
        </p:nvSpPr>
        <p:spPr>
          <a:xfrm>
            <a:off x="2201949" y="6089496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177C9D9-2967-F6C1-0B76-71661A7B84DC}"/>
              </a:ext>
            </a:extLst>
          </p:cNvPr>
          <p:cNvSpPr/>
          <p:nvPr/>
        </p:nvSpPr>
        <p:spPr>
          <a:xfrm>
            <a:off x="187057" y="6146246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6</a:t>
            </a:r>
          </a:p>
        </p:txBody>
      </p:sp>
      <p:pic>
        <p:nvPicPr>
          <p:cNvPr id="73" name="Graphic 72" descr="Badge Tick1 with solid fill">
            <a:extLst>
              <a:ext uri="{FF2B5EF4-FFF2-40B4-BE49-F238E27FC236}">
                <a16:creationId xmlns:a16="http://schemas.microsoft.com/office/drawing/2014/main" id="{843D2DAD-79C5-D8E3-381F-19818B1956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562" y="5418416"/>
            <a:ext cx="341671" cy="341671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35DE590-1CC4-7121-F02E-623096B53DCB}"/>
              </a:ext>
            </a:extLst>
          </p:cNvPr>
          <p:cNvSpPr/>
          <p:nvPr/>
        </p:nvSpPr>
        <p:spPr>
          <a:xfrm>
            <a:off x="5252693" y="6070939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Top 10 sites with freight costs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698FCC-BBB7-CB7A-90D1-C5F519D27F0A}"/>
              </a:ext>
            </a:extLst>
          </p:cNvPr>
          <p:cNvSpPr/>
          <p:nvPr/>
        </p:nvSpPr>
        <p:spPr>
          <a:xfrm>
            <a:off x="7599844" y="6070939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8 100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ACE785-923C-5038-A8AB-EA1411E3FCB6}"/>
              </a:ext>
            </a:extLst>
          </p:cNvPr>
          <p:cNvSpPr/>
          <p:nvPr/>
        </p:nvSpPr>
        <p:spPr>
          <a:xfrm>
            <a:off x="8903369" y="6070939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10 sites account for USD2M of freight spend</a:t>
            </a:r>
          </a:p>
        </p:txBody>
      </p:sp>
      <p:pic>
        <p:nvPicPr>
          <p:cNvPr id="77" name="Graphic 76" descr="Badge Tick1 with solid fill">
            <a:extLst>
              <a:ext uri="{FF2B5EF4-FFF2-40B4-BE49-F238E27FC236}">
                <a16:creationId xmlns:a16="http://schemas.microsoft.com/office/drawing/2014/main" id="{1FA372BE-FE96-4849-F73F-EC2AD9C0C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3562" y="6121704"/>
            <a:ext cx="341671" cy="341671"/>
          </a:xfrm>
          <a:prstGeom prst="rect">
            <a:avLst/>
          </a:prstGeom>
        </p:spPr>
      </p:pic>
      <p:sp>
        <p:nvSpPr>
          <p:cNvPr id="46" name="Text Placeholder 167">
            <a:extLst>
              <a:ext uri="{FF2B5EF4-FFF2-40B4-BE49-F238E27FC236}">
                <a16:creationId xmlns:a16="http://schemas.microsoft.com/office/drawing/2014/main" id="{82DA1B48-2998-A5AD-3464-6AA218F91074}"/>
              </a:ext>
            </a:extLst>
          </p:cNvPr>
          <p:cNvSpPr txBox="1">
            <a:spLocks/>
          </p:cNvSpPr>
          <p:nvPr/>
        </p:nvSpPr>
        <p:spPr>
          <a:xfrm>
            <a:off x="187055" y="6489700"/>
            <a:ext cx="10970617" cy="278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defTabSz="869137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800"/>
            </a:lvl1pPr>
            <a:lvl2pPr marL="65185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</a:lvl2pPr>
            <a:lvl3pPr marL="1086422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/>
            </a:lvl3pPr>
            <a:lvl4pPr marL="1520990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4pPr>
            <a:lvl5pPr marL="1955559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5pPr>
            <a:lvl6pPr marL="2390127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6pPr>
            <a:lvl7pPr marL="2824696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7pPr>
            <a:lvl8pPr marL="3259265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8pPr>
            <a:lvl9pPr marL="369383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9pPr>
          </a:lstStyle>
          <a:p>
            <a:r>
              <a:rPr lang="en-ZA"/>
              <a:t>Source: AIA analysis, Diverzify IFS accounts, Diverzify supplier database, Diverzify IFS commodities, </a:t>
            </a:r>
          </a:p>
        </p:txBody>
      </p:sp>
    </p:spTree>
    <p:extLst>
      <p:ext uri="{BB962C8B-B14F-4D97-AF65-F5344CB8AC3E}">
        <p14:creationId xmlns:p14="http://schemas.microsoft.com/office/powerpoint/2010/main" val="189516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7356-3E6A-EEDF-BF4F-85341C81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5A4F80-96C9-7C40-24EC-E94FDA831F53}"/>
              </a:ext>
            </a:extLst>
          </p:cNvPr>
          <p:cNvCxnSpPr/>
          <p:nvPr/>
        </p:nvCxnSpPr>
        <p:spPr>
          <a:xfrm>
            <a:off x="7890634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C8D90-D54D-FFA2-3928-3BC3D48A7393}"/>
              </a:ext>
            </a:extLst>
          </p:cNvPr>
          <p:cNvCxnSpPr/>
          <p:nvPr/>
        </p:nvCxnSpPr>
        <p:spPr>
          <a:xfrm>
            <a:off x="3885343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FF8C96-CF91-D858-69DD-27290EF3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4239482-70AA-EE68-61D0-3DA932315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accounts, Diverzify supplier database, Diverzify IFS commodities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9262D7-A928-CF9F-AA51-F72A87CF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freight model focused on commodities that offer predictable and scalable optimization</a:t>
            </a:r>
            <a:endParaRPr lang="en-ZA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3639CB21-81D4-1396-756E-51145893C90B}"/>
              </a:ext>
            </a:extLst>
          </p:cNvPr>
          <p:cNvGraphicFramePr>
            <a:graphicFrameLocks/>
          </p:cNvGraphicFramePr>
          <p:nvPr/>
        </p:nvGraphicFramePr>
        <p:xfrm>
          <a:off x="8162328" y="1572182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3BE0A01-8325-DE21-44EA-9B1B316A9972}"/>
              </a:ext>
            </a:extLst>
          </p:cNvPr>
          <p:cNvSpPr/>
          <p:nvPr/>
        </p:nvSpPr>
        <p:spPr>
          <a:xfrm>
            <a:off x="187056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commodities account for ~92% of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97093C-B116-353C-1012-5AAF7E12CB6F}"/>
              </a:ext>
            </a:extLst>
          </p:cNvPr>
          <p:cNvGrpSpPr/>
          <p:nvPr/>
        </p:nvGrpSpPr>
        <p:grpSpPr>
          <a:xfrm>
            <a:off x="7733708" y="1258329"/>
            <a:ext cx="313851" cy="313851"/>
            <a:chOff x="8739739" y="1163045"/>
            <a:chExt cx="415500" cy="4155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EA64BA-34D6-F8F0-41B4-AE86C3198CE2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2" name="Graphic 11" descr="Caret Right with solid fill">
              <a:extLst>
                <a:ext uri="{FF2B5EF4-FFF2-40B4-BE49-F238E27FC236}">
                  <a16:creationId xmlns:a16="http://schemas.microsoft.com/office/drawing/2014/main" id="{62F77EBC-14F1-51B4-9F79-7649030E8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635404-28B2-9F8D-9B2A-B4739E89D659}"/>
              </a:ext>
            </a:extLst>
          </p:cNvPr>
          <p:cNvCxnSpPr>
            <a:cxnSpLocks/>
          </p:cNvCxnSpPr>
          <p:nvPr/>
        </p:nvCxnSpPr>
        <p:spPr>
          <a:xfrm>
            <a:off x="155753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45F3A-3C02-51D6-4F3F-65D631A9AE95}"/>
              </a:ext>
            </a:extLst>
          </p:cNvPr>
          <p:cNvSpPr/>
          <p:nvPr/>
        </p:nvSpPr>
        <p:spPr>
          <a:xfrm>
            <a:off x="4243451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1CNS supplier spend concentrated on DTC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B7603-1F4F-1BA9-98FF-4F244B277C96}"/>
              </a:ext>
            </a:extLst>
          </p:cNvPr>
          <p:cNvCxnSpPr>
            <a:cxnSpLocks/>
          </p:cNvCxnSpPr>
          <p:nvPr/>
        </p:nvCxnSpPr>
        <p:spPr>
          <a:xfrm>
            <a:off x="4212148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2C232-7460-859D-0DBE-C8209A1E26C7}"/>
              </a:ext>
            </a:extLst>
          </p:cNvPr>
          <p:cNvSpPr/>
          <p:nvPr/>
        </p:nvSpPr>
        <p:spPr>
          <a:xfrm>
            <a:off x="8314924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sites account for 80% of 1CNS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3EE0E-2BE3-2407-C135-94726FBB9FD6}"/>
              </a:ext>
            </a:extLst>
          </p:cNvPr>
          <p:cNvCxnSpPr>
            <a:cxnSpLocks/>
          </p:cNvCxnSpPr>
          <p:nvPr/>
        </p:nvCxnSpPr>
        <p:spPr>
          <a:xfrm>
            <a:off x="8283621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CA3885-6042-4DE3-5ACE-6B4A57CE4252}"/>
              </a:ext>
            </a:extLst>
          </p:cNvPr>
          <p:cNvGrpSpPr/>
          <p:nvPr/>
        </p:nvGrpSpPr>
        <p:grpSpPr>
          <a:xfrm>
            <a:off x="3728417" y="1258329"/>
            <a:ext cx="313851" cy="313851"/>
            <a:chOff x="8739739" y="1163045"/>
            <a:chExt cx="415500" cy="415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888339-0AE9-D8AC-0F5F-88E7D0640FAF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20" name="Graphic 19" descr="Caret Right with solid fill">
              <a:extLst>
                <a:ext uri="{FF2B5EF4-FFF2-40B4-BE49-F238E27FC236}">
                  <a16:creationId xmlns:a16="http://schemas.microsoft.com/office/drawing/2014/main" id="{53036B00-E11D-AC7A-5E6A-2D2FEA93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C5091EB-240D-F85F-9AC0-62272FCFF477}"/>
              </a:ext>
            </a:extLst>
          </p:cNvPr>
          <p:cNvGraphicFramePr>
            <a:graphicFrameLocks/>
          </p:cNvGraphicFramePr>
          <p:nvPr/>
        </p:nvGraphicFramePr>
        <p:xfrm>
          <a:off x="187056" y="1588506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A74418D-5F73-ABC5-6A96-855C3CF53A32}"/>
              </a:ext>
            </a:extLst>
          </p:cNvPr>
          <p:cNvGraphicFramePr>
            <a:graphicFrameLocks/>
          </p:cNvGraphicFramePr>
          <p:nvPr/>
        </p:nvGraphicFramePr>
        <p:xfrm>
          <a:off x="4038845" y="1588504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1B1A814-C504-BB74-9BB6-662D426FD57E}"/>
              </a:ext>
            </a:extLst>
          </p:cNvPr>
          <p:cNvSpPr/>
          <p:nvPr/>
        </p:nvSpPr>
        <p:spPr>
          <a:xfrm>
            <a:off x="155754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1CNS has no consistent origin-destination (OD) pairs </a:t>
            </a: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as it is often imported with highly variable routes and ports of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GM is a heterogenous bucket which varies by project scope and supplier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RBL is low density and light, meaning its freight cost contribution is negligible relative to volume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B6A0B5-0D72-FADD-EB2C-CE2319DA3262}"/>
              </a:ext>
            </a:extLst>
          </p:cNvPr>
          <p:cNvSpPr/>
          <p:nvPr/>
        </p:nvSpPr>
        <p:spPr>
          <a:xfrm>
            <a:off x="4038845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39% of 1CNS freight spend is concentrated on a single supplier: Dal Tile Corporation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This concentration creates a strategic opportunity for direct supplier negotiation or 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Limited variability in supplier base reduces the complexity of non-model interventions (e.g. fixed rates or contracted lanes)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3B38D3-A2D2-3917-BACE-4749A27A57C3}"/>
              </a:ext>
            </a:extLst>
          </p:cNvPr>
          <p:cNvSpPr/>
          <p:nvPr/>
        </p:nvSpPr>
        <p:spPr>
          <a:xfrm>
            <a:off x="8162327" y="5442745"/>
            <a:ext cx="3566155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Just 15 sites account for the bulk of 1CNS freight spend, indicating strong site-level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Enables targeted efforts like site-level supplier agreements, consolidation, or bundling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Offers non-model-based freight savings potential through operational or contractual levers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1033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36B7-8237-6E1A-CFE2-985A4366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D329-3AB6-9BFA-6FE3-D027562C5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084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1A1D-ED07-5052-7CB8-4E037EB4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37523-1866-D1A4-74C8-047D2A79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4CD9169-4160-230A-97B9-72AB93F27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historical data Jan 2024 - Feb 2025, XGS freight rates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CC5A07-34BB-C1D8-06CE-772C10F3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17 sites account for ~75-80% of freight spend the recommended implementation rate tables are outlined in following pages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2EC5DA-B2D1-6ACA-3F34-276B9CD7927B}"/>
              </a:ext>
            </a:extLst>
          </p:cNvPr>
          <p:cNvSpPr/>
          <p:nvPr/>
        </p:nvSpPr>
        <p:spPr>
          <a:xfrm>
            <a:off x="187056" y="1281023"/>
            <a:ext cx="4899450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Freight savings per site (</a:t>
            </a:r>
            <a:r>
              <a:rPr lang="en-ZA" sz="1200">
                <a:solidFill>
                  <a:schemeClr val="tx1"/>
                </a:solidFill>
              </a:rPr>
              <a:t>000 USD</a:t>
            </a:r>
            <a:r>
              <a:rPr lang="en-ZA" sz="1200" b="1">
                <a:solidFill>
                  <a:schemeClr val="tx1"/>
                </a:solidFill>
              </a:rPr>
              <a:t>)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4D88D4-3BE6-9856-AEB2-E4917355BAE1}"/>
              </a:ext>
            </a:extLst>
          </p:cNvPr>
          <p:cNvCxnSpPr>
            <a:cxnSpLocks/>
          </p:cNvCxnSpPr>
          <p:nvPr/>
        </p:nvCxnSpPr>
        <p:spPr>
          <a:xfrm>
            <a:off x="187056" y="1578545"/>
            <a:ext cx="7467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8A790-5EC4-E5BA-28C7-A6E2C9A0C276}"/>
              </a:ext>
            </a:extLst>
          </p:cNvPr>
          <p:cNvSpPr/>
          <p:nvPr/>
        </p:nvSpPr>
        <p:spPr>
          <a:xfrm>
            <a:off x="187055" y="1639544"/>
            <a:ext cx="5852160" cy="158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10 sites, 8,138 invoices, and 3 priority commodities. </a:t>
            </a:r>
            <a:r>
              <a:rPr lang="en-ZA" sz="800">
                <a:solidFill>
                  <a:schemeClr val="tx1">
                    <a:lumMod val="50000"/>
                    <a:lumOff val="50000"/>
                  </a:schemeClr>
                </a:solidFill>
              </a:rPr>
              <a:t>Invoices with priority products &gt;70% of invoice value (Jan 2024 –Feb 2025)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ZA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86B2FF5-1537-EEEF-5D7E-B3E2BBC3E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356262"/>
              </p:ext>
            </p:extLst>
          </p:nvPr>
        </p:nvGraphicFramePr>
        <p:xfrm>
          <a:off x="187055" y="1876068"/>
          <a:ext cx="11849370" cy="4523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8349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1C38-6A1C-A757-824F-358634B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A4F82-BD8E-2565-7EA6-243D2AA8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A3C3A9-5886-461A-16A7-562868BDFA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713702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9CA1067-240F-9278-D991-5C9E88162173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28960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A398F-81D0-5F94-76D6-5C5E6A2C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E1918A-0D57-8A15-DF5C-5A420C3675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D8120-601F-B6C4-68EF-EEB70A7A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41487A-7C50-5013-6E5A-323ED1EE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For example: SPJ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423FDAF5-87F9-88DE-DB07-BE5A6DF9D7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4826615-45EA-3368-37E0-5F1B57E3F05F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530CEA7-B2D6-A844-0708-EB1656F8F05D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5307828-B824-0CA1-4848-7C8F60387292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84D8C-FEAE-321D-879F-C1A349C1341C}"/>
              </a:ext>
            </a:extLst>
          </p:cNvPr>
          <p:cNvSpPr/>
          <p:nvPr/>
        </p:nvSpPr>
        <p:spPr>
          <a:xfrm>
            <a:off x="6479796" y="1719668"/>
            <a:ext cx="3695700" cy="2450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03FC77-3500-FD91-C21D-3112FF95CD5B}"/>
              </a:ext>
            </a:extLst>
          </p:cNvPr>
          <p:cNvSpPr/>
          <p:nvPr/>
        </p:nvSpPr>
        <p:spPr>
          <a:xfrm>
            <a:off x="6467475" y="1431287"/>
            <a:ext cx="3695700" cy="2450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EA4D9-056F-7745-D9CE-8F18D3FAB451}"/>
              </a:ext>
            </a:extLst>
          </p:cNvPr>
          <p:cNvSpPr/>
          <p:nvPr/>
        </p:nvSpPr>
        <p:spPr>
          <a:xfrm>
            <a:off x="6479796" y="2002655"/>
            <a:ext cx="3695700" cy="2450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DD5ABE-154C-3013-3E34-25107D9BD4A8}"/>
              </a:ext>
            </a:extLst>
          </p:cNvPr>
          <p:cNvSpPr/>
          <p:nvPr/>
        </p:nvSpPr>
        <p:spPr>
          <a:xfrm>
            <a:off x="10306050" y="1719668"/>
            <a:ext cx="981075" cy="2450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BFB29-2383-153C-4B13-CC9644710445}"/>
              </a:ext>
            </a:extLst>
          </p:cNvPr>
          <p:cNvSpPr/>
          <p:nvPr/>
        </p:nvSpPr>
        <p:spPr>
          <a:xfrm>
            <a:off x="10293729" y="1431287"/>
            <a:ext cx="981075" cy="2450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A1F634-7FD8-6FDA-E0AB-8AD4E2B1D02C}"/>
              </a:ext>
            </a:extLst>
          </p:cNvPr>
          <p:cNvSpPr/>
          <p:nvPr/>
        </p:nvSpPr>
        <p:spPr>
          <a:xfrm>
            <a:off x="10306050" y="2002655"/>
            <a:ext cx="981075" cy="2450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dirty="0">
                <a:solidFill>
                  <a:schemeClr val="tx1"/>
                </a:solidFill>
              </a:rPr>
              <a:t>Not found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1ADCD-2FFE-378E-73F3-81133DD4DAF8}"/>
              </a:ext>
            </a:extLst>
          </p:cNvPr>
          <p:cNvSpPr/>
          <p:nvPr/>
        </p:nvSpPr>
        <p:spPr>
          <a:xfrm>
            <a:off x="6479796" y="2271533"/>
            <a:ext cx="3695700" cy="24501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B9A8E-0C51-3C18-0F11-4A05E19CD0FB}"/>
              </a:ext>
            </a:extLst>
          </p:cNvPr>
          <p:cNvSpPr/>
          <p:nvPr/>
        </p:nvSpPr>
        <p:spPr>
          <a:xfrm>
            <a:off x="10306050" y="2271533"/>
            <a:ext cx="981075" cy="24501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82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1140CA-7213-75D2-3CA4-45F1EF4E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249DE-9930-5C45-0ECC-A850AD9FD7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EB585A-86C7-9852-723E-C52B2102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SPJ Performance Profile &amp; Commodity Quote Rates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E3A12-D773-D675-5B7D-0138F4C05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1218"/>
            <a:ext cx="12192000" cy="51977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196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7136-5632-17B8-3C1A-F244C48F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8B24E-B5CB-B42D-FD99-D677FCF3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D881C-8E2B-0B80-02BD-C23D38411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DE26A0-AE25-6A5A-0207-A0FC72C1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15362" name="Picture 2" descr="0">
            <a:extLst>
              <a:ext uri="{FF2B5EF4-FFF2-40B4-BE49-F238E27FC236}">
                <a16:creationId xmlns:a16="http://schemas.microsoft.com/office/drawing/2014/main" id="{9D0807C5-841A-68BB-92E2-F6556C37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57DCDAD-C613-23F8-5643-BE22CCFA7A79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CF4ED50B-C740-8F28-B608-A1B2AC21AA9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0EA59E36-A1C0-C526-D376-7CBBDCCE561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761797B8-A238-F318-5DB4-B3FDE28C4FAF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1DDFB-C38B-C0BA-6CF8-F7775E22737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87275-39ED-446F-4094-FDE3CE6BCA6F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2B26B3-CE13-12F5-D298-2E5A47E2A9DD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D5D189-EAEF-63DA-5381-EE9FF0B2107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DECA7A-0D7C-D740-97FD-6DC6CD127FD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9FBEDD-9D79-0D63-DE35-7B52A10971D1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C34F2AD-CD8D-E0C3-6FCA-991D0A2E9720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46BC89-F551-59CC-A46C-151F976A6C05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4DFD6-152B-05E7-0A03-34D7268596B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9DE7E4-CAC5-BC30-4686-E09AF1A2D0D9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D2287-5586-82A4-D887-8D962C7332EF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961BBD-F368-2341-6549-1DE0BA409061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8C02260-1121-5706-45F2-E778280F7347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FD0B6E-0AAD-D5FC-E15F-2A9B1174383B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88CE3-316E-338C-2F6E-9186DB2FB49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A763DB-B560-A655-2C46-80D84C3AE55A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1B888C8-55FB-BCF6-7851-9E7B8E8201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59F137-0A64-6488-9662-1766C0F70159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7A851-E461-C41B-B92D-4AAD50E8984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A325D-DD33-53AA-0CE1-A78E4B914050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871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457B-E2A5-4D84-D3CD-AF3C5D86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1E363-30BD-B8CF-0D0B-8C2995DB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1A9A3-E6D7-6E0A-F133-4946491C1C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7B2ACF-852B-5366-4842-56F8B391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14338" name="Picture 2" descr="0">
            <a:extLst>
              <a:ext uri="{FF2B5EF4-FFF2-40B4-BE49-F238E27FC236}">
                <a16:creationId xmlns:a16="http://schemas.microsoft.com/office/drawing/2014/main" id="{3E451F9F-4AF8-8CC1-F019-A0AEC03B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C33799-1703-657D-FCC7-805FFBA4A2AF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95C297A0-6CA2-CB1D-EE54-8BD897C4FE29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B3FF5F1-E455-C00C-2462-AB498C702B8A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C41C161E-8C54-523E-B0BA-B9C3E08AE945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DA525-5C09-D816-7E7F-A5B343924C5B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DEEB6-2D27-2F03-EDF1-B9203E65280C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05CBB-6CE9-69F6-64FD-7755695F3D1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C2D5B8-CFB5-EBDE-8B96-FD9C6662B7F5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AFFE216-815C-C197-FC46-4815960C1A67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6B22DE-DF94-C998-E37A-1FA42AACD3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27356-936B-3E5F-C84B-1AF3A0ACD72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E02A3F-11DE-CF8B-3876-F2B9C749AF04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0BE287A-8E4E-16F5-BFBE-CAEF6EBA0C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B24F3A-37FB-8FDE-8DCC-3716BBBE918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4256497-D1DD-A2E9-4CA7-AB57C5DB9852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63592F-5A60-25D6-470E-15FF219C9559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25CAD6C-D159-2328-D1B3-EF85EEF8AEE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FB481A-8B55-FA31-9E81-1A47193C94AC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1B6B966-6F28-9893-F5E4-9B82F703BF7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05B66C-38CA-1FDC-1CC9-AB8CD32DD641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1E2AB-4BCC-D1EF-E299-4D5E5E38FC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564A70-F895-9122-5D03-9A3E69A73888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6666D-7FC0-2AC1-D513-BB28C4BF96DB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3C042-3426-0BB7-D193-17D665EA3104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</p:spTree>
    <p:extLst>
      <p:ext uri="{BB962C8B-B14F-4D97-AF65-F5344CB8AC3E}">
        <p14:creationId xmlns:p14="http://schemas.microsoft.com/office/powerpoint/2010/main" val="248126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6C77-98E6-95E3-AC63-81531AFB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637D5-24B4-675A-39AA-C4ACC029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57BD-8EE4-A28B-0D8E-0CEF58359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744BAD-196D-C807-2C0F-B861A6D0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13314" name="Picture 2" descr="0">
            <a:extLst>
              <a:ext uri="{FF2B5EF4-FFF2-40B4-BE49-F238E27FC236}">
                <a16:creationId xmlns:a16="http://schemas.microsoft.com/office/drawing/2014/main" id="{20B88CD2-76AE-6F67-B512-51F436A4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FDBF1-3DD1-E633-B4F0-7B2B846D0BCC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B191430-B13C-8BE2-E0A5-95CED3711B26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F47A6882-294E-31A4-E488-A1B3987B3F29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7D0DBA8-4B7A-F2EF-0832-BA6235D85BD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7B4FE-669C-CFF5-B7B4-61BECBACEEC1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4D3DB-B7B1-8841-9674-911FFA7B564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A5AB77-573C-7E41-098A-E2E5FDC7A4A0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498E2C-6C09-7A03-B391-CA648857BBEF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E9677D-BCCE-7E47-9D36-B8CC3D2581F1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B3D839-A7AC-3874-D694-7C490BC3E8C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1C816B1-A5F4-00DA-0C65-4959E3C1AAA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177AA30-59BD-C1D2-7138-387618C03C71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A850033-456D-7092-3525-AC043922C2C2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3439FB-F059-9EC4-BB8C-9DAF79BB077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0547D-0E5D-E2FB-3207-0F532F4B34B1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3CFB01-FA2F-9CDC-454A-B8FA167424A0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CB4637A-24C0-10B8-0CC9-96BCE4E3F743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E096F0-A0A3-B715-BADC-ECA2C1B9EEA0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4CDCB-8E70-E50E-EF3F-6461A7947D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3B64C2-BBD5-9A89-1D12-9F26FDC3CE3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9B00DD3-9231-9912-8179-A2C18283B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D99BB2-F293-A737-8941-0663D15556B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DAB5C-2C12-280D-5591-BBAE346B45FD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A41B04-2F98-8C95-7020-F257401F7A75}"/>
              </a:ext>
            </a:extLst>
          </p:cNvPr>
          <p:cNvSpPr txBox="1"/>
          <p:nvPr/>
        </p:nvSpPr>
        <p:spPr>
          <a:xfrm>
            <a:off x="3735950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</p:spTree>
    <p:extLst>
      <p:ext uri="{BB962C8B-B14F-4D97-AF65-F5344CB8AC3E}">
        <p14:creationId xmlns:p14="http://schemas.microsoft.com/office/powerpoint/2010/main" val="4726171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heme/theme1.xml><?xml version="1.0" encoding="utf-8"?>
<a:theme xmlns:a="http://schemas.openxmlformats.org/drawingml/2006/main" name="1_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EB66BDB339F840B08EC46966609F94" ma:contentTypeVersion="14" ma:contentTypeDescription="Create a new document." ma:contentTypeScope="" ma:versionID="a389cc23a670527f9c567f9b2842de65">
  <xsd:schema xmlns:xsd="http://www.w3.org/2001/XMLSchema" xmlns:xs="http://www.w3.org/2001/XMLSchema" xmlns:p="http://schemas.microsoft.com/office/2006/metadata/properties" xmlns:ns2="c790f01c-0fe2-49f0-afc5-23de31efd4a1" xmlns:ns3="b46b040b-e7e9-4cfc-b33c-d96ddc04498f" targetNamespace="http://schemas.microsoft.com/office/2006/metadata/properties" ma:root="true" ma:fieldsID="26da997c52b9c79dacbd017696c8bdad" ns2:_="" ns3:_="">
    <xsd:import namespace="c790f01c-0fe2-49f0-afc5-23de31efd4a1"/>
    <xsd:import namespace="b46b040b-e7e9-4cfc-b33c-d96ddc0449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0f01c-0fe2-49f0-afc5-23de31efd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b040b-e7e9-4cfc-b33c-d96ddc04498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ADB573-2CF3-49A4-B589-0C1CC21694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653C57-E3DF-4927-9AC9-B548C40E8C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0f01c-0fe2-49f0-afc5-23de31efd4a1"/>
    <ds:schemaRef ds:uri="b46b040b-e7e9-4cfc-b33c-d96ddc0449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0D15C0-869B-4AD3-B6C3-A7C52546C23F}">
  <ds:schemaRefs>
    <ds:schemaRef ds:uri="http://purl.org/dc/terms/"/>
    <ds:schemaRef ds:uri="b46b040b-e7e9-4cfc-b33c-d96ddc04498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c790f01c-0fe2-49f0-afc5-23de31efd4a1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860</Words>
  <Application>Microsoft Office PowerPoint</Application>
  <PresentationFormat>Widescreen</PresentationFormat>
  <Paragraphs>148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Lato</vt:lpstr>
      <vt:lpstr>1_Office Theme</vt:lpstr>
      <vt:lpstr>Quantifying immediate cost savings and long-term structural value through self-performing freight</vt:lpstr>
      <vt:lpstr>~8k invoices and 10 key sites form the modeling base—covering 95% of priority products invoice value and $2M in spend</vt:lpstr>
      <vt:lpstr>The freight model focused on commodities that offer predictable and scalable optimization</vt:lpstr>
      <vt:lpstr>PowerPoint Presentation</vt:lpstr>
      <vt:lpstr>17 sites account for ~75-80% of freight spend the recommended implementation rate tables are outlined in following pages</vt:lpstr>
      <vt:lpstr>PowerPoint Presentation</vt:lpstr>
      <vt:lpstr>For example: SPJ Performance Profile &amp; Commodity Quote Rates</vt:lpstr>
      <vt:lpstr>SPJ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practice</dc:title>
  <dc:creator>Manish Ramjeawon</dc:creator>
  <cp:lastModifiedBy>Nigel Zhuwaki</cp:lastModifiedBy>
  <cp:revision>5</cp:revision>
  <cp:lastPrinted>2025-04-29T09:58:40Z</cp:lastPrinted>
  <dcterms:created xsi:type="dcterms:W3CDTF">2024-02-06T08:42:57Z</dcterms:created>
  <dcterms:modified xsi:type="dcterms:W3CDTF">2025-06-20T21:28:17Z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0x0101008EEB66BDB339F840B08EC46966609F94</vt:lpwstr>
  </property>
  <property fmtid="{D5CDD505-2E9C-101B-9397-08002B2CF9AE}" pid="3" name="MediaServiceImageTags">
    <vt:lpwstr/>
  </property>
</Properties>
</file>